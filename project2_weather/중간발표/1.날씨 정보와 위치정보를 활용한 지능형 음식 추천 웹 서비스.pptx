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9" r:id="rId2"/>
    <p:sldId id="291" r:id="rId3"/>
    <p:sldId id="294" r:id="rId4"/>
    <p:sldId id="333" r:id="rId5"/>
    <p:sldId id="295" r:id="rId6"/>
    <p:sldId id="261" r:id="rId7"/>
    <p:sldId id="264" r:id="rId8"/>
    <p:sldId id="267" r:id="rId9"/>
    <p:sldId id="336" r:id="rId10"/>
    <p:sldId id="338" r:id="rId11"/>
    <p:sldId id="337" r:id="rId12"/>
    <p:sldId id="339" r:id="rId13"/>
    <p:sldId id="341" r:id="rId14"/>
    <p:sldId id="342" r:id="rId15"/>
    <p:sldId id="343" r:id="rId16"/>
    <p:sldId id="344" r:id="rId17"/>
    <p:sldId id="30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588" autoAdjust="0"/>
  </p:normalViewPr>
  <p:slideViewPr>
    <p:cSldViewPr showGuides="1">
      <p:cViewPr varScale="1">
        <p:scale>
          <a:sx n="112" d="100"/>
          <a:sy n="112" d="100"/>
        </p:scale>
        <p:origin x="552" y="114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CE84F-7D18-4374-B1D7-5AD233026092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6F3E4-F2BA-47D7-9F82-6D40034610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51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085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69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039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278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45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3E4-F2BA-47D7-9F82-6D400346101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066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18" Type="http://schemas.openxmlformats.org/officeDocument/2006/relationships/image" Target="../media/image53.png"/><Relationship Id="rId3" Type="http://schemas.openxmlformats.org/officeDocument/2006/relationships/image" Target="../media/image40.png"/><Relationship Id="rId21" Type="http://schemas.openxmlformats.org/officeDocument/2006/relationships/image" Target="../media/image6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1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19" Type="http://schemas.openxmlformats.org/officeDocument/2006/relationships/image" Target="../media/image5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Relationship Id="rId22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26" Type="http://schemas.openxmlformats.org/officeDocument/2006/relationships/image" Target="../media/image43.png"/><Relationship Id="rId3" Type="http://schemas.openxmlformats.org/officeDocument/2006/relationships/image" Target="../media/image56.sv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5" Type="http://schemas.openxmlformats.org/officeDocument/2006/relationships/image" Target="../media/image7.svg"/><Relationship Id="rId2" Type="http://schemas.openxmlformats.org/officeDocument/2006/relationships/image" Target="../media/image55.png"/><Relationship Id="rId16" Type="http://schemas.openxmlformats.org/officeDocument/2006/relationships/image" Target="../media/image66.svg"/><Relationship Id="rId20" Type="http://schemas.openxmlformats.org/officeDocument/2006/relationships/image" Target="../media/image70.svg"/><Relationship Id="rId29" Type="http://schemas.openxmlformats.org/officeDocument/2006/relationships/image" Target="../media/image7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61.png"/><Relationship Id="rId24" Type="http://schemas.openxmlformats.org/officeDocument/2006/relationships/image" Target="../media/image6.png"/><Relationship Id="rId5" Type="http://schemas.openxmlformats.org/officeDocument/2006/relationships/image" Target="../media/image41.png"/><Relationship Id="rId15" Type="http://schemas.openxmlformats.org/officeDocument/2006/relationships/image" Target="../media/image65.png"/><Relationship Id="rId23" Type="http://schemas.openxmlformats.org/officeDocument/2006/relationships/image" Target="../media/image5.png"/><Relationship Id="rId28" Type="http://schemas.openxmlformats.org/officeDocument/2006/relationships/image" Target="../media/image73.png"/><Relationship Id="rId10" Type="http://schemas.openxmlformats.org/officeDocument/2006/relationships/image" Target="../media/image60.svg"/><Relationship Id="rId19" Type="http://schemas.openxmlformats.org/officeDocument/2006/relationships/image" Target="../media/image69.png"/><Relationship Id="rId31" Type="http://schemas.openxmlformats.org/officeDocument/2006/relationships/image" Target="../media/image76.svg"/><Relationship Id="rId4" Type="http://schemas.openxmlformats.org/officeDocument/2006/relationships/image" Target="../media/image40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Relationship Id="rId22" Type="http://schemas.openxmlformats.org/officeDocument/2006/relationships/image" Target="../media/image72.svg"/><Relationship Id="rId27" Type="http://schemas.openxmlformats.org/officeDocument/2006/relationships/image" Target="../media/image44.svg"/><Relationship Id="rId30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81.svg"/><Relationship Id="rId3" Type="http://schemas.openxmlformats.org/officeDocument/2006/relationships/image" Target="../media/image56.svg"/><Relationship Id="rId7" Type="http://schemas.openxmlformats.org/officeDocument/2006/relationships/image" Target="../media/image79.svg"/><Relationship Id="rId12" Type="http://schemas.openxmlformats.org/officeDocument/2006/relationships/image" Target="../media/image80.png"/><Relationship Id="rId17" Type="http://schemas.openxmlformats.org/officeDocument/2006/relationships/image" Target="../media/image85.svg"/><Relationship Id="rId2" Type="http://schemas.openxmlformats.org/officeDocument/2006/relationships/image" Target="../media/image55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78.svg"/><Relationship Id="rId15" Type="http://schemas.openxmlformats.org/officeDocument/2006/relationships/image" Target="../media/image83.svg"/><Relationship Id="rId10" Type="http://schemas.openxmlformats.org/officeDocument/2006/relationships/image" Target="../media/image6.png"/><Relationship Id="rId4" Type="http://schemas.openxmlformats.org/officeDocument/2006/relationships/image" Target="../media/image77.png"/><Relationship Id="rId9" Type="http://schemas.openxmlformats.org/officeDocument/2006/relationships/image" Target="../media/image5.png"/><Relationship Id="rId14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7.png"/><Relationship Id="rId7" Type="http://schemas.openxmlformats.org/officeDocument/2006/relationships/image" Target="../media/image8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5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51.png"/><Relationship Id="rId10" Type="http://schemas.openxmlformats.org/officeDocument/2006/relationships/image" Target="../media/image87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1.png"/><Relationship Id="rId9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1.png"/><Relationship Id="rId9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5.png"/><Relationship Id="rId7" Type="http://schemas.openxmlformats.org/officeDocument/2006/relationships/image" Target="../media/image9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9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40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40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13" Type="http://schemas.openxmlformats.org/officeDocument/2006/relationships/image" Target="../media/image6.png"/><Relationship Id="rId3" Type="http://schemas.openxmlformats.org/officeDocument/2006/relationships/image" Target="../media/image55.png"/><Relationship Id="rId7" Type="http://schemas.openxmlformats.org/officeDocument/2006/relationships/image" Target="../media/image104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3.svg"/><Relationship Id="rId11" Type="http://schemas.openxmlformats.org/officeDocument/2006/relationships/image" Target="../media/image107.svg"/><Relationship Id="rId5" Type="http://schemas.openxmlformats.org/officeDocument/2006/relationships/image" Target="../media/image102.png"/><Relationship Id="rId10" Type="http://schemas.openxmlformats.org/officeDocument/2006/relationships/image" Target="../media/image106.png"/><Relationship Id="rId4" Type="http://schemas.openxmlformats.org/officeDocument/2006/relationships/image" Target="../media/image56.svg"/><Relationship Id="rId9" Type="http://schemas.openxmlformats.org/officeDocument/2006/relationships/image" Target="../media/image40.png"/><Relationship Id="rId1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162783"/>
            <a:chOff x="6747213" y="1370504"/>
            <a:chExt cx="5158567" cy="216278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1723549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WHERE FOOD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 </a:t>
              </a:r>
              <a:r>
                <a:rPr lang="ko-KR" altLang="en-US" sz="32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정보와 위치정보를 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활용한 지능형 음식 추천 웹 서비스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22342" cy="1161737"/>
            <a:chOff x="6768048" y="3882051"/>
            <a:chExt cx="5222342" cy="1161737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1015663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C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왕석진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이안나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손현아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3175385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27328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10572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15142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위치와 날씨 정보를 반영해 상황에 맞는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음식 메뉴를 추천함으로써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</a:t>
              </a:r>
              <a:r>
                <a:rPr lang="ko-KR" altLang="en-US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맟춤형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편의성을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제공하는 웹 서비스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날씨와 위치 정보를 이용한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음식 추천 웹 서비스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887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전국 배달 데이터를 바탕으로 날씨와 위치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API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이용한 추천 로직 구현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기반 의사결정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개발언어 및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개발도구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1311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개발언어 및 프레임워크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Python, Flask</a:t>
              </a: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API </a:t>
              </a:r>
              <a:r>
                <a:rPr lang="ko-KR" altLang="en-US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공공데이터포털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GPS API</a:t>
              </a: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1311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배달 앱과 연동이 가능하고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맞춤형 추천 서비스로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확장 가능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날씨나 기분에 따라서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메뉴 고민을 </a:t>
              </a:r>
              <a:r>
                <a:rPr lang="ko-KR" altLang="en-US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덜어줌으로써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만족도 향상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432CD52-22DA-4A5E-A9E8-A3E9EBDF9174}"/>
              </a:ext>
            </a:extLst>
          </p:cNvPr>
          <p:cNvGrpSpPr/>
          <p:nvPr/>
        </p:nvGrpSpPr>
        <p:grpSpPr>
          <a:xfrm>
            <a:off x="7313545" y="2371321"/>
            <a:ext cx="2122307" cy="3803725"/>
            <a:chOff x="2784169" y="2373418"/>
            <a:chExt cx="2122307" cy="3803725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5654686A-A2BD-4FC5-8FE0-7BA7C10E2C45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30" name="사각형: 둥근 위쪽 모서리 129">
                <a:extLst>
                  <a:ext uri="{FF2B5EF4-FFF2-40B4-BE49-F238E27FC236}">
                    <a16:creationId xmlns:a16="http://schemas.microsoft.com/office/drawing/2014/main" id="{CC059BDE-0661-420A-8936-9291F2981387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354F3C2F-2672-4EBE-A9E9-11F527EE5100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28EA126-2DBD-4AE1-85DB-794D71389AE9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124" name="육각형 123">
                <a:extLst>
                  <a:ext uri="{FF2B5EF4-FFF2-40B4-BE49-F238E27FC236}">
                    <a16:creationId xmlns:a16="http://schemas.microsoft.com/office/drawing/2014/main" id="{18640692-A837-4E19-9EE9-0331F3FF3F35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5" name="자유형: 도형 124">
                <a:extLst>
                  <a:ext uri="{FF2B5EF4-FFF2-40B4-BE49-F238E27FC236}">
                    <a16:creationId xmlns:a16="http://schemas.microsoft.com/office/drawing/2014/main" id="{945D01A6-E6AB-43BB-AA12-F5AE34303B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97C60D9-2623-48C1-A6DB-E68987EAE0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020A66-FC0F-41D2-91AC-7B99F859795E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개발환경 및 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759ED90-54D6-42EC-AC1C-383247954980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Spyder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Visual Studio Code,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CSS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JavaScript</a:t>
              </a: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607ABA6-A0D8-429E-ABBD-613020E53D5E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해당 프로젝트를 진행하면서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 별로 주도적으로 참여한 부분을 중심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으로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8" y="2136129"/>
              <a:ext cx="41801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운영 중 멘토의 지원내역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733701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왕석진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이안나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손현아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8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61288" cy="358635"/>
            <a:chOff x="4525872" y="3492488"/>
            <a:chExt cx="276128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5" y="3519045"/>
              <a:ext cx="22641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백엔드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구현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2178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 정형화 및 구조 설계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데이터 수집 및 분석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6" y="5045671"/>
            <a:ext cx="2919579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0" y="4278107"/>
              <a:ext cx="20996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문서 작성 및 정리 작업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6AAD658-E113-4F26-93DB-87C5102FBE6D}"/>
              </a:ext>
            </a:extLst>
          </p:cNvPr>
          <p:cNvSpPr txBox="1"/>
          <p:nvPr/>
        </p:nvSpPr>
        <p:spPr>
          <a:xfrm>
            <a:off x="8133720" y="5097927"/>
            <a:ext cx="2423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데이터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전처리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및 프론트 구현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프로젝트의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사전 기획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과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및 완료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과정으로 나누어서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제시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더 효과적으로 전달하는 방법 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수정하여 작성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기획 단계에서 도출된 주제와 아이디어를 기반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실제 프로젝트를 수행한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세부적인 기간과 활동 내용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993137"/>
              </p:ext>
            </p:extLst>
          </p:nvPr>
        </p:nvGraphicFramePr>
        <p:xfrm>
          <a:off x="524528" y="2832100"/>
          <a:ext cx="11218265" cy="364446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05/28(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05/30(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06/02(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06/04(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협약기업 데이터 협조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06/05(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06/10(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06/11(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06/13(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O6/16(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O6/27(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O5/28(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O6/27(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304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필요 데이터  및 수집 절차 정의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06923" cy="326913"/>
            <a:chOff x="7383738" y="3841157"/>
            <a:chExt cx="170692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데이터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정제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모델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문제점 및 피드백 수정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F714805E-A3E3-47AC-8849-DFFC0E240EC4}"/>
              </a:ext>
            </a:extLst>
          </p:cNvPr>
          <p:cNvSpPr txBox="1"/>
          <p:nvPr/>
        </p:nvSpPr>
        <p:spPr>
          <a:xfrm>
            <a:off x="6564052" y="730581"/>
            <a:ext cx="36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프로젝트 기획</a:t>
            </a:r>
            <a:r>
              <a:rPr lang="en-US" altLang="ko-KR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_01</a:t>
            </a:r>
            <a:endParaRPr lang="en-US" altLang="ko-KR" dirty="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세방고딕 Regular"/>
              <a:ea typeface="세방고딕 Regular"/>
            </a:endParaRPr>
          </a:p>
        </p:txBody>
      </p:sp>
      <p:sp>
        <p:nvSpPr>
          <p:cNvPr id="87" name="그래픽 43">
            <a:extLst>
              <a:ext uri="{FF2B5EF4-FFF2-40B4-BE49-F238E27FC236}">
                <a16:creationId xmlns:a16="http://schemas.microsoft.com/office/drawing/2014/main" id="{15D578AC-FB03-440D-9D89-18FD51B411F4}"/>
              </a:ext>
            </a:extLst>
          </p:cNvPr>
          <p:cNvSpPr/>
          <p:nvPr/>
        </p:nvSpPr>
        <p:spPr>
          <a:xfrm>
            <a:off x="5933982" y="692696"/>
            <a:ext cx="324036" cy="360040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/>
          <p:cNvPicPr>
            <a:picLocks noChangeAspect="1"/>
          </p:cNvPicPr>
          <p:nvPr/>
        </p:nvPicPr>
        <p:blipFill rotWithShape="1">
          <a:blip r:embed="rId3"/>
          <a:srcRect t="4360" r="36130"/>
          <a:stretch>
            <a:fillRect/>
          </a:stretch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/>
          <p:cNvPicPr>
            <a:picLocks noChangeAspect="1"/>
          </p:cNvPicPr>
          <p:nvPr/>
        </p:nvPicPr>
        <p:blipFill rotWithShape="1">
          <a:blip r:embed="rId4"/>
          <a:srcRect r="16080" b="36590"/>
          <a:stretch>
            <a:fillRect/>
          </a:stretch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/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76102" y="333243"/>
            <a:ext cx="5719898" cy="830997"/>
            <a:chOff x="376102" y="333243"/>
            <a:chExt cx="5948498" cy="830997"/>
          </a:xfrm>
        </p:grpSpPr>
        <p:sp>
          <p:nvSpPr>
            <p:cNvPr id="27" name="TextBox 26"/>
            <p:cNvSpPr txBox="1"/>
            <p:nvPr/>
          </p:nvSpPr>
          <p:spPr>
            <a:xfrm>
              <a:off x="1461720" y="366113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 b="1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/>
                  <a:ea typeface="세방고딕 Regular"/>
                </a:rPr>
                <a:t>K-Digital Training</a:t>
              </a:r>
              <a:endParaRPr lang="ko-KR" altLang="en-US" sz="12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/>
                <a:ea typeface="세방고딕 Regula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1720" y="585056"/>
              <a:ext cx="48628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/>
                  <a:ea typeface="세방고딕 Bold"/>
                </a:rPr>
                <a:t>프로젝트 수행 절차 및 방법</a:t>
              </a:r>
              <a:endPara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세방고딕 Bold"/>
                <a:ea typeface="세방고딕 Bol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6100" y="333242"/>
              <a:ext cx="1266679" cy="80975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/>
                  <a:ea typeface="세방고딕 Bold"/>
                </a:rPr>
                <a:t>03</a:t>
              </a:r>
              <a:endParaRPr lang="ko-KR" altLang="en-US" sz="44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/>
                <a:ea typeface="세방고딕 Regular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36" name="그래픽 23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pic>
        <p:nvPicPr>
          <p:cNvPr id="104" name="그래픽 10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564052" y="730581"/>
            <a:ext cx="36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프로젝트 기획</a:t>
            </a:r>
            <a:r>
              <a:rPr lang="en-US" altLang="ko-KR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_02</a:t>
            </a:r>
            <a:endParaRPr lang="en-US" altLang="ko-KR" dirty="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5">
                  <a:lumMod val="50000"/>
                </a:schemeClr>
              </a:solidFill>
              <a:latin typeface="세방고딕 Regular"/>
              <a:ea typeface="세방고딕 Regular"/>
            </a:endParaRPr>
          </a:p>
        </p:txBody>
      </p:sp>
      <p:sp>
        <p:nvSpPr>
          <p:cNvPr id="21" name="그래픽 43">
            <a:extLst>
              <a:ext uri="{FF2B5EF4-FFF2-40B4-BE49-F238E27FC236}">
                <a16:creationId xmlns:a16="http://schemas.microsoft.com/office/drawing/2014/main" id="{0C0B73EA-77DB-42DC-AC87-E9CFE2255655}"/>
              </a:ext>
            </a:extLst>
          </p:cNvPr>
          <p:cNvSpPr/>
          <p:nvPr/>
        </p:nvSpPr>
        <p:spPr>
          <a:xfrm>
            <a:off x="5933982" y="692696"/>
            <a:ext cx="324036" cy="360040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9C3961-F19A-4416-B5D2-615DAD8C1D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136" y="1526559"/>
            <a:ext cx="8904312" cy="4918351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/>
          <p:cNvPicPr>
            <a:picLocks noChangeAspect="1"/>
          </p:cNvPicPr>
          <p:nvPr/>
        </p:nvPicPr>
        <p:blipFill rotWithShape="1">
          <a:blip r:embed="rId4"/>
          <a:srcRect t="4360" r="36130"/>
          <a:stretch>
            <a:fillRect/>
          </a:stretch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/>
          <p:cNvPicPr>
            <a:picLocks noChangeAspect="1"/>
          </p:cNvPicPr>
          <p:nvPr/>
        </p:nvPicPr>
        <p:blipFill rotWithShape="1">
          <a:blip r:embed="rId5"/>
          <a:srcRect r="16080" b="36590"/>
          <a:stretch>
            <a:fillRect/>
          </a:stretch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/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76100" y="333242"/>
            <a:ext cx="5431867" cy="809757"/>
            <a:chOff x="376099" y="333242"/>
            <a:chExt cx="5948499" cy="809757"/>
          </a:xfrm>
        </p:grpSpPr>
        <p:sp>
          <p:nvSpPr>
            <p:cNvPr id="27" name="TextBox 26"/>
            <p:cNvSpPr txBox="1"/>
            <p:nvPr/>
          </p:nvSpPr>
          <p:spPr>
            <a:xfrm>
              <a:off x="1461719" y="366107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 b="1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/>
                  <a:ea typeface="세방고딕 Regular"/>
                </a:rPr>
                <a:t>K-Digital Training</a:t>
              </a:r>
              <a:endParaRPr lang="ko-KR" altLang="en-US" sz="12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/>
                <a:ea typeface="세방고딕 Regula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1718" y="585050"/>
              <a:ext cx="4862880" cy="5179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/>
                  <a:ea typeface="세방고딕 Bold"/>
                </a:rPr>
                <a:t>프로젝트 수행 절차 및 방법</a:t>
              </a:r>
              <a:endPara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세방고딕 Bold"/>
                <a:ea typeface="세방고딕 Bol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6099" y="333236"/>
              <a:ext cx="1266680" cy="809763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/>
                  <a:ea typeface="세방고딕 Bold"/>
                </a:rPr>
                <a:t>03</a:t>
              </a:r>
              <a:endParaRPr lang="ko-KR" altLang="en-US" sz="44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/>
                <a:ea typeface="세방고딕 Regular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36" name="그래픽 23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pic>
        <p:nvPicPr>
          <p:cNvPr id="98" name="그래픽 97"/>
          <p:cNvPicPr>
            <a:picLocks noChangeAspect="1"/>
          </p:cNvPicPr>
          <p:nvPr/>
        </p:nvPicPr>
        <p:blipFill rotWithShape="1">
          <a:blip r:embed="rId8"/>
          <a:srcRect b="44800"/>
          <a:stretch>
            <a:fillRect/>
          </a:stretch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84032" y="691178"/>
            <a:ext cx="201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프로젝트 기획</a:t>
            </a:r>
            <a:r>
              <a:rPr lang="en-US" altLang="ko-KR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_03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5474" y="720384"/>
            <a:ext cx="3242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화면설계</a:t>
            </a:r>
            <a:r>
              <a:rPr lang="en-US" altLang="ko-KR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_</a:t>
            </a:r>
            <a:r>
              <a:rPr lang="ko-KR" altLang="en-US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와이어프레임</a:t>
            </a:r>
            <a:r>
              <a:rPr lang="en-US" altLang="ko-KR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(</a:t>
            </a:r>
            <a:r>
              <a:rPr lang="en-US" altLang="ko-KR" sz="1400" dirty="0" err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pixso</a:t>
            </a:r>
            <a:r>
              <a:rPr lang="en-US" altLang="ko-KR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)</a:t>
            </a:r>
          </a:p>
        </p:txBody>
      </p:sp>
      <p:sp>
        <p:nvSpPr>
          <p:cNvPr id="120" name="그래픽 43"/>
          <p:cNvSpPr/>
          <p:nvPr/>
        </p:nvSpPr>
        <p:spPr>
          <a:xfrm>
            <a:off x="5933982" y="692696"/>
            <a:ext cx="324036" cy="360040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1" name="그래픽 43"/>
          <p:cNvSpPr/>
          <p:nvPr/>
        </p:nvSpPr>
        <p:spPr>
          <a:xfrm>
            <a:off x="8472264" y="764704"/>
            <a:ext cx="180020" cy="216024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>
              <a:solidFill>
                <a:srgbClr val="3378C8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324582-1854-4626-8B6C-68C72D193B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65" y="1518847"/>
            <a:ext cx="7772799" cy="5092962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F3E52B-47D8-4886-9803-7AABF6EEA11C}"/>
              </a:ext>
            </a:extLst>
          </p:cNvPr>
          <p:cNvSpPr txBox="1"/>
          <p:nvPr/>
        </p:nvSpPr>
        <p:spPr>
          <a:xfrm>
            <a:off x="8558935" y="1503755"/>
            <a:ext cx="3453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기획 화면 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사용자가 위치를 검색하거나 자동으로 위치 정보를 받아옵니다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현재 날씨에 맞는 </a:t>
            </a:r>
            <a:r>
              <a:rPr lang="ko-KR" altLang="en-US" b="1" dirty="0"/>
              <a:t>음식 </a:t>
            </a:r>
            <a:endParaRPr lang="en-US" altLang="ko-KR" b="1" dirty="0"/>
          </a:p>
          <a:p>
            <a:r>
              <a:rPr lang="en-US" altLang="ko-KR" b="1" dirty="0"/>
              <a:t>   </a:t>
            </a:r>
            <a:r>
              <a:rPr lang="ko-KR" altLang="en-US" b="1" dirty="0"/>
              <a:t>카테고리 </a:t>
            </a:r>
            <a:r>
              <a:rPr lang="en-US" altLang="ko-KR" b="1" dirty="0"/>
              <a:t>3</a:t>
            </a:r>
            <a:r>
              <a:rPr lang="ko-KR" altLang="en-US" b="1" dirty="0"/>
              <a:t>개</a:t>
            </a:r>
            <a:r>
              <a:rPr lang="ko-KR" altLang="en-US" dirty="0"/>
              <a:t>를 추천하고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b="1" dirty="0"/>
              <a:t>추천 이유 리포트</a:t>
            </a:r>
            <a:r>
              <a:rPr lang="ko-KR" altLang="en-US" dirty="0"/>
              <a:t>와 함께 </a:t>
            </a:r>
            <a:endParaRPr lang="en-US" altLang="ko-KR" dirty="0"/>
          </a:p>
          <a:p>
            <a:r>
              <a:rPr lang="en-US" altLang="ko-KR" b="1" dirty="0"/>
              <a:t>   </a:t>
            </a:r>
            <a:r>
              <a:rPr lang="ko-KR" altLang="en-US" b="1" dirty="0"/>
              <a:t>주변 음식점 상위 </a:t>
            </a:r>
            <a:r>
              <a:rPr lang="en-US" altLang="ko-KR" b="1" dirty="0"/>
              <a:t>1~3</a:t>
            </a:r>
            <a:r>
              <a:rPr lang="ko-KR" altLang="en-US" b="1" dirty="0"/>
              <a:t>위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ko-KR" altLang="en-US" dirty="0"/>
              <a:t>   </a:t>
            </a:r>
            <a:r>
              <a:rPr lang="ko-KR" altLang="en-US" b="1" dirty="0"/>
              <a:t>지도와 마커로 표시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마커는 </a:t>
            </a:r>
            <a:r>
              <a:rPr lang="ko-KR" altLang="en-US" b="1" dirty="0"/>
              <a:t>사용자가 직접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b="1" dirty="0"/>
              <a:t>이동</a:t>
            </a:r>
            <a:r>
              <a:rPr lang="ko-KR" altLang="en-US" dirty="0"/>
              <a:t>하여 위치를 세부 </a:t>
            </a:r>
            <a:endParaRPr lang="en-US" altLang="ko-KR" dirty="0"/>
          </a:p>
          <a:p>
            <a:r>
              <a:rPr lang="ko-KR" altLang="en-US" dirty="0"/>
              <a:t>   조정할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061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/>
          <p:cNvPicPr>
            <a:picLocks noChangeAspect="1"/>
          </p:cNvPicPr>
          <p:nvPr/>
        </p:nvPicPr>
        <p:blipFill rotWithShape="1">
          <a:blip r:embed="rId3"/>
          <a:srcRect t="4360" r="36130"/>
          <a:stretch>
            <a:fillRect/>
          </a:stretch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/>
          <p:cNvPicPr>
            <a:picLocks noChangeAspect="1"/>
          </p:cNvPicPr>
          <p:nvPr/>
        </p:nvPicPr>
        <p:blipFill rotWithShape="1">
          <a:blip r:embed="rId4"/>
          <a:srcRect r="16080" b="36590"/>
          <a:stretch>
            <a:fillRect/>
          </a:stretch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/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76099" y="333243"/>
            <a:ext cx="5467872" cy="809756"/>
            <a:chOff x="376099" y="333243"/>
            <a:chExt cx="5948500" cy="809756"/>
          </a:xfrm>
        </p:grpSpPr>
        <p:sp>
          <p:nvSpPr>
            <p:cNvPr id="27" name="TextBox 26"/>
            <p:cNvSpPr txBox="1"/>
            <p:nvPr/>
          </p:nvSpPr>
          <p:spPr>
            <a:xfrm>
              <a:off x="1461720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 b="1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/>
                  <a:ea typeface="세방고딕 Regular"/>
                </a:rPr>
                <a:t>K-Digital Training</a:t>
              </a:r>
              <a:endParaRPr lang="ko-KR" altLang="en-US" sz="12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/>
                <a:ea typeface="세방고딕 Regula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1720" y="585057"/>
              <a:ext cx="4862880" cy="517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/>
                  <a:ea typeface="세방고딕 Bold"/>
                </a:rPr>
                <a:t>프로젝트 수행 절차 및 방법</a:t>
              </a:r>
              <a:endPara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세방고딕 Bold"/>
                <a:ea typeface="세방고딕 Bol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6099" y="333243"/>
              <a:ext cx="1266680" cy="80975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/>
                  <a:ea typeface="세방고딕 Bold"/>
                </a:rPr>
                <a:t>03</a:t>
              </a:r>
              <a:endParaRPr lang="ko-KR" altLang="en-US" sz="44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/>
                <a:ea typeface="세방고딕 Regular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36" name="그래픽 23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pic>
        <p:nvPicPr>
          <p:cNvPr id="98" name="그래픽 97"/>
          <p:cNvPicPr>
            <a:picLocks noChangeAspect="1"/>
          </p:cNvPicPr>
          <p:nvPr/>
        </p:nvPicPr>
        <p:blipFill rotWithShape="1">
          <a:blip r:embed="rId7"/>
          <a:srcRect b="44800"/>
          <a:stretch>
            <a:fillRect/>
          </a:stretch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sp>
        <p:nvSpPr>
          <p:cNvPr id="120" name="TextBox 33"/>
          <p:cNvSpPr txBox="1"/>
          <p:nvPr/>
        </p:nvSpPr>
        <p:spPr>
          <a:xfrm>
            <a:off x="6384032" y="691178"/>
            <a:ext cx="201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프로젝트 기획</a:t>
            </a:r>
            <a:r>
              <a:rPr lang="en-US" altLang="ko-KR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_04</a:t>
            </a:r>
          </a:p>
        </p:txBody>
      </p:sp>
      <p:sp>
        <p:nvSpPr>
          <p:cNvPr id="121" name="TextBox 41"/>
          <p:cNvSpPr txBox="1"/>
          <p:nvPr/>
        </p:nvSpPr>
        <p:spPr>
          <a:xfrm>
            <a:off x="8775474" y="720384"/>
            <a:ext cx="3153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Use case Diaqram_01</a:t>
            </a:r>
          </a:p>
        </p:txBody>
      </p:sp>
      <p:sp>
        <p:nvSpPr>
          <p:cNvPr id="122" name="그래픽 43"/>
          <p:cNvSpPr/>
          <p:nvPr/>
        </p:nvSpPr>
        <p:spPr>
          <a:xfrm>
            <a:off x="5933982" y="692696"/>
            <a:ext cx="324036" cy="360040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3" name="그래픽 43"/>
          <p:cNvSpPr/>
          <p:nvPr/>
        </p:nvSpPr>
        <p:spPr>
          <a:xfrm>
            <a:off x="8472264" y="764704"/>
            <a:ext cx="180020" cy="216024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65B969-5C44-4291-A85C-AA8BEB2A09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48" y="1543584"/>
            <a:ext cx="6905637" cy="4915391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/>
          <p:cNvPicPr>
            <a:picLocks noChangeAspect="1"/>
          </p:cNvPicPr>
          <p:nvPr/>
        </p:nvPicPr>
        <p:blipFill rotWithShape="1">
          <a:blip r:embed="rId3"/>
          <a:srcRect t="4360" r="36130"/>
          <a:stretch>
            <a:fillRect/>
          </a:stretch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/>
          <p:cNvPicPr>
            <a:picLocks noChangeAspect="1"/>
          </p:cNvPicPr>
          <p:nvPr/>
        </p:nvPicPr>
        <p:blipFill rotWithShape="1">
          <a:blip r:embed="rId4"/>
          <a:srcRect r="16080" b="36590"/>
          <a:stretch>
            <a:fillRect/>
          </a:stretch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/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376099" y="333243"/>
            <a:ext cx="5467872" cy="809756"/>
            <a:chOff x="376099" y="333243"/>
            <a:chExt cx="5948500" cy="809756"/>
          </a:xfrm>
        </p:grpSpPr>
        <p:sp>
          <p:nvSpPr>
            <p:cNvPr id="27" name="TextBox 26"/>
            <p:cNvSpPr txBox="1"/>
            <p:nvPr/>
          </p:nvSpPr>
          <p:spPr>
            <a:xfrm>
              <a:off x="1461720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 b="1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/>
                  <a:ea typeface="세방고딕 Regular"/>
                </a:rPr>
                <a:t>K-Digital Training</a:t>
              </a:r>
              <a:endParaRPr lang="ko-KR" altLang="en-US" sz="12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/>
                <a:ea typeface="세방고딕 Regular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61720" y="585057"/>
              <a:ext cx="4862880" cy="517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/>
                  <a:ea typeface="세방고딕 Bold"/>
                </a:rPr>
                <a:t>프로젝트 수행 절차 및 방법</a:t>
              </a:r>
              <a:endParaRPr lang="ko-KR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세방고딕 Bold"/>
                <a:ea typeface="세방고딕 Bol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6099" y="333243"/>
              <a:ext cx="1266680" cy="80975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>
                  <a:ln w="9525"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/>
                  <a:ea typeface="세방고딕 Bold"/>
                </a:rPr>
                <a:t>03</a:t>
              </a:r>
              <a:endParaRPr lang="ko-KR" altLang="en-US" sz="4400" b="1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/>
                <a:ea typeface="세방고딕 Regular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</p:spPr>
        </p:pic>
        <p:pic>
          <p:nvPicPr>
            <p:cNvPr id="36" name="그래픽 23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anchor="ctr">
            <a:noAutofit/>
          </a:bodyPr>
          <a:lstStyle/>
          <a:p>
            <a:pPr algn="ctr">
              <a:defRPr/>
            </a:pPr>
            <a:endParaRPr lang="ko-KR" altLang="en-US" sz="1600" b="1" spc="600">
              <a:ln w="9525"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/>
              <a:ea typeface="세방고딕 Regular"/>
            </a:endParaRPr>
          </a:p>
        </p:txBody>
      </p:sp>
      <p:pic>
        <p:nvPicPr>
          <p:cNvPr id="98" name="그래픽 97"/>
          <p:cNvPicPr>
            <a:picLocks noChangeAspect="1"/>
          </p:cNvPicPr>
          <p:nvPr/>
        </p:nvPicPr>
        <p:blipFill rotWithShape="1">
          <a:blip r:embed="rId7"/>
          <a:srcRect b="44800"/>
          <a:stretch>
            <a:fillRect/>
          </a:stretch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sp>
        <p:nvSpPr>
          <p:cNvPr id="120" name="TextBox 33"/>
          <p:cNvSpPr txBox="1"/>
          <p:nvPr/>
        </p:nvSpPr>
        <p:spPr>
          <a:xfrm>
            <a:off x="6384032" y="691178"/>
            <a:ext cx="201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프로젝트 기획</a:t>
            </a:r>
            <a:r>
              <a:rPr lang="en-US" altLang="ko-KR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세방고딕 Bold"/>
                <a:ea typeface="세방고딕 Bold"/>
              </a:rPr>
              <a:t>_04</a:t>
            </a:r>
          </a:p>
        </p:txBody>
      </p:sp>
      <p:sp>
        <p:nvSpPr>
          <p:cNvPr id="121" name="TextBox 41"/>
          <p:cNvSpPr txBox="1"/>
          <p:nvPr/>
        </p:nvSpPr>
        <p:spPr>
          <a:xfrm>
            <a:off x="8775474" y="720384"/>
            <a:ext cx="3153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400" dirty="0">
                <a:ln w="9525"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/>
                <a:ea typeface="세방고딕 Bold"/>
              </a:rPr>
              <a:t>Sequence Diaqram_02</a:t>
            </a:r>
          </a:p>
        </p:txBody>
      </p:sp>
      <p:sp>
        <p:nvSpPr>
          <p:cNvPr id="122" name="그래픽 43"/>
          <p:cNvSpPr/>
          <p:nvPr/>
        </p:nvSpPr>
        <p:spPr>
          <a:xfrm>
            <a:off x="5933982" y="692696"/>
            <a:ext cx="324036" cy="360040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3" name="그래픽 43"/>
          <p:cNvSpPr/>
          <p:nvPr/>
        </p:nvSpPr>
        <p:spPr>
          <a:xfrm>
            <a:off x="8472264" y="764704"/>
            <a:ext cx="180020" cy="216024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anchor="ctr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B6F17C-BB13-4DE9-A5A2-EEAC7F9DD0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2" y="1528753"/>
            <a:ext cx="9145276" cy="5058481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9401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정제 및 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전처리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C9A8BBB-9973-4AF3-89E5-EAA763F989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750" y="2418627"/>
            <a:ext cx="2372056" cy="14765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B767EA6-6193-4309-9E0A-64E155643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96" y="2293094"/>
            <a:ext cx="2429214" cy="142894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FAC5312-D30A-4D5E-BDD6-193ECA5646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5960" y="2158090"/>
            <a:ext cx="6294500" cy="211693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CF7A942-30C2-4D59-9261-4FA3BE0B73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102" y="4699910"/>
            <a:ext cx="6364848" cy="1696631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8254AEA-4521-4CA9-A108-ABCE5C7FC827}"/>
              </a:ext>
            </a:extLst>
          </p:cNvPr>
          <p:cNvCxnSpPr/>
          <p:nvPr/>
        </p:nvCxnSpPr>
        <p:spPr>
          <a:xfrm>
            <a:off x="1642781" y="2420888"/>
            <a:ext cx="11408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45FFD0B-2FD8-432A-BCCF-6E2C688A9D95}"/>
              </a:ext>
            </a:extLst>
          </p:cNvPr>
          <p:cNvCxnSpPr/>
          <p:nvPr/>
        </p:nvCxnSpPr>
        <p:spPr>
          <a:xfrm rot="16200000" flipH="1">
            <a:off x="1415480" y="3825044"/>
            <a:ext cx="1116124" cy="3240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560181F-96F5-409E-B854-36EC668E4C8C}"/>
              </a:ext>
            </a:extLst>
          </p:cNvPr>
          <p:cNvCxnSpPr/>
          <p:nvPr/>
        </p:nvCxnSpPr>
        <p:spPr>
          <a:xfrm>
            <a:off x="4735983" y="2744924"/>
            <a:ext cx="864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265A55B-F98A-4FD0-857F-C7C2BB50628B}"/>
              </a:ext>
            </a:extLst>
          </p:cNvPr>
          <p:cNvSpPr txBox="1"/>
          <p:nvPr/>
        </p:nvSpPr>
        <p:spPr>
          <a:xfrm>
            <a:off x="6740950" y="4545124"/>
            <a:ext cx="500184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결측 데이터 제거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데이터 정제</a:t>
            </a:r>
            <a:r>
              <a:rPr lang="en-US" altLang="ko-KR" dirty="0"/>
              <a:t> </a:t>
            </a:r>
            <a:r>
              <a:rPr lang="ko-KR" altLang="en-US" dirty="0"/>
              <a:t>이상치 제거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심부름</a:t>
            </a:r>
            <a:r>
              <a:rPr lang="en-US" altLang="ko-KR" dirty="0"/>
              <a:t>,</a:t>
            </a:r>
            <a:r>
              <a:rPr lang="ko-KR" altLang="en-US" dirty="0"/>
              <a:t>배달전문업체</a:t>
            </a:r>
            <a:r>
              <a:rPr lang="en-US" altLang="ko-KR" dirty="0"/>
              <a:t>,</a:t>
            </a:r>
            <a:r>
              <a:rPr lang="ko-KR" altLang="en-US" dirty="0"/>
              <a:t>야식</a:t>
            </a:r>
            <a:r>
              <a:rPr lang="en-US" altLang="ko-KR" dirty="0"/>
              <a:t>,</a:t>
            </a:r>
            <a:r>
              <a:rPr lang="ko-KR" altLang="en-US" dirty="0" err="1"/>
              <a:t>습도값</a:t>
            </a:r>
            <a:r>
              <a:rPr lang="ko-KR" altLang="en-US" dirty="0"/>
              <a:t> </a:t>
            </a:r>
            <a:r>
              <a:rPr lang="en-US" altLang="ko-KR" dirty="0"/>
              <a:t>-1 </a:t>
            </a:r>
            <a:r>
              <a:rPr lang="ko-KR" altLang="en-US" dirty="0"/>
              <a:t>제거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기온</a:t>
            </a:r>
            <a:r>
              <a:rPr lang="en-US" altLang="ko-KR" dirty="0"/>
              <a:t>,</a:t>
            </a:r>
            <a:r>
              <a:rPr lang="ko-KR" altLang="en-US" dirty="0"/>
              <a:t>습도</a:t>
            </a:r>
            <a:r>
              <a:rPr lang="en-US" altLang="ko-KR" dirty="0"/>
              <a:t>,</a:t>
            </a:r>
            <a:r>
              <a:rPr lang="ko-KR" altLang="en-US" dirty="0"/>
              <a:t>강수량</a:t>
            </a:r>
            <a:r>
              <a:rPr lang="en-US" altLang="ko-KR" dirty="0"/>
              <a:t>,</a:t>
            </a:r>
            <a:r>
              <a:rPr lang="ko-KR" altLang="en-US" dirty="0"/>
              <a:t>풍속을 유형별로 분류 및 </a:t>
            </a:r>
            <a:br>
              <a:rPr lang="en-US" altLang="ko-KR" dirty="0"/>
            </a:br>
            <a:r>
              <a:rPr lang="en-US" altLang="ko-KR" dirty="0"/>
              <a:t>     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en-US" altLang="ko-KR" sz="1300" dirty="0">
                <a:solidFill>
                  <a:schemeClr val="accent1"/>
                </a:solidFill>
              </a:rPr>
              <a:t>※ </a:t>
            </a:r>
            <a:r>
              <a:rPr lang="ko-KR" altLang="en-US" sz="1300" dirty="0">
                <a:solidFill>
                  <a:schemeClr val="accent1"/>
                </a:solidFill>
              </a:rPr>
              <a:t>데이터 출처 </a:t>
            </a:r>
            <a:r>
              <a:rPr lang="en-US" altLang="ko-KR" sz="1300" dirty="0">
                <a:solidFill>
                  <a:schemeClr val="accent1"/>
                </a:solidFill>
              </a:rPr>
              <a:t>: </a:t>
            </a:r>
            <a:r>
              <a:rPr lang="en-US" altLang="ko-KR" sz="1300" dirty="0">
                <a:solidFill>
                  <a:schemeClr val="accent1"/>
                </a:solidFill>
                <a:latin typeface="Arial" panose="020B0604020202020204" pitchFamily="34" charset="0"/>
              </a:rPr>
              <a:t>KT </a:t>
            </a:r>
            <a:r>
              <a:rPr lang="ko-KR" altLang="en-US" sz="1300" dirty="0">
                <a:solidFill>
                  <a:schemeClr val="accent1"/>
                </a:solidFill>
                <a:latin typeface="Arial" panose="020B0604020202020204" pitchFamily="34" charset="0"/>
              </a:rPr>
              <a:t>통신 빅데이터 플랫폼</a:t>
            </a:r>
            <a:r>
              <a:rPr lang="en-US" altLang="ko-KR" sz="1300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endParaRPr lang="ko-KR" altLang="en-US" sz="13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84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탐색 및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F4F4D8C-E07B-4312-BC26-AC747C2CA4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1" y="2190744"/>
            <a:ext cx="8240178" cy="45965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98872B-20FF-47F3-9EE2-6540F7B7ED96}"/>
              </a:ext>
            </a:extLst>
          </p:cNvPr>
          <p:cNvSpPr txBox="1"/>
          <p:nvPr/>
        </p:nvSpPr>
        <p:spPr>
          <a:xfrm>
            <a:off x="8688288" y="2132856"/>
            <a:ext cx="32763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총 주문 건수 분석 결과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치킨</a:t>
            </a:r>
            <a:r>
              <a:rPr lang="en-US" altLang="ko-KR" dirty="0"/>
              <a:t>, </a:t>
            </a:r>
            <a:r>
              <a:rPr lang="ko-KR" altLang="en-US" dirty="0"/>
              <a:t>한식</a:t>
            </a:r>
            <a:r>
              <a:rPr lang="en-US" altLang="ko-KR" dirty="0"/>
              <a:t>, </a:t>
            </a:r>
            <a:r>
              <a:rPr lang="ko-KR" altLang="en-US" dirty="0"/>
              <a:t>분식은 모든 날씨 조건에서 상위권을 유지하였고</a:t>
            </a:r>
            <a:r>
              <a:rPr lang="en-US" altLang="ko-KR" dirty="0"/>
              <a:t>, </a:t>
            </a:r>
            <a:r>
              <a:rPr lang="ko-KR" altLang="en-US" dirty="0"/>
              <a:t>아시안</a:t>
            </a:r>
            <a:r>
              <a:rPr lang="en-US" altLang="ko-KR" dirty="0"/>
              <a:t>/</a:t>
            </a:r>
            <a:r>
              <a:rPr lang="ko-KR" altLang="en-US" dirty="0"/>
              <a:t>양식</a:t>
            </a:r>
            <a:r>
              <a:rPr lang="en-US" altLang="ko-KR" dirty="0"/>
              <a:t>, </a:t>
            </a:r>
            <a:r>
              <a:rPr lang="ko-KR" altLang="en-US" dirty="0"/>
              <a:t>회</a:t>
            </a:r>
            <a:r>
              <a:rPr lang="en-US" altLang="ko-KR" dirty="0"/>
              <a:t>, </a:t>
            </a:r>
            <a:r>
              <a:rPr lang="ko-KR" altLang="en-US" dirty="0"/>
              <a:t>도시락은 항상 하위권에 머물렀습니다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날씨에 따른 순위 변화가 거의 없어</a:t>
            </a:r>
            <a:r>
              <a:rPr lang="en-US" altLang="ko-KR" dirty="0"/>
              <a:t>, </a:t>
            </a:r>
            <a:r>
              <a:rPr lang="ko-KR" altLang="en-US" b="1" dirty="0"/>
              <a:t>날씨 변수에 의한 변별력이 낮은 것으로 나타났습니다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나이브베지안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성능이 </a:t>
            </a:r>
            <a:r>
              <a:rPr lang="en-US" altLang="ko-KR" dirty="0"/>
              <a:t>10% </a:t>
            </a:r>
            <a:br>
              <a:rPr lang="en-US" altLang="ko-KR" dirty="0"/>
            </a:br>
            <a:r>
              <a:rPr lang="en-US" altLang="ko-KR" dirty="0"/>
              <a:t>                    </a:t>
            </a:r>
            <a:r>
              <a:rPr lang="ko-KR" altLang="en-US" dirty="0"/>
              <a:t>미만</a:t>
            </a:r>
            <a:endParaRPr lang="en-US" altLang="ko-KR" dirty="0"/>
          </a:p>
          <a:p>
            <a:r>
              <a:rPr lang="ko-KR" altLang="en-US" dirty="0" err="1"/>
              <a:t>랜덤포레스트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성능이 </a:t>
            </a:r>
            <a:r>
              <a:rPr lang="en-US" altLang="ko-KR" dirty="0"/>
              <a:t>15.4%</a:t>
            </a:r>
            <a:br>
              <a:rPr lang="en-US" altLang="ko-KR" dirty="0"/>
            </a:br>
            <a:r>
              <a:rPr lang="en-US" altLang="ko-KR" dirty="0"/>
              <a:t>                    </a:t>
            </a:r>
            <a:r>
              <a:rPr lang="ko-KR" altLang="en-US" dirty="0"/>
              <a:t>이상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49C7709-664D-4FC2-A4F0-4462904FAA95}"/>
              </a:ext>
            </a:extLst>
          </p:cNvPr>
          <p:cNvSpPr/>
          <p:nvPr/>
        </p:nvSpPr>
        <p:spPr>
          <a:xfrm>
            <a:off x="743615" y="2276872"/>
            <a:ext cx="1463953" cy="4215014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설명선: 선 4">
            <a:extLst>
              <a:ext uri="{FF2B5EF4-FFF2-40B4-BE49-F238E27FC236}">
                <a16:creationId xmlns:a16="http://schemas.microsoft.com/office/drawing/2014/main" id="{633EEEC6-5C4E-458E-B2B8-A8DD6CCEBA55}"/>
              </a:ext>
            </a:extLst>
          </p:cNvPr>
          <p:cNvSpPr/>
          <p:nvPr/>
        </p:nvSpPr>
        <p:spPr>
          <a:xfrm>
            <a:off x="3713934" y="2532613"/>
            <a:ext cx="3462186" cy="896387"/>
          </a:xfrm>
          <a:prstGeom prst="borderCallout1">
            <a:avLst>
              <a:gd name="adj1" fmla="val 44383"/>
              <a:gd name="adj2" fmla="val -1644"/>
              <a:gd name="adj3" fmla="val 128833"/>
              <a:gd name="adj4" fmla="val -42500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치킨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한식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분식은 날씨 상관없이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상위권에 분포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398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탐색 및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9B459EA5-7202-4B16-B363-09607124A7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38" y="1967674"/>
            <a:ext cx="4012004" cy="36215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4C84213-855F-4CAF-95AD-69CC8BE3E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3480" y="1967676"/>
            <a:ext cx="3785241" cy="36813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EA34DE4-D8FE-4362-B627-E4F76E4CEC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8345" y="2024287"/>
            <a:ext cx="3638770" cy="3624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CD6295-00CE-4380-A43B-E33DDD63005E}"/>
              </a:ext>
            </a:extLst>
          </p:cNvPr>
          <p:cNvSpPr txBox="1"/>
          <p:nvPr/>
        </p:nvSpPr>
        <p:spPr>
          <a:xfrm>
            <a:off x="376102" y="5649061"/>
            <a:ext cx="11192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다양한 음식 추천을 제공하기 위해 랜덤 포레스트 회귀 모델을 활용하였습니다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기온</a:t>
            </a:r>
            <a:r>
              <a:rPr lang="en-US" altLang="ko-KR" dirty="0"/>
              <a:t>, </a:t>
            </a:r>
            <a:r>
              <a:rPr lang="ko-KR" altLang="en-US" dirty="0"/>
              <a:t>습도</a:t>
            </a:r>
            <a:r>
              <a:rPr lang="en-US" altLang="ko-KR" dirty="0"/>
              <a:t>, </a:t>
            </a:r>
            <a:r>
              <a:rPr lang="ko-KR" altLang="en-US" dirty="0"/>
              <a:t>강수 유형에 따라 음식 카테고리별 주문 건수를 백분율로 환산한 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현재 날씨 조건에 해당하는 비율 값을 합산하여 </a:t>
            </a:r>
            <a:r>
              <a:rPr lang="ko-KR" altLang="en-US" b="1" dirty="0"/>
              <a:t>가장 높은 상위 </a:t>
            </a:r>
            <a:r>
              <a:rPr lang="en-US" altLang="ko-KR" b="1" dirty="0"/>
              <a:t>3</a:t>
            </a:r>
            <a:r>
              <a:rPr lang="ko-KR" altLang="en-US" b="1" dirty="0"/>
              <a:t>개의 카테고리를 추천</a:t>
            </a:r>
            <a:r>
              <a:rPr lang="ko-KR" altLang="en-US" dirty="0"/>
              <a:t>하도록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452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 정보 처리 과정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A9415D-F82F-4183-9497-9C4A7FFC3077}"/>
              </a:ext>
            </a:extLst>
          </p:cNvPr>
          <p:cNvSpPr txBox="1"/>
          <p:nvPr/>
        </p:nvSpPr>
        <p:spPr>
          <a:xfrm>
            <a:off x="7874395" y="2006545"/>
            <a:ext cx="39997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초기 접근 </a:t>
            </a:r>
            <a:r>
              <a:rPr lang="en-US" altLang="ko-KR" b="1" dirty="0"/>
              <a:t>(IP</a:t>
            </a:r>
            <a:r>
              <a:rPr lang="ko-KR" altLang="en-US" b="1" dirty="0"/>
              <a:t>기반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IP </a:t>
            </a:r>
            <a:r>
              <a:rPr lang="ko-KR" altLang="en-US" dirty="0"/>
              <a:t>기반 위치 정보는 광범위한 지역만 식별되어</a:t>
            </a:r>
            <a:r>
              <a:rPr lang="en-US" altLang="ko-KR" dirty="0"/>
              <a:t>, </a:t>
            </a:r>
            <a:r>
              <a:rPr lang="ko-KR" altLang="en-US" dirty="0"/>
              <a:t>분석에 필요한 세부 위치 정보를 제공하지 못하였습니다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2.</a:t>
            </a:r>
            <a:r>
              <a:rPr lang="ko-KR" altLang="en-US" b="1" dirty="0"/>
              <a:t>개선 시도</a:t>
            </a:r>
            <a:r>
              <a:rPr lang="en-US" altLang="ko-KR" b="1" dirty="0"/>
              <a:t>(GPS </a:t>
            </a:r>
            <a:r>
              <a:rPr lang="ko-KR" altLang="en-US" b="1" dirty="0"/>
              <a:t>기반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정확도를 높이기 위해 </a:t>
            </a:r>
            <a:r>
              <a:rPr lang="en-US" altLang="ko-KR" dirty="0"/>
              <a:t>Geolocation API</a:t>
            </a:r>
            <a:r>
              <a:rPr lang="ko-KR" altLang="en-US" dirty="0"/>
              <a:t>를 활용한 </a:t>
            </a:r>
            <a:r>
              <a:rPr lang="en-US" altLang="ko-KR" dirty="0"/>
              <a:t>GPS </a:t>
            </a:r>
            <a:r>
              <a:rPr lang="ko-KR" altLang="en-US" dirty="0"/>
              <a:t>기반 위치 정보를 도입하였습니다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</a:t>
            </a:r>
            <a:r>
              <a:rPr lang="ko-KR" altLang="en-US" b="1" dirty="0"/>
              <a:t>현실적 문제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GPS </a:t>
            </a:r>
            <a:r>
              <a:rPr lang="ko-KR" altLang="en-US" dirty="0"/>
              <a:t>정보 또한 환경에 따라 정확도가 보장되지 않아</a:t>
            </a:r>
            <a:r>
              <a:rPr lang="en-US" altLang="ko-KR" dirty="0"/>
              <a:t>, </a:t>
            </a:r>
            <a:r>
              <a:rPr lang="ko-KR" altLang="en-US" dirty="0"/>
              <a:t>실시간 정밀 분석에는 한계가 존재하였습니다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B059EF-057B-4C30-8579-3657F4FEF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63" y="2150430"/>
            <a:ext cx="7437196" cy="399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2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 정보와 추천 메뉴 구현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A9415D-F82F-4183-9497-9C4A7FFC3077}"/>
              </a:ext>
            </a:extLst>
          </p:cNvPr>
          <p:cNvSpPr txBox="1"/>
          <p:nvPr/>
        </p:nvSpPr>
        <p:spPr>
          <a:xfrm>
            <a:off x="7934663" y="2056686"/>
            <a:ext cx="41157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날씨 정보 </a:t>
            </a:r>
            <a:r>
              <a:rPr lang="en-US" altLang="ko-KR" b="1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공공데이터 포털</a:t>
            </a:r>
            <a:r>
              <a:rPr lang="en-US" altLang="ko-KR" dirty="0"/>
              <a:t>(</a:t>
            </a:r>
            <a:r>
              <a:rPr lang="ko-KR" altLang="en-US" dirty="0"/>
              <a:t>기상청 </a:t>
            </a:r>
            <a:r>
              <a:rPr lang="en-US" altLang="ko-KR" dirty="0"/>
              <a:t>API)</a:t>
            </a:r>
            <a:r>
              <a:rPr lang="ko-KR" altLang="en-US" dirty="0"/>
              <a:t>초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단기예보를 활용하여</a:t>
            </a:r>
            <a:r>
              <a:rPr lang="en-US" altLang="ko-KR" dirty="0"/>
              <a:t>, </a:t>
            </a:r>
            <a:r>
              <a:rPr lang="ko-KR" altLang="en-US" dirty="0"/>
              <a:t>현재 위치의</a:t>
            </a:r>
            <a:endParaRPr lang="en-US" altLang="ko-KR" dirty="0"/>
          </a:p>
          <a:p>
            <a:r>
              <a:rPr lang="ko-KR" altLang="en-US" dirty="0"/>
              <a:t>  실시간 날씨 데이터를 </a:t>
            </a:r>
            <a:r>
              <a:rPr lang="ko-KR" altLang="en-US" dirty="0" err="1"/>
              <a:t>수집하였습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 err="1"/>
              <a:t>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추천 메뉴 </a:t>
            </a:r>
            <a:r>
              <a:rPr lang="en-US" altLang="ko-KR" b="1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 예측 결과를 비율이 높은 순서대로</a:t>
            </a:r>
            <a:endParaRPr lang="en-US" altLang="ko-KR" dirty="0"/>
          </a:p>
          <a:p>
            <a:r>
              <a:rPr lang="ko-KR" altLang="en-US" dirty="0"/>
              <a:t>   </a:t>
            </a:r>
            <a:r>
              <a:rPr lang="ko-KR" altLang="en-US" dirty="0" err="1"/>
              <a:t>캐러셀로</a:t>
            </a:r>
            <a:r>
              <a:rPr lang="ko-KR" altLang="en-US" dirty="0"/>
              <a:t> 시각화 </a:t>
            </a:r>
            <a:r>
              <a:rPr lang="en-US" altLang="ko-KR" dirty="0"/>
              <a:t>/ </a:t>
            </a:r>
            <a:r>
              <a:rPr lang="ko-KR" altLang="en-US" dirty="0"/>
              <a:t>카드 클릭 시 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현재 위치에 기반한 음식점과 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지도를 함께 제공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‘추천 이유 보기’ 클릭 시</a:t>
            </a:r>
            <a:r>
              <a:rPr lang="en-US" altLang="ko-KR" dirty="0"/>
              <a:t>, </a:t>
            </a:r>
            <a:r>
              <a:rPr lang="ko-KR" altLang="en-US" dirty="0"/>
              <a:t>현재</a:t>
            </a:r>
            <a:r>
              <a:rPr lang="en-US" altLang="ko-KR" dirty="0"/>
              <a:t> </a:t>
            </a:r>
            <a:r>
              <a:rPr lang="ko-KR" altLang="en-US" dirty="0"/>
              <a:t>위치   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와 날씨 기반 배달 데이터 히트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맵 표시</a:t>
            </a:r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D63C6D-6468-483F-908B-8FC1FEA9E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12" y="2150430"/>
            <a:ext cx="7437196" cy="399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14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85146" y="32587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지도와 리스트 구현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A9415D-F82F-4183-9497-9C4A7FFC3077}"/>
              </a:ext>
            </a:extLst>
          </p:cNvPr>
          <p:cNvSpPr txBox="1"/>
          <p:nvPr/>
        </p:nvSpPr>
        <p:spPr>
          <a:xfrm>
            <a:off x="6848405" y="2655460"/>
            <a:ext cx="51672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지도</a:t>
            </a:r>
            <a:r>
              <a:rPr lang="en-US" altLang="ko-KR" b="1" dirty="0"/>
              <a:t>(</a:t>
            </a:r>
            <a:r>
              <a:rPr lang="ko-KR" altLang="en-US" b="1" dirty="0"/>
              <a:t>카카오 </a:t>
            </a:r>
            <a:r>
              <a:rPr lang="en-US" altLang="ko-KR" b="1" dirty="0"/>
              <a:t>API)</a:t>
            </a:r>
          </a:p>
          <a:p>
            <a:r>
              <a:rPr lang="ko-KR" altLang="en-US" dirty="0"/>
              <a:t>   카카오 </a:t>
            </a:r>
            <a:r>
              <a:rPr lang="ko-KR" altLang="en-US" dirty="0" err="1"/>
              <a:t>맵을</a:t>
            </a:r>
            <a:r>
              <a:rPr lang="ko-KR" altLang="en-US" dirty="0"/>
              <a:t> 가져온 후</a:t>
            </a:r>
            <a:r>
              <a:rPr lang="en-US" altLang="ko-KR" dirty="0"/>
              <a:t> </a:t>
            </a:r>
            <a:r>
              <a:rPr lang="ko-KR" altLang="en-US" dirty="0"/>
              <a:t>음식점 리스트를 불러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온 뒤 마커로 시각화 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2.</a:t>
            </a:r>
            <a:r>
              <a:rPr lang="ko-KR" altLang="en-US" b="1" dirty="0"/>
              <a:t>음식점 리스트</a:t>
            </a:r>
            <a:endParaRPr lang="en-US" altLang="ko-KR" b="1" dirty="0"/>
          </a:p>
          <a:p>
            <a:r>
              <a:rPr lang="ko-KR" altLang="en-US" dirty="0"/>
              <a:t>   정확도</a:t>
            </a:r>
            <a:r>
              <a:rPr lang="en-US" altLang="ko-KR" dirty="0"/>
              <a:t>,</a:t>
            </a:r>
            <a:r>
              <a:rPr lang="ko-KR" altLang="en-US" dirty="0"/>
              <a:t>거리</a:t>
            </a:r>
            <a:r>
              <a:rPr lang="en-US" altLang="ko-KR" dirty="0"/>
              <a:t>,</a:t>
            </a:r>
            <a:r>
              <a:rPr lang="ko-KR" altLang="en-US" dirty="0" err="1"/>
              <a:t>평점순</a:t>
            </a:r>
            <a:r>
              <a:rPr lang="ko-KR" altLang="en-US" dirty="0"/>
              <a:t> 정렬할 수 있으며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 err="1"/>
              <a:t>별점</a:t>
            </a:r>
            <a:r>
              <a:rPr lang="en-US" altLang="ko-KR" dirty="0"/>
              <a:t>,</a:t>
            </a:r>
            <a:r>
              <a:rPr lang="ko-KR" altLang="en-US" dirty="0"/>
              <a:t>리뷰는 </a:t>
            </a:r>
            <a:r>
              <a:rPr lang="ko-KR" altLang="en-US" dirty="0" err="1"/>
              <a:t>크롤링을</a:t>
            </a:r>
            <a:r>
              <a:rPr lang="ko-KR" altLang="en-US" dirty="0"/>
              <a:t> 통해 제공됩니다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상세보기</a:t>
            </a:r>
            <a:r>
              <a:rPr lang="en-US" altLang="ko-KR" dirty="0"/>
              <a:t>(</a:t>
            </a:r>
            <a:r>
              <a:rPr lang="ko-KR" altLang="en-US" dirty="0"/>
              <a:t>음식점 페이지 링크</a:t>
            </a:r>
            <a:r>
              <a:rPr lang="en-US" altLang="ko-KR" dirty="0"/>
              <a:t>)</a:t>
            </a:r>
            <a:r>
              <a:rPr lang="ko-KR" altLang="en-US" dirty="0"/>
              <a:t>와</a:t>
            </a:r>
            <a:r>
              <a:rPr lang="en-US" altLang="ko-KR" dirty="0"/>
              <a:t>  </a:t>
            </a:r>
            <a:r>
              <a:rPr lang="ko-KR" altLang="en-US" dirty="0"/>
              <a:t>길 찾기</a:t>
            </a:r>
            <a:r>
              <a:rPr lang="en-US" altLang="ko-KR" dirty="0"/>
              <a:t>(</a:t>
            </a:r>
            <a:r>
              <a:rPr lang="ko-KR" altLang="en-US" dirty="0" err="1"/>
              <a:t>카카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오 맵 링크</a:t>
            </a:r>
            <a:r>
              <a:rPr lang="en-US" altLang="ko-KR" dirty="0"/>
              <a:t>)</a:t>
            </a:r>
            <a:r>
              <a:rPr lang="ko-KR" altLang="en-US" dirty="0"/>
              <a:t> 기능을 함께 구현하였습니다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</a:t>
            </a:r>
            <a:r>
              <a:rPr lang="ko-KR" altLang="en-US" b="1" dirty="0"/>
              <a:t>문제점</a:t>
            </a:r>
            <a:endParaRPr lang="en-US" altLang="ko-KR" b="1" dirty="0"/>
          </a:p>
          <a:p>
            <a:r>
              <a:rPr lang="ko-KR" altLang="en-US" dirty="0"/>
              <a:t>   카카오 </a:t>
            </a:r>
            <a:r>
              <a:rPr lang="en-US" altLang="ko-KR" dirty="0"/>
              <a:t>API</a:t>
            </a:r>
            <a:r>
              <a:rPr lang="ko-KR" altLang="en-US" dirty="0"/>
              <a:t>를 이용해 음식점 리스트를 </a:t>
            </a:r>
            <a:r>
              <a:rPr lang="ko-KR" altLang="en-US" dirty="0" err="1"/>
              <a:t>불러오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는 과정에서 처리 시간이 오래 걸리는 단점이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발견되었습니다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80B7E7-88B7-49EF-9155-32DC8B104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356" y="2110663"/>
            <a:ext cx="6372708" cy="46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70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개선 방안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A9415D-F82F-4183-9497-9C4A7FFC3077}"/>
              </a:ext>
            </a:extLst>
          </p:cNvPr>
          <p:cNvSpPr txBox="1"/>
          <p:nvPr/>
        </p:nvSpPr>
        <p:spPr>
          <a:xfrm>
            <a:off x="6276123" y="2150430"/>
            <a:ext cx="59158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개선 방안 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b="1" dirty="0"/>
              <a:t>1.</a:t>
            </a:r>
            <a:r>
              <a:rPr lang="ko-KR" altLang="en-US" b="1" dirty="0"/>
              <a:t>위치 정보 입력 기능</a:t>
            </a:r>
            <a:endParaRPr lang="en-US" altLang="ko-KR" b="1" dirty="0"/>
          </a:p>
          <a:p>
            <a:r>
              <a:rPr lang="ko-KR" altLang="en-US" dirty="0"/>
              <a:t>   키워드 입력 기능 </a:t>
            </a:r>
            <a:r>
              <a:rPr lang="en-US" altLang="ko-KR" dirty="0"/>
              <a:t>/ </a:t>
            </a:r>
            <a:r>
              <a:rPr lang="ko-KR" altLang="en-US" dirty="0"/>
              <a:t>사용자가 위치정보를 입력 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받아 위치를 설정할 수 있도록 기능을 추가 하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였습니다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</a:t>
            </a:r>
            <a:r>
              <a:rPr lang="ko-KR" altLang="en-US" b="1" dirty="0"/>
              <a:t>마커 이동 기능</a:t>
            </a:r>
            <a:endParaRPr lang="en-US" altLang="ko-KR" b="1" dirty="0"/>
          </a:p>
          <a:p>
            <a:r>
              <a:rPr lang="ko-KR" altLang="en-US" dirty="0"/>
              <a:t>  지도 위의 마커를 사용자가 직접 이동시켜 보다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정밀한 위치 설정이 가능하도록 개선 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</a:t>
            </a:r>
            <a:r>
              <a:rPr lang="ko-KR" altLang="en-US" b="1" dirty="0"/>
              <a:t>음식점 리스트 </a:t>
            </a:r>
            <a:r>
              <a:rPr lang="ko-KR" altLang="en-US" b="1" dirty="0" err="1"/>
              <a:t>캐싱</a:t>
            </a:r>
            <a:endParaRPr lang="en-US" altLang="ko-KR" b="1" dirty="0"/>
          </a:p>
          <a:p>
            <a:r>
              <a:rPr lang="en-US" altLang="ko-KR" dirty="0"/>
              <a:t>   Local storage</a:t>
            </a:r>
            <a:r>
              <a:rPr lang="ko-KR" altLang="en-US" dirty="0"/>
              <a:t>를 활용하여 음식점 데이터를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브라우저에 저장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 err="1"/>
              <a:t>재요청</a:t>
            </a:r>
            <a:r>
              <a:rPr lang="ko-KR" altLang="en-US" dirty="0"/>
              <a:t> 시 더 빠르게 불러올 수 있도록 처리 속도를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개선하였습니다</a:t>
            </a:r>
            <a:r>
              <a:rPr lang="en-US" altLang="ko-KR" dirty="0"/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A6312CE-EC74-46FE-9553-B493DD01CA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03" y="2069282"/>
            <a:ext cx="5472126" cy="23255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A9E8D70-37CC-4EA8-973A-D23B3DC163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102" y="4394816"/>
            <a:ext cx="5472126" cy="21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5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결과물에 대한 프로젝트 기획 의도와의 부합 정도 및 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훈련생의 자체적인 평가 의견과 느낀 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900049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사전에 기획한 결과물 보다 아쉬운 점이 많음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7/10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4935181"/>
              <a:ext cx="4622911" cy="1075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브라우저 캐시가 아닌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DB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사용해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편의성 증대 및 유지보수 향상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위치정보 정확도 개선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675245" y="4751255"/>
              <a:ext cx="4622911" cy="14080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</a:t>
              </a:r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전처리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과정을 통해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실제 데이터를 다루는 경험을 쌓았습니다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조건별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음식 추천 기준을 설계하면서</a:t>
              </a: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전반적인 서비스의 흐름을 이해할 수 있었습니다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409940" y="2408110"/>
            <a:ext cx="5401724" cy="1748490"/>
            <a:chOff x="6409940" y="2408110"/>
            <a:chExt cx="5401724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447723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409940" y="2537672"/>
              <a:ext cx="5363941" cy="16158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배달 데이터만을 사용해서  모델 평가 결과의 정확도가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20%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넘어가지 않았습니다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수집에 어려움이 있어 정확도 향상을 위해 여러 데이터 수집 후 개선이 필요했지만 다양한 방법으로 좀 더 나은 결과물을 도출했습니다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1174</Words>
  <Application>Microsoft Office PowerPoint</Application>
  <PresentationFormat>와이드스크린</PresentationFormat>
  <Paragraphs>261</Paragraphs>
  <Slides>17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154</cp:revision>
  <dcterms:created xsi:type="dcterms:W3CDTF">2023-12-20T03:00:25Z</dcterms:created>
  <dcterms:modified xsi:type="dcterms:W3CDTF">2025-06-27T02:47:22Z</dcterms:modified>
</cp:coreProperties>
</file>