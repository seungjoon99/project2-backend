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294" r:id="rId4"/>
    <p:sldId id="333" r:id="rId5"/>
    <p:sldId id="295" r:id="rId6"/>
    <p:sldId id="336" r:id="rId7"/>
    <p:sldId id="338" r:id="rId8"/>
    <p:sldId id="340" r:id="rId9"/>
    <p:sldId id="341" r:id="rId10"/>
    <p:sldId id="342" r:id="rId11"/>
    <p:sldId id="343" r:id="rId12"/>
    <p:sldId id="339" r:id="rId13"/>
    <p:sldId id="334" r:id="rId14"/>
    <p:sldId id="335" r:id="rId15"/>
    <p:sldId id="303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 autoAdjust="0"/>
    <p:restoredTop sz="96344" autoAdjust="0"/>
  </p:normalViewPr>
  <p:slideViewPr>
    <p:cSldViewPr showGuides="1">
      <p:cViewPr varScale="1">
        <p:scale>
          <a:sx n="114" d="100"/>
          <a:sy n="114" d="100"/>
        </p:scale>
        <p:origin x="534" y="96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2.svg"/><Relationship Id="rId21" Type="http://schemas.openxmlformats.org/officeDocument/2006/relationships/image" Target="../media/image35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5" Type="http://schemas.openxmlformats.org/officeDocument/2006/relationships/image" Target="../media/image39.sv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24" Type="http://schemas.openxmlformats.org/officeDocument/2006/relationships/image" Target="../media/image38.pn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23" Type="http://schemas.openxmlformats.org/officeDocument/2006/relationships/image" Target="../media/image37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1.png"/><Relationship Id="rId18" Type="http://schemas.openxmlformats.org/officeDocument/2006/relationships/image" Target="../media/image54.svg"/><Relationship Id="rId3" Type="http://schemas.openxmlformats.org/officeDocument/2006/relationships/image" Target="../media/image41.png"/><Relationship Id="rId21" Type="http://schemas.openxmlformats.org/officeDocument/2006/relationships/image" Target="../media/image7.sv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17" Type="http://schemas.openxmlformats.org/officeDocument/2006/relationships/image" Target="../media/image53.png"/><Relationship Id="rId2" Type="http://schemas.openxmlformats.org/officeDocument/2006/relationships/image" Target="../media/image40.png"/><Relationship Id="rId16" Type="http://schemas.openxmlformats.org/officeDocument/2006/relationships/image" Target="../media/image2.sv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1.png"/><Relationship Id="rId10" Type="http://schemas.openxmlformats.org/officeDocument/2006/relationships/image" Target="../media/image48.svg"/><Relationship Id="rId19" Type="http://schemas.openxmlformats.org/officeDocument/2006/relationships/image" Target="../media/image5.png"/><Relationship Id="rId4" Type="http://schemas.openxmlformats.org/officeDocument/2006/relationships/image" Target="../media/image42.svg"/><Relationship Id="rId9" Type="http://schemas.openxmlformats.org/officeDocument/2006/relationships/image" Target="../media/image47.png"/><Relationship Id="rId14" Type="http://schemas.openxmlformats.org/officeDocument/2006/relationships/image" Target="../media/image5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18" Type="http://schemas.openxmlformats.org/officeDocument/2006/relationships/image" Target="../media/image68.svg"/><Relationship Id="rId26" Type="http://schemas.openxmlformats.org/officeDocument/2006/relationships/image" Target="../media/image71.png"/><Relationship Id="rId3" Type="http://schemas.openxmlformats.org/officeDocument/2006/relationships/image" Target="../media/image56.svg"/><Relationship Id="rId21" Type="http://schemas.openxmlformats.org/officeDocument/2006/relationships/image" Target="../media/image7.sv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17" Type="http://schemas.openxmlformats.org/officeDocument/2006/relationships/image" Target="../media/image67.png"/><Relationship Id="rId25" Type="http://schemas.openxmlformats.org/officeDocument/2006/relationships/image" Target="../media/image70.svg"/><Relationship Id="rId2" Type="http://schemas.openxmlformats.org/officeDocument/2006/relationships/image" Target="../media/image55.png"/><Relationship Id="rId16" Type="http://schemas.openxmlformats.org/officeDocument/2006/relationships/image" Target="../media/image66.svg"/><Relationship Id="rId20" Type="http://schemas.openxmlformats.org/officeDocument/2006/relationships/image" Target="../media/image6.png"/><Relationship Id="rId29" Type="http://schemas.openxmlformats.org/officeDocument/2006/relationships/image" Target="../media/image7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11" Type="http://schemas.openxmlformats.org/officeDocument/2006/relationships/image" Target="../media/image61.png"/><Relationship Id="rId24" Type="http://schemas.openxmlformats.org/officeDocument/2006/relationships/image" Target="../media/image69.png"/><Relationship Id="rId5" Type="http://schemas.openxmlformats.org/officeDocument/2006/relationships/image" Target="../media/image41.png"/><Relationship Id="rId15" Type="http://schemas.openxmlformats.org/officeDocument/2006/relationships/image" Target="../media/image65.png"/><Relationship Id="rId23" Type="http://schemas.openxmlformats.org/officeDocument/2006/relationships/image" Target="../media/image44.svg"/><Relationship Id="rId28" Type="http://schemas.openxmlformats.org/officeDocument/2006/relationships/image" Target="../media/image73.png"/><Relationship Id="rId10" Type="http://schemas.openxmlformats.org/officeDocument/2006/relationships/image" Target="../media/image60.svg"/><Relationship Id="rId19" Type="http://schemas.openxmlformats.org/officeDocument/2006/relationships/image" Target="../media/image5.png"/><Relationship Id="rId31" Type="http://schemas.openxmlformats.org/officeDocument/2006/relationships/image" Target="../media/image76.svg"/><Relationship Id="rId4" Type="http://schemas.openxmlformats.org/officeDocument/2006/relationships/image" Target="../media/image40.png"/><Relationship Id="rId9" Type="http://schemas.openxmlformats.org/officeDocument/2006/relationships/image" Target="../media/image59.png"/><Relationship Id="rId14" Type="http://schemas.openxmlformats.org/officeDocument/2006/relationships/image" Target="../media/image64.svg"/><Relationship Id="rId22" Type="http://schemas.openxmlformats.org/officeDocument/2006/relationships/image" Target="../media/image43.png"/><Relationship Id="rId27" Type="http://schemas.openxmlformats.org/officeDocument/2006/relationships/image" Target="../media/image72.svg"/><Relationship Id="rId30" Type="http://schemas.openxmlformats.org/officeDocument/2006/relationships/image" Target="../media/image7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81.svg"/><Relationship Id="rId3" Type="http://schemas.openxmlformats.org/officeDocument/2006/relationships/image" Target="../media/image56.svg"/><Relationship Id="rId7" Type="http://schemas.openxmlformats.org/officeDocument/2006/relationships/image" Target="../media/image79.svg"/><Relationship Id="rId12" Type="http://schemas.openxmlformats.org/officeDocument/2006/relationships/image" Target="../media/image80.png"/><Relationship Id="rId17" Type="http://schemas.openxmlformats.org/officeDocument/2006/relationships/image" Target="../media/image85.svg"/><Relationship Id="rId2" Type="http://schemas.openxmlformats.org/officeDocument/2006/relationships/image" Target="../media/image55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11" Type="http://schemas.openxmlformats.org/officeDocument/2006/relationships/image" Target="../media/image7.svg"/><Relationship Id="rId5" Type="http://schemas.openxmlformats.org/officeDocument/2006/relationships/image" Target="../media/image78.svg"/><Relationship Id="rId15" Type="http://schemas.openxmlformats.org/officeDocument/2006/relationships/image" Target="../media/image83.svg"/><Relationship Id="rId10" Type="http://schemas.openxmlformats.org/officeDocument/2006/relationships/image" Target="../media/image6.png"/><Relationship Id="rId4" Type="http://schemas.openxmlformats.org/officeDocument/2006/relationships/image" Target="../media/image77.png"/><Relationship Id="rId9" Type="http://schemas.openxmlformats.org/officeDocument/2006/relationships/image" Target="../media/image5.png"/><Relationship Id="rId14" Type="http://schemas.openxmlformats.org/officeDocument/2006/relationships/image" Target="../media/image8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87.svg"/><Relationship Id="rId10" Type="http://schemas.openxmlformats.org/officeDocument/2006/relationships/image" Target="../media/image6.png"/><Relationship Id="rId4" Type="http://schemas.openxmlformats.org/officeDocument/2006/relationships/image" Target="../media/image86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87.svg"/><Relationship Id="rId10" Type="http://schemas.openxmlformats.org/officeDocument/2006/relationships/image" Target="../media/image6.png"/><Relationship Id="rId4" Type="http://schemas.openxmlformats.org/officeDocument/2006/relationships/image" Target="../media/image86.pn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87.svg"/><Relationship Id="rId10" Type="http://schemas.openxmlformats.org/officeDocument/2006/relationships/image" Target="../media/image6.png"/><Relationship Id="rId4" Type="http://schemas.openxmlformats.org/officeDocument/2006/relationships/image" Target="../media/image86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87.svg"/><Relationship Id="rId10" Type="http://schemas.openxmlformats.org/officeDocument/2006/relationships/image" Target="../media/image6.png"/><Relationship Id="rId4" Type="http://schemas.openxmlformats.org/officeDocument/2006/relationships/image" Target="../media/image86.pn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87.svg"/><Relationship Id="rId10" Type="http://schemas.openxmlformats.org/officeDocument/2006/relationships/image" Target="../media/image6.png"/><Relationship Id="rId4" Type="http://schemas.openxmlformats.org/officeDocument/2006/relationships/image" Target="../media/image86.png"/><Relationship Id="rId9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13" Type="http://schemas.openxmlformats.org/officeDocument/2006/relationships/image" Target="../media/image36.png"/><Relationship Id="rId18" Type="http://schemas.openxmlformats.org/officeDocument/2006/relationships/image" Target="../media/image6.pn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12" Type="http://schemas.openxmlformats.org/officeDocument/2006/relationships/image" Target="../media/image93.svg"/><Relationship Id="rId17" Type="http://schemas.openxmlformats.org/officeDocument/2006/relationships/image" Target="../media/image5.png"/><Relationship Id="rId2" Type="http://schemas.openxmlformats.org/officeDocument/2006/relationships/image" Target="../media/image55.png"/><Relationship Id="rId16" Type="http://schemas.openxmlformats.org/officeDocument/2006/relationships/image" Target="../media/image9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92.png"/><Relationship Id="rId5" Type="http://schemas.openxmlformats.org/officeDocument/2006/relationships/image" Target="../media/image87.svg"/><Relationship Id="rId15" Type="http://schemas.openxmlformats.org/officeDocument/2006/relationships/image" Target="../media/image94.png"/><Relationship Id="rId10" Type="http://schemas.openxmlformats.org/officeDocument/2006/relationships/image" Target="../media/image91.svg"/><Relationship Id="rId19" Type="http://schemas.openxmlformats.org/officeDocument/2006/relationships/image" Target="../media/image7.svg"/><Relationship Id="rId4" Type="http://schemas.openxmlformats.org/officeDocument/2006/relationships/image" Target="../media/image86.png"/><Relationship Id="rId9" Type="http://schemas.openxmlformats.org/officeDocument/2006/relationships/image" Target="../media/image90.png"/><Relationship Id="rId14" Type="http://schemas.openxmlformats.org/officeDocument/2006/relationships/image" Target="../media/image3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7" Type="http://schemas.openxmlformats.org/officeDocument/2006/relationships/image" Target="../media/image7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7.svg"/><Relationship Id="rId3" Type="http://schemas.openxmlformats.org/officeDocument/2006/relationships/image" Target="../media/image56.svg"/><Relationship Id="rId7" Type="http://schemas.openxmlformats.org/officeDocument/2006/relationships/image" Target="../media/image99.svg"/><Relationship Id="rId12" Type="http://schemas.openxmlformats.org/officeDocument/2006/relationships/image" Target="../media/image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png"/><Relationship Id="rId11" Type="http://schemas.openxmlformats.org/officeDocument/2006/relationships/image" Target="../media/image5.png"/><Relationship Id="rId5" Type="http://schemas.openxmlformats.org/officeDocument/2006/relationships/image" Target="../media/image97.svg"/><Relationship Id="rId10" Type="http://schemas.openxmlformats.org/officeDocument/2006/relationships/image" Target="../media/image101.svg"/><Relationship Id="rId4" Type="http://schemas.openxmlformats.org/officeDocument/2006/relationships/image" Target="../media/image96.png"/><Relationship Id="rId9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47213" y="1370504"/>
            <a:ext cx="5158567" cy="2655225"/>
            <a:chOff x="6747213" y="1370504"/>
            <a:chExt cx="5158567" cy="265522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9" y="1370504"/>
              <a:ext cx="2629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5158567" cy="2215991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EZEN </a:t>
              </a:r>
              <a:r>
                <a:rPr lang="ko-KR" altLang="en-US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뭐 먹지</a:t>
              </a:r>
              <a:b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날씨정보와 위치 정보를 활용한 음식점 추천 지능형 웹사이트</a:t>
              </a: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325" y="2615573"/>
            <a:ext cx="3935463" cy="4308106"/>
            <a:chOff x="1277325" y="2007854"/>
            <a:chExt cx="4490615" cy="4915825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399437" y="2007854"/>
              <a:ext cx="869869" cy="1517209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694275" y="2486388"/>
              <a:ext cx="409589" cy="11736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869326" y="2654289"/>
              <a:ext cx="346934" cy="509420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930252" y="2911762"/>
              <a:ext cx="227778" cy="106897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751239" y="2385236"/>
              <a:ext cx="130142" cy="200121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935483" y="2779644"/>
              <a:ext cx="332646" cy="131363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761149" y="2243807"/>
              <a:ext cx="964871" cy="1405376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5117025" y="2668734"/>
              <a:ext cx="297244" cy="452344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256178" y="3096686"/>
              <a:ext cx="1954614" cy="2421561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853820" y="2140666"/>
              <a:ext cx="1165484" cy="109106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256200" y="2450049"/>
              <a:ext cx="878287" cy="1024997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826690" y="2545507"/>
              <a:ext cx="192761" cy="10141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3069324" y="2705091"/>
              <a:ext cx="71309" cy="205147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391100" y="2698372"/>
              <a:ext cx="252379" cy="237052"/>
              <a:chOff x="2391100" y="2698372"/>
              <a:chExt cx="252379" cy="237052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391100" y="2698372"/>
                <a:ext cx="252379" cy="237052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426626" y="2720269"/>
                <a:ext cx="155504" cy="73160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757573" y="3251676"/>
              <a:ext cx="149229" cy="59314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961364" y="2868949"/>
              <a:ext cx="150128" cy="129424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325" y="3260996"/>
              <a:ext cx="4490615" cy="3662683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892804" y="3484975"/>
              <a:ext cx="1487705" cy="96048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4328758" y="4393594"/>
              <a:ext cx="206298" cy="78503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3151249" y="4916128"/>
              <a:ext cx="845506" cy="684799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765605" y="2745874"/>
              <a:ext cx="173751" cy="173751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742589" y="2179680"/>
              <a:ext cx="540646" cy="540646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111150" y="3334883"/>
              <a:ext cx="1007652" cy="225577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5091293" y="2675423"/>
              <a:ext cx="303279" cy="424648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5179146" y="2869048"/>
              <a:ext cx="102912" cy="111752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965477" y="3339616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5467837" y="3475970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938797" y="2667673"/>
              <a:ext cx="51444" cy="67526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78314" y="4077072"/>
            <a:ext cx="5222342" cy="1102233"/>
            <a:chOff x="6768048" y="3882051"/>
            <a:chExt cx="5222342" cy="1102233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D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최연흠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이승준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유재욱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495436"/>
            <a:ext cx="16453108" cy="9254873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6598" y="5136731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1818"/>
          <a:stretch/>
        </p:blipFill>
        <p:spPr>
          <a:xfrm>
            <a:off x="45945" y="3370103"/>
            <a:ext cx="3592516" cy="344619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66930" cy="1224702"/>
            <a:chOff x="870882" y="519237"/>
            <a:chExt cx="2266930" cy="122470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600" y="912942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1880644"/>
            <a:ext cx="5255150" cy="789154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22806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 및 목표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8" y="2679950"/>
            <a:ext cx="4701761" cy="789154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22806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핵심기능 및 서비스 흐름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479256"/>
            <a:ext cx="4948861" cy="789154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22806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처리 과정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278562"/>
            <a:ext cx="3850335" cy="789154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7CED560-FCDB-4FB0-90A8-38C3DCBEFF88}"/>
              </a:ext>
            </a:extLst>
          </p:cNvPr>
          <p:cNvGrpSpPr/>
          <p:nvPr/>
        </p:nvGrpSpPr>
        <p:grpSpPr>
          <a:xfrm>
            <a:off x="6242109" y="5010475"/>
            <a:ext cx="3850335" cy="584775"/>
            <a:chOff x="6242109" y="4773997"/>
            <a:chExt cx="3256573" cy="43332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48FA5D6-9098-4628-A9CB-A1FD379FC72D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22806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향후 계획 및 기대효과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CF66D59-02DB-46C2-87FF-5034C24A918A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4333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692662" y="3060042"/>
              <a:ext cx="1740575" cy="10572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주제 및 선정 배경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834533" y="4461578"/>
              <a:ext cx="2058988" cy="10907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/>
                <a:t>지도 표시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위치 정보 획득</a:t>
              </a:r>
              <a:r>
                <a:rPr lang="en-US" altLang="ko-KR" sz="1200" dirty="0"/>
                <a:t>,</a:t>
              </a:r>
              <a:r>
                <a:rPr lang="ko-KR" altLang="en-US" sz="1200" dirty="0"/>
                <a:t>날씨 조회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추천제공을 통해 </a:t>
              </a:r>
              <a:endParaRPr lang="en-US" altLang="ko-KR" sz="1200" dirty="0"/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/>
                <a:t>사용자에게 날씨에 맞는</a:t>
              </a:r>
              <a:endParaRPr lang="en-US" altLang="ko-KR" sz="1200" dirty="0"/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/>
                <a:t>음식점을 추천하고 </a:t>
              </a:r>
              <a:endParaRPr lang="en-US" altLang="ko-KR" sz="1200" dirty="0"/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/>
                <a:t>히스토리를 수집한다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4941296" y="2373418"/>
            <a:ext cx="2361961" cy="3803725"/>
            <a:chOff x="4951194" y="2373418"/>
            <a:chExt cx="2361961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활용 장비 및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재료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4951194" y="4453027"/>
              <a:ext cx="2361961" cy="1497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HTML, CSS, JS, Python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VScode, Spyder, MySQL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Flask, GitHub</a:t>
              </a:r>
            </a:p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기상청 기상관측 자료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공공데이터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_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소상공인 상권정보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네이버 플레이스 리뷰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활용방안 및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8876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사용자의 위치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검색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선택 등의 데이터를 수집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분석하여 연계 서비스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광고 추천 패턴 등 활용가능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ECFF9AA-B8BE-40FD-9C3B-6DBCEEE69F9E}"/>
              </a:ext>
            </a:extLst>
          </p:cNvPr>
          <p:cNvSpPr txBox="1"/>
          <p:nvPr/>
        </p:nvSpPr>
        <p:spPr>
          <a:xfrm>
            <a:off x="543956" y="4445342"/>
            <a:ext cx="2036399" cy="88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날씨정보를 활용해 사용자 위치 주변의 적합한 음식점을 추천하여 사용자의 선택 부담을 낮춘다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81D922-48EB-4362-BBD3-39CA7DDE51E7}"/>
              </a:ext>
            </a:extLst>
          </p:cNvPr>
          <p:cNvSpPr txBox="1"/>
          <p:nvPr/>
        </p:nvSpPr>
        <p:spPr>
          <a:xfrm>
            <a:off x="7339078" y="4453027"/>
            <a:ext cx="2122307" cy="129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프론트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: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지도표시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위치요청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백엔드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: API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처리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추천엔진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API: Geolocation,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단기예보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카카오 맵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endParaRPr lang="ko-KR" altLang="en-US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DB: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음식점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카테고리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사용자 선택 히스토리 등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734F482-8D9D-4730-AC07-2A52F78763B7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26143AA-EC37-486B-9653-36B79C491362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1-1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개요 및 목표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4" name="그래픽 43">
              <a:extLst>
                <a:ext uri="{FF2B5EF4-FFF2-40B4-BE49-F238E27FC236}">
                  <a16:creationId xmlns:a16="http://schemas.microsoft.com/office/drawing/2014/main" id="{61F120D7-0567-4C32-963B-AAE1B9E62D91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1-2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팀 구성 및 역할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42745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</a:t>
              </a: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442538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6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최연흠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이승준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팀원</a:t>
                      </a: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유재욱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㈜</a:t>
                      </a:r>
                      <a:r>
                        <a:rPr kumimoji="0" lang="ko-KR" altLang="en-US" sz="16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라스테크</a:t>
                      </a:r>
                      <a:endParaRPr kumimoji="0" lang="en-US" altLang="ko-KR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정상윤 멘토님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전체 시스템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0" y="3519045"/>
              <a:ext cx="20307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정제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49268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97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수집모델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텍스트 마이닝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549777"/>
            <a:chOff x="7579407" y="4251550"/>
            <a:chExt cx="2713128" cy="549777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215881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모델링 및 시각화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>
                <a:defRPr/>
              </a:pP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주제 선정 피드백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 질의응답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r="4407" b="11555"/>
          <a:stretch/>
        </p:blipFill>
        <p:spPr>
          <a:xfrm>
            <a:off x="10092346" y="4828596"/>
            <a:ext cx="2099654" cy="1557498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  <p:pic>
        <p:nvPicPr>
          <p:cNvPr id="61" name="그래픽 60">
            <a:extLst>
              <a:ext uri="{FF2B5EF4-FFF2-40B4-BE49-F238E27FC236}">
                <a16:creationId xmlns:a16="http://schemas.microsoft.com/office/drawing/2014/main" id="{4EB77A4B-E7E1-474B-8FF5-C41DEF5A85E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659728" y="3568254"/>
            <a:ext cx="219805" cy="201488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09BE1932-099D-4176-9300-0E97308EA0A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628594" y="5128843"/>
            <a:ext cx="191121" cy="203862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1CB5B38-DB96-42E2-971D-60491C042C86}"/>
              </a:ext>
            </a:extLst>
          </p:cNvPr>
          <p:cNvSpPr txBox="1"/>
          <p:nvPr/>
        </p:nvSpPr>
        <p:spPr>
          <a:xfrm>
            <a:off x="5008404" y="4284633"/>
            <a:ext cx="2167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웹사이트 디자인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(HTML)</a:t>
            </a:r>
          </a:p>
        </p:txBody>
      </p: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수행 절차 및 방법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347364"/>
              </p:ext>
            </p:extLst>
          </p:nvPr>
        </p:nvGraphicFramePr>
        <p:xfrm>
          <a:off x="524528" y="2063524"/>
          <a:ext cx="11218265" cy="4398498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4638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64084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사전 기획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11/24(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11/26(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64084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11/27(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목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64084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11/28(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12/3(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목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업체 자문</a:t>
                      </a: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6408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모델링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12/4(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12/10(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6408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12/(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최적화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304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11/24(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12/19(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4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주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4800"/>
          <a:stretch/>
        </p:blipFill>
        <p:spPr>
          <a:xfrm rot="16200000">
            <a:off x="11244020" y="5770887"/>
            <a:ext cx="935617" cy="960347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2702337"/>
            <a:ext cx="2456768" cy="326913"/>
            <a:chOff x="4574111" y="3307757"/>
            <a:chExt cx="2456768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56768" cy="326913"/>
              <a:chOff x="4665551" y="3307757"/>
              <a:chExt cx="2456768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프로젝트 기획 및 주제 선정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287484" y="2693809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2714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기획안 작성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7870" y="3950881"/>
            <a:ext cx="2474845" cy="326913"/>
            <a:chOff x="4574111" y="3841157"/>
            <a:chExt cx="2474845" cy="326913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326913"/>
              <a:chOff x="4665551" y="3307757"/>
              <a:chExt cx="2474845" cy="326913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spc="-3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데이터 및 수집 절차 정의</a:t>
                </a:r>
                <a:endParaRPr lang="en-US" altLang="ko-KR" sz="1200" spc="-3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6519876" y="4490032"/>
            <a:ext cx="2109669" cy="326915"/>
            <a:chOff x="7383737" y="3841157"/>
            <a:chExt cx="2109669" cy="326915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7" y="3841157"/>
              <a:ext cx="2109669" cy="326915"/>
              <a:chOff x="4665551" y="3307757"/>
              <a:chExt cx="2109669" cy="326915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109669" cy="326915"/>
                <a:chOff x="4665552" y="3307755"/>
                <a:chExt cx="2258302" cy="358637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25830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3" y="3307755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73414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데이터 정제 및 분석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7214820" y="3961547"/>
            <a:ext cx="2324617" cy="494096"/>
            <a:chOff x="4574111" y="4369794"/>
            <a:chExt cx="2324617" cy="494096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324617" cy="494096"/>
              <a:chOff x="4665551" y="3307757"/>
              <a:chExt cx="2324617" cy="494096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898027" cy="326913"/>
                <a:chOff x="4665552" y="3307757"/>
                <a:chExt cx="2031749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031749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데이터 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  <a:p>
                <a:pPr>
                  <a:defRPr/>
                </a:pP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595176"/>
            <a:ext cx="2324617" cy="326913"/>
            <a:chOff x="4574111" y="4896844"/>
            <a:chExt cx="2324617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324617" cy="326913"/>
              <a:chOff x="4665551" y="3307757"/>
              <a:chExt cx="2324617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341869" cy="326913"/>
                <a:chOff x="4665552" y="3307757"/>
                <a:chExt cx="1436408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436408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모델 구현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추천 엔진 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845987" cy="326914"/>
            <a:chOff x="7383738" y="5427069"/>
            <a:chExt cx="1845987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845987" cy="326914"/>
              <a:chOff x="4665552" y="3307757"/>
              <a:chExt cx="1845987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4928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endParaRPr lang="en-US" altLang="ko-KR" sz="1200" spc="-4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05E0AFF-FD55-4F2F-B8EF-6A49EF49427D}"/>
              </a:ext>
            </a:extLst>
          </p:cNvPr>
          <p:cNvGrpSpPr/>
          <p:nvPr/>
        </p:nvGrpSpPr>
        <p:grpSpPr>
          <a:xfrm>
            <a:off x="4571297" y="3314875"/>
            <a:ext cx="1813239" cy="326913"/>
            <a:chOff x="7383738" y="3841157"/>
            <a:chExt cx="1813239" cy="326913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5B729665-2402-4976-908F-269A87997924}"/>
                </a:ext>
              </a:extLst>
            </p:cNvPr>
            <p:cNvGrpSpPr/>
            <p:nvPr/>
          </p:nvGrpSpPr>
          <p:grpSpPr>
            <a:xfrm>
              <a:off x="7383738" y="3841157"/>
              <a:ext cx="1813239" cy="326913"/>
              <a:chOff x="4665552" y="3307757"/>
              <a:chExt cx="1813239" cy="326913"/>
            </a:xfrm>
          </p:grpSpPr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8F7794D7-16E0-4FB8-96C0-DFAB03B48202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96" name="사각형: 둥근 모서리 95">
                  <a:extLst>
                    <a:ext uri="{FF2B5EF4-FFF2-40B4-BE49-F238E27FC236}">
                      <a16:creationId xmlns:a16="http://schemas.microsoft.com/office/drawing/2014/main" id="{7032A4F5-826C-4ADF-82EE-C4C1DF0CB3F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55D785AA-3773-46E7-A45E-9A9D920C6DDF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33E5B4C-7529-48FD-9B34-C90ECBFBBAAA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4601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웹 디자인</a:t>
                </a:r>
                <a:r>
                  <a:rPr lang="en-US" altLang="ko-KR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(HTML)</a:t>
                </a:r>
              </a:p>
            </p:txBody>
          </p:sp>
        </p:grpSp>
        <p:pic>
          <p:nvPicPr>
            <p:cNvPr id="93" name="그래픽 92">
              <a:extLst>
                <a:ext uri="{FF2B5EF4-FFF2-40B4-BE49-F238E27FC236}">
                  <a16:creationId xmlns:a16="http://schemas.microsoft.com/office/drawing/2014/main" id="{7DD34DD0-8F4B-43C6-A8E6-3CCA5A7BD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07A4C581-97FC-4661-917D-4B41E0C0D2D8}"/>
              </a:ext>
            </a:extLst>
          </p:cNvPr>
          <p:cNvGrpSpPr/>
          <p:nvPr/>
        </p:nvGrpSpPr>
        <p:grpSpPr>
          <a:xfrm>
            <a:off x="6399450" y="4893384"/>
            <a:ext cx="2474845" cy="326913"/>
            <a:chOff x="4574111" y="5427069"/>
            <a:chExt cx="2474845" cy="326913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8D7BC3F7-8949-450F-92C5-74477AC8BD62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1B54FEE5-856A-407F-B809-C865AC19674C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112" name="사각형: 둥근 모서리 111">
                  <a:extLst>
                    <a:ext uri="{FF2B5EF4-FFF2-40B4-BE49-F238E27FC236}">
                      <a16:creationId xmlns:a16="http://schemas.microsoft.com/office/drawing/2014/main" id="{497DC5DF-575A-4070-848A-1E505EE5CB6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13" name="타원 112">
                  <a:extLst>
                    <a:ext uri="{FF2B5EF4-FFF2-40B4-BE49-F238E27FC236}">
                      <a16:creationId xmlns:a16="http://schemas.microsoft.com/office/drawing/2014/main" id="{CB2965A9-953F-4CB4-9BCE-EA92F1C099E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7AF011B-291E-4233-88F2-55ADADF57A5A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 서버 구축 및 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3" name="그래픽 102">
              <a:extLst>
                <a:ext uri="{FF2B5EF4-FFF2-40B4-BE49-F238E27FC236}">
                  <a16:creationId xmlns:a16="http://schemas.microsoft.com/office/drawing/2014/main" id="{2833B357-07AB-42C8-8744-D3A6CC17F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CD9E89F2-4F68-4AB0-9218-C8C97D57C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875A498E-9C30-4671-B11F-3B155E32CF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7CEA8883-0F4B-4DB0-971A-94C46EEC90A8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BEE6327-B0AC-4D03-A193-7743604709E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CF0A513-9B14-497F-BC03-3210C5A2B34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0990B0-257D-4C18-9F11-EA1017E05205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733FF1-2B3D-42ED-8414-C6582C2949E1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A0325066-996C-4E95-9410-7CF4C96E5C2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E5C09441-2A3E-4906-8BF0-E159DB95AF53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DEF61B-33A0-4FBC-B080-8A93B9656EA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8E093890-2EE3-4E78-BDBB-33A84EBE7473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46E9BBC-4C40-4632-A4FE-686FF7EB6F76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82664-69B5-427E-BA23-8C3524BA2CC7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8906047-2341-4DF0-A889-BBFDB3E846F1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F78650F1-F874-4A8C-8A3B-CBD9CA525372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F7C46A-41A9-400A-9348-4FF0956A6DBB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1CCE2A8-F46E-453B-8CD4-E4BAC3ECEED5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D4D22397-E541-4ADC-8489-A3EAE7F25516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B6A4D2C-BB03-4943-8E50-803F44FD7393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7CCE2CD3-2334-48D2-995A-80C071F8AE21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0615D-5100-4772-8157-9520B79D4B1A}"/>
              </a:ext>
            </a:extLst>
          </p:cNvPr>
          <p:cNvSpPr txBox="1"/>
          <p:nvPr/>
        </p:nvSpPr>
        <p:spPr>
          <a:xfrm>
            <a:off x="513707" y="2888446"/>
            <a:ext cx="17386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endParaRPr lang="ko-KR" altLang="en-US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B9B0DB5-AA63-4838-951A-95EB53BEB930}"/>
              </a:ext>
            </a:extLst>
          </p:cNvPr>
          <p:cNvGrpSpPr/>
          <p:nvPr/>
        </p:nvGrpSpPr>
        <p:grpSpPr>
          <a:xfrm>
            <a:off x="2638615" y="3661000"/>
            <a:ext cx="9095030" cy="673099"/>
            <a:chOff x="2665127" y="3661000"/>
            <a:chExt cx="9095030" cy="6730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775A5D0-58F7-4800-812F-36CC50101E75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1C45DC4-5BDD-444E-95DE-8BD0163A6869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27" name="육각형 26">
                <a:extLst>
                  <a:ext uri="{FF2B5EF4-FFF2-40B4-BE49-F238E27FC236}">
                    <a16:creationId xmlns:a16="http://schemas.microsoft.com/office/drawing/2014/main" id="{F29CA161-4661-46A6-AC17-91EFBC91BFF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AED09D81-609A-4068-AF6D-10DE809740D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A497D4-9643-4FA1-97C0-55937758E742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158385-BD94-4106-A03A-8FC5F872599B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73EF3B7-00BC-45A7-8D1E-49E43808A490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C7D6FB30-DAE0-4448-82DB-F095305242DF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040851-8072-4546-BA20-A58621A2F09D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34" name="육각형 33">
                <a:extLst>
                  <a:ext uri="{FF2B5EF4-FFF2-40B4-BE49-F238E27FC236}">
                    <a16:creationId xmlns:a16="http://schemas.microsoft.com/office/drawing/2014/main" id="{49759865-28D2-416F-BCE0-234E540E751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2A263BE4-5238-4E9A-98CA-EDBC06668A84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4849B3-076F-40E8-ABE7-ED5EE16BA5A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7892870-016D-4BED-93D4-E6BE403D8ECF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573BD6B-088C-4D75-A94A-E96E5F7DAAAC}"/>
              </a:ext>
            </a:extLst>
          </p:cNvPr>
          <p:cNvGrpSpPr/>
          <p:nvPr/>
        </p:nvGrpSpPr>
        <p:grpSpPr>
          <a:xfrm>
            <a:off x="2638615" y="819535"/>
            <a:ext cx="9095030" cy="2577642"/>
            <a:chOff x="2665127" y="819535"/>
            <a:chExt cx="9095030" cy="2577642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F5D3617C-CDE1-4475-BFA4-81CD6966330C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17C69F9-3903-41FF-935B-BD39ADAC4782}"/>
                </a:ext>
              </a:extLst>
            </p:cNvPr>
            <p:cNvSpPr txBox="1"/>
            <p:nvPr/>
          </p:nvSpPr>
          <p:spPr>
            <a:xfrm>
              <a:off x="3276220" y="2787639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641C435-76F0-4587-849F-64DBFBEA123D}"/>
                </a:ext>
              </a:extLst>
            </p:cNvPr>
            <p:cNvSpPr txBox="1"/>
            <p:nvPr/>
          </p:nvSpPr>
          <p:spPr>
            <a:xfrm>
              <a:off x="4159824" y="3020197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D165DD2-C280-4CAB-9083-DE27C95A8D32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3" name="육각형 42">
                <a:extLst>
                  <a:ext uri="{FF2B5EF4-FFF2-40B4-BE49-F238E27FC236}">
                    <a16:creationId xmlns:a16="http://schemas.microsoft.com/office/drawing/2014/main" id="{4AAF455A-5FDB-4B49-AC8B-69514DE07B9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FB7367E4-7A83-473C-905D-1A9F8B974DB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688622-2D4C-4A21-A069-F769EAA6B6D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2AEBD41A-4551-419D-80EF-BBDA0E6D06F2}"/>
                </a:ext>
              </a:extLst>
            </p:cNvPr>
            <p:cNvSpPr/>
            <p:nvPr/>
          </p:nvSpPr>
          <p:spPr>
            <a:xfrm>
              <a:off x="9981283" y="819535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67AE788-5C53-4F09-8B77-53DB07B4CBDE}"/>
              </a:ext>
            </a:extLst>
          </p:cNvPr>
          <p:cNvGrpSpPr/>
          <p:nvPr/>
        </p:nvGrpSpPr>
        <p:grpSpPr>
          <a:xfrm>
            <a:off x="2638615" y="846667"/>
            <a:ext cx="9095030" cy="5361276"/>
            <a:chOff x="2665127" y="846667"/>
            <a:chExt cx="9095030" cy="5361276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329104FD-80CD-4ED1-871C-8724D4EE98B8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8424D613-5321-4233-845A-DEB6A0964A72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2" name="육각형 51">
                <a:extLst>
                  <a:ext uri="{FF2B5EF4-FFF2-40B4-BE49-F238E27FC236}">
                    <a16:creationId xmlns:a16="http://schemas.microsoft.com/office/drawing/2014/main" id="{B4BBF74B-8704-4C82-9338-0B548B62D3D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3" name="자유형: 도형 52">
                <a:extLst>
                  <a:ext uri="{FF2B5EF4-FFF2-40B4-BE49-F238E27FC236}">
                    <a16:creationId xmlns:a16="http://schemas.microsoft.com/office/drawing/2014/main" id="{C7C3C972-FF43-4006-852F-CA35EBC06B5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5B7C623-5C7E-4B0C-9FAB-99B615DFC72C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491895-4974-4993-B45C-81EA4642AE14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9D0B6BA-1DC8-4D91-A7F8-6499B0C5BCCE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4B0B85E-7F25-4F67-A8AD-17AFA60E0671}"/>
                </a:ext>
              </a:extLst>
            </p:cNvPr>
            <p:cNvSpPr/>
            <p:nvPr/>
          </p:nvSpPr>
          <p:spPr>
            <a:xfrm>
              <a:off x="8735376" y="846667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55" name="그래픽 54">
            <a:extLst>
              <a:ext uri="{FF2B5EF4-FFF2-40B4-BE49-F238E27FC236}">
                <a16:creationId xmlns:a16="http://schemas.microsoft.com/office/drawing/2014/main" id="{86D0B2E5-E636-4944-9183-4C06F26BD6B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12623BA6-AEED-49E4-B917-E8AD77656716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2" name="_x278651016" descr="EMB0000378c3f3d">
              <a:extLst>
                <a:ext uri="{FF2B5EF4-FFF2-40B4-BE49-F238E27FC236}">
                  <a16:creationId xmlns:a16="http://schemas.microsoft.com/office/drawing/2014/main" id="{8B8AEA81-A975-47FB-AD8F-6A3DAF09AF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그래픽 23">
              <a:extLst>
                <a:ext uri="{FF2B5EF4-FFF2-40B4-BE49-F238E27FC236}">
                  <a16:creationId xmlns:a16="http://schemas.microsoft.com/office/drawing/2014/main" id="{ED158CE9-27B6-4598-9494-007AD5AB1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740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한쪽 모서리 1">
            <a:extLst>
              <a:ext uri="{FF2B5EF4-FFF2-40B4-BE49-F238E27FC236}">
                <a16:creationId xmlns:a16="http://schemas.microsoft.com/office/drawing/2014/main" id="{F7EF20BB-A915-47B9-84FE-85CF0DB9293B}"/>
              </a:ext>
            </a:extLst>
          </p:cNvPr>
          <p:cNvSpPr/>
          <p:nvPr/>
        </p:nvSpPr>
        <p:spPr>
          <a:xfrm flipH="1" flipV="1">
            <a:off x="-3" y="70718"/>
            <a:ext cx="12192001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5E13B89-7CF8-442E-81D2-9CA52F6B8E76}"/>
              </a:ext>
            </a:extLst>
          </p:cNvPr>
          <p:cNvGrpSpPr/>
          <p:nvPr/>
        </p:nvGrpSpPr>
        <p:grpSpPr>
          <a:xfrm>
            <a:off x="376102" y="333243"/>
            <a:ext cx="6872026" cy="830997"/>
            <a:chOff x="376102" y="333243"/>
            <a:chExt cx="5948498" cy="83099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B4122FD-E8AC-41F8-BB4B-066771C67829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887FBA-BE13-47F1-8618-32C44EEF9E11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유즈케이스</a:t>
              </a: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en-US" altLang="ko-KR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/ </a:t>
              </a: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시퀀스 다이어그램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4DB72E-655F-47EF-9D59-BB2A7D9E46F6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BB0445B-C583-4924-9BB1-4C7276BC7BD0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B9B47C-2950-40A2-836F-C05667B68780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FC1E509-FC8E-4405-B3FF-890198D03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0" y="3068960"/>
            <a:ext cx="10155067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94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415AC8-0EAD-4471-BD08-2F5880F52BFB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FDB7D0-3A73-4324-A5FD-5E1C6DBC268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 기능 및 서비스 흐름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65601C-0CE1-44FE-A5BB-B3607193560E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A267037-196F-4A40-B274-7C4F83D5F4D8}"/>
              </a:ext>
            </a:extLst>
          </p:cNvPr>
          <p:cNvGrpSpPr/>
          <p:nvPr/>
        </p:nvGrpSpPr>
        <p:grpSpPr>
          <a:xfrm>
            <a:off x="1326238" y="3973323"/>
            <a:ext cx="9095030" cy="673099"/>
            <a:chOff x="2665127" y="3661000"/>
            <a:chExt cx="9095030" cy="6730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E808EE66-D1C6-4DF2-A5C4-12E52AEC0822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247C3A5F-59A4-4F2F-BE05-37832E89BB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27" name="육각형 26">
                <a:extLst>
                  <a:ext uri="{FF2B5EF4-FFF2-40B4-BE49-F238E27FC236}">
                    <a16:creationId xmlns:a16="http://schemas.microsoft.com/office/drawing/2014/main" id="{E03899DF-F58E-437A-9F43-B762204C6BD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3FB2907F-2238-4A0A-99E1-F903C97B7AB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00E717-C1A1-4C1C-99FF-22345F7D013E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6CF8FE-15F0-43F9-A557-D564F2001CF4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D867FED-CF29-452A-844C-C2FDA5759564}"/>
              </a:ext>
            </a:extLst>
          </p:cNvPr>
          <p:cNvGrpSpPr/>
          <p:nvPr/>
        </p:nvGrpSpPr>
        <p:grpSpPr>
          <a:xfrm>
            <a:off x="1336675" y="5462775"/>
            <a:ext cx="9095030" cy="673099"/>
            <a:chOff x="2665127" y="4597922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7C155E09-D0EC-4771-A073-C16B84F97F93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F81C0266-4404-4132-A6EB-E0209BDDCE59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34" name="육각형 33">
                <a:extLst>
                  <a:ext uri="{FF2B5EF4-FFF2-40B4-BE49-F238E27FC236}">
                    <a16:creationId xmlns:a16="http://schemas.microsoft.com/office/drawing/2014/main" id="{1E7BDEA5-6E71-4EFD-9F90-5C43C6C0D30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55DC4814-B9C6-47BD-BB7A-27F85631E70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193611-6082-43FE-8FC1-D327E06FB14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A26D6C0-51CC-430C-A97F-FFBD8D014574}"/>
              </a:ext>
            </a:extLst>
          </p:cNvPr>
          <p:cNvGrpSpPr/>
          <p:nvPr/>
        </p:nvGrpSpPr>
        <p:grpSpPr>
          <a:xfrm>
            <a:off x="1336675" y="2929000"/>
            <a:ext cx="9095030" cy="673099"/>
            <a:chOff x="2665127" y="2724078"/>
            <a:chExt cx="9095030" cy="673099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5C6779C-1253-4859-A563-1F434CCF0EB2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16487291-F9F5-4D05-B11F-240E902CA8E5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3" name="육각형 42">
                <a:extLst>
                  <a:ext uri="{FF2B5EF4-FFF2-40B4-BE49-F238E27FC236}">
                    <a16:creationId xmlns:a16="http://schemas.microsoft.com/office/drawing/2014/main" id="{40DF7075-A1B7-4E3B-972A-0DB2538E3018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E50B28D6-2C5D-4681-91E8-7C773E28E65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F9946C-3F18-4D02-AB43-6B8CD5AA0CB2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57" name="_x278651016" descr="EMB0000378c3f3d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AF7D8A23-DA0D-4865-AF27-D347D66B4371}"/>
              </a:ext>
            </a:extLst>
          </p:cNvPr>
          <p:cNvSpPr txBox="1"/>
          <p:nvPr/>
        </p:nvSpPr>
        <p:spPr>
          <a:xfrm>
            <a:off x="1912086" y="3078734"/>
            <a:ext cx="806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GEO</a:t>
            </a:r>
            <a:r>
              <a:rPr lang="ko-KR" altLang="en-US" dirty="0" err="1"/>
              <a:t>어쩌구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4C85F7-03A0-41E3-A91E-8F9176BFBD4A}"/>
              </a:ext>
            </a:extLst>
          </p:cNvPr>
          <p:cNvSpPr txBox="1"/>
          <p:nvPr/>
        </p:nvSpPr>
        <p:spPr>
          <a:xfrm>
            <a:off x="1900501" y="5622182"/>
            <a:ext cx="806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 </a:t>
            </a:r>
            <a:r>
              <a:rPr lang="en-US" altLang="ko-KR" dirty="0"/>
              <a:t>GEO </a:t>
            </a:r>
            <a:r>
              <a:rPr lang="ko-KR" altLang="en-US" dirty="0"/>
              <a:t>위치 기상청 날씨 </a:t>
            </a:r>
            <a:r>
              <a:rPr lang="en-US" altLang="ko-KR" dirty="0"/>
              <a:t>~~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D4BD16-05E1-45FC-B237-FE4252EA8253}"/>
              </a:ext>
            </a:extLst>
          </p:cNvPr>
          <p:cNvSpPr txBox="1"/>
          <p:nvPr/>
        </p:nvSpPr>
        <p:spPr>
          <a:xfrm>
            <a:off x="1851411" y="4163572"/>
            <a:ext cx="806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Kakao</a:t>
            </a:r>
            <a:r>
              <a:rPr lang="en-US" altLang="ko-KR" dirty="0"/>
              <a:t> </a:t>
            </a:r>
            <a:r>
              <a:rPr lang="ko-KR" altLang="en-US" dirty="0" err="1"/>
              <a:t>어쩌구</a:t>
            </a:r>
            <a:endParaRPr lang="ko-KR" altLang="en-US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CEB2783-EB26-461A-82D1-7ACB53DC3B9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9A1E9934-2240-46C4-B119-BB95B798A41E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68E27E4-AB56-4E9B-9490-12EAB4A8D836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ㅁㄴㅇ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EAE71D9F-F397-442B-A35D-4B1C7CAE033B}"/>
                </a:ext>
              </a:extLst>
            </p:cNvPr>
            <p:cNvGrpSpPr/>
            <p:nvPr/>
          </p:nvGrpSpPr>
          <p:grpSpPr>
            <a:xfrm>
              <a:off x="808712" y="2137404"/>
              <a:ext cx="253936" cy="276999"/>
              <a:chOff x="-547013" y="2114420"/>
              <a:chExt cx="253936" cy="276999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4193BB12-1171-4BE1-9AB2-14D2FA7CD672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5134E1D-B2C7-4425-B70E-854EFF34D2F2}"/>
                  </a:ext>
                </a:extLst>
              </p:cNvPr>
              <p:cNvSpPr txBox="1"/>
              <p:nvPr/>
            </p:nvSpPr>
            <p:spPr>
              <a:xfrm>
                <a:off x="-547013" y="2114420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1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2DCDA5E7-2DFC-46F7-93DF-7C86D852F202}"/>
              </a:ext>
            </a:extLst>
          </p:cNvPr>
          <p:cNvSpPr txBox="1"/>
          <p:nvPr/>
        </p:nvSpPr>
        <p:spPr>
          <a:xfrm>
            <a:off x="643038" y="1356243"/>
            <a:ext cx="579344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세방고딕 Regular" panose="00000500000000000000" pitchFamily="2" charset="-127"/>
              </a:rPr>
              <a:t>지도 표시 및 위치 수집</a:t>
            </a:r>
            <a:endParaRPr lang="ko-KR" altLang="en-US" sz="2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9576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415AC8-0EAD-4471-BD08-2F5880F52BFB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FDB7D0-3A73-4324-A5FD-5E1C6DBC268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 기능 및 서비스 흐름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65601C-0CE1-44FE-A5BB-B3607193560E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0251C9-8913-40BB-B75F-BBBD94C78041}"/>
              </a:ext>
            </a:extLst>
          </p:cNvPr>
          <p:cNvSpPr txBox="1"/>
          <p:nvPr/>
        </p:nvSpPr>
        <p:spPr>
          <a:xfrm>
            <a:off x="687554" y="1329100"/>
            <a:ext cx="579344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세방고딕 Regular" panose="00000500000000000000" pitchFamily="2" charset="-127"/>
              </a:rPr>
              <a:t>날씨 </a:t>
            </a:r>
            <a:r>
              <a:rPr lang="en-US" altLang="ko-KR" sz="2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세방고딕 Regular" panose="00000500000000000000" pitchFamily="2" charset="-127"/>
              </a:rPr>
              <a:t>API </a:t>
            </a:r>
            <a:r>
              <a:rPr lang="ko-KR" altLang="en-US" sz="2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세방고딕 Regular" panose="00000500000000000000" pitchFamily="2" charset="-127"/>
              </a:rPr>
              <a:t>호출</a:t>
            </a:r>
            <a:r>
              <a:rPr lang="en-US" altLang="ko-KR" sz="2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세방고딕 Regular" panose="00000500000000000000" pitchFamily="2" charset="-127"/>
              </a:rPr>
              <a:t>(</a:t>
            </a:r>
            <a:r>
              <a:rPr lang="ko-KR" altLang="en-US" sz="2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세방고딕 Regular" panose="00000500000000000000" pitchFamily="2" charset="-127"/>
              </a:rPr>
              <a:t>동네예보 </a:t>
            </a:r>
            <a:r>
              <a:rPr lang="en-US" altLang="ko-KR" sz="2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세방고딕 Regular" panose="00000500000000000000" pitchFamily="2" charset="-127"/>
              </a:rPr>
              <a:t>API)</a:t>
            </a:r>
            <a:r>
              <a:rPr lang="ko-KR" altLang="en-US" sz="2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세방고딕 Regular" panose="00000500000000000000" pitchFamily="2" charset="-127"/>
              </a:rPr>
              <a:t> </a:t>
            </a:r>
            <a:endParaRPr lang="en-US" altLang="ko-KR" sz="2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세방고딕 Bold" panose="00000800000000000000" pitchFamily="2" charset="-127"/>
            </a:endParaRPr>
          </a:p>
          <a:p>
            <a:pPr>
              <a:defRPr/>
            </a:pPr>
            <a:endParaRPr lang="ko-KR" altLang="en-US" sz="2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세방고딕 Bold" panose="00000800000000000000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A267037-196F-4A40-B274-7C4F83D5F4D8}"/>
              </a:ext>
            </a:extLst>
          </p:cNvPr>
          <p:cNvGrpSpPr/>
          <p:nvPr/>
        </p:nvGrpSpPr>
        <p:grpSpPr>
          <a:xfrm>
            <a:off x="1326238" y="3973323"/>
            <a:ext cx="9095030" cy="673099"/>
            <a:chOff x="2665127" y="3661000"/>
            <a:chExt cx="9095030" cy="6730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E808EE66-D1C6-4DF2-A5C4-12E52AEC0822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247C3A5F-59A4-4F2F-BE05-37832E89BB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27" name="육각형 26">
                <a:extLst>
                  <a:ext uri="{FF2B5EF4-FFF2-40B4-BE49-F238E27FC236}">
                    <a16:creationId xmlns:a16="http://schemas.microsoft.com/office/drawing/2014/main" id="{E03899DF-F58E-437A-9F43-B762204C6BD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3FB2907F-2238-4A0A-99E1-F903C97B7AB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00E717-C1A1-4C1C-99FF-22345F7D013E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6CF8FE-15F0-43F9-A557-D564F2001CF4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D867FED-CF29-452A-844C-C2FDA5759564}"/>
              </a:ext>
            </a:extLst>
          </p:cNvPr>
          <p:cNvGrpSpPr/>
          <p:nvPr/>
        </p:nvGrpSpPr>
        <p:grpSpPr>
          <a:xfrm>
            <a:off x="1336675" y="5462775"/>
            <a:ext cx="9095030" cy="673099"/>
            <a:chOff x="2665127" y="4597922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7C155E09-D0EC-4771-A073-C16B84F97F93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F81C0266-4404-4132-A6EB-E0209BDDCE59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34" name="육각형 33">
                <a:extLst>
                  <a:ext uri="{FF2B5EF4-FFF2-40B4-BE49-F238E27FC236}">
                    <a16:creationId xmlns:a16="http://schemas.microsoft.com/office/drawing/2014/main" id="{1E7BDEA5-6E71-4EFD-9F90-5C43C6C0D30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55DC4814-B9C6-47BD-BB7A-27F85631E70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193611-6082-43FE-8FC1-D327E06FB14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A26D6C0-51CC-430C-A97F-FFBD8D014574}"/>
              </a:ext>
            </a:extLst>
          </p:cNvPr>
          <p:cNvGrpSpPr/>
          <p:nvPr/>
        </p:nvGrpSpPr>
        <p:grpSpPr>
          <a:xfrm>
            <a:off x="1336675" y="2929000"/>
            <a:ext cx="9095030" cy="673099"/>
            <a:chOff x="2665127" y="2724078"/>
            <a:chExt cx="9095030" cy="673099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5C6779C-1253-4859-A563-1F434CCF0EB2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16487291-F9F5-4D05-B11F-240E902CA8E5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3" name="육각형 42">
                <a:extLst>
                  <a:ext uri="{FF2B5EF4-FFF2-40B4-BE49-F238E27FC236}">
                    <a16:creationId xmlns:a16="http://schemas.microsoft.com/office/drawing/2014/main" id="{40DF7075-A1B7-4E3B-972A-0DB2538E3018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E50B28D6-2C5D-4681-91E8-7C773E28E65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F9946C-3F18-4D02-AB43-6B8CD5AA0CB2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57" name="_x278651016" descr="EMB0000378c3f3d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AF7D8A23-DA0D-4865-AF27-D347D66B4371}"/>
              </a:ext>
            </a:extLst>
          </p:cNvPr>
          <p:cNvSpPr txBox="1"/>
          <p:nvPr/>
        </p:nvSpPr>
        <p:spPr>
          <a:xfrm>
            <a:off x="1912086" y="3078734"/>
            <a:ext cx="806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GEO</a:t>
            </a:r>
            <a:r>
              <a:rPr lang="ko-KR" altLang="en-US" dirty="0" err="1"/>
              <a:t>어쩌구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4C85F7-03A0-41E3-A91E-8F9176BFBD4A}"/>
              </a:ext>
            </a:extLst>
          </p:cNvPr>
          <p:cNvSpPr txBox="1"/>
          <p:nvPr/>
        </p:nvSpPr>
        <p:spPr>
          <a:xfrm>
            <a:off x="1900501" y="5622182"/>
            <a:ext cx="806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 </a:t>
            </a:r>
            <a:r>
              <a:rPr lang="en-US" altLang="ko-KR" dirty="0"/>
              <a:t>GEO </a:t>
            </a:r>
            <a:r>
              <a:rPr lang="ko-KR" altLang="en-US" dirty="0"/>
              <a:t>위치 기상청 날씨 </a:t>
            </a:r>
            <a:r>
              <a:rPr lang="en-US" altLang="ko-KR" dirty="0"/>
              <a:t>~~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D4BD16-05E1-45FC-B237-FE4252EA8253}"/>
              </a:ext>
            </a:extLst>
          </p:cNvPr>
          <p:cNvSpPr txBox="1"/>
          <p:nvPr/>
        </p:nvSpPr>
        <p:spPr>
          <a:xfrm>
            <a:off x="1851411" y="4163572"/>
            <a:ext cx="806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Kakao</a:t>
            </a:r>
            <a:r>
              <a:rPr lang="en-US" altLang="ko-KR" dirty="0"/>
              <a:t> </a:t>
            </a:r>
            <a:r>
              <a:rPr lang="ko-KR" altLang="en-US" dirty="0" err="1"/>
              <a:t>어쩌구</a:t>
            </a:r>
            <a:endParaRPr lang="ko-KR" altLang="en-US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CEB2783-EB26-461A-82D1-7ACB53DC3B9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9A1E9934-2240-46C4-B119-BB95B798A41E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68E27E4-AB56-4E9B-9490-12EAB4A8D836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EAE71D9F-F397-442B-A35D-4B1C7CAE033B}"/>
                </a:ext>
              </a:extLst>
            </p:cNvPr>
            <p:cNvGrpSpPr/>
            <p:nvPr/>
          </p:nvGrpSpPr>
          <p:grpSpPr>
            <a:xfrm>
              <a:off x="808712" y="2137404"/>
              <a:ext cx="253936" cy="276999"/>
              <a:chOff x="-547013" y="2114420"/>
              <a:chExt cx="253936" cy="276999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4193BB12-1171-4BE1-9AB2-14D2FA7CD672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5134E1D-B2C7-4425-B70E-854EFF34D2F2}"/>
                  </a:ext>
                </a:extLst>
              </p:cNvPr>
              <p:cNvSpPr txBox="1"/>
              <p:nvPr/>
            </p:nvSpPr>
            <p:spPr>
              <a:xfrm>
                <a:off x="-547013" y="2114420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2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48251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415AC8-0EAD-4471-BD08-2F5880F52BFB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FDB7D0-3A73-4324-A5FD-5E1C6DBC268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 기능 및 서비스 흐름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65601C-0CE1-44FE-A5BB-B3607193560E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A267037-196F-4A40-B274-7C4F83D5F4D8}"/>
              </a:ext>
            </a:extLst>
          </p:cNvPr>
          <p:cNvGrpSpPr/>
          <p:nvPr/>
        </p:nvGrpSpPr>
        <p:grpSpPr>
          <a:xfrm>
            <a:off x="1326238" y="3973323"/>
            <a:ext cx="9095030" cy="673099"/>
            <a:chOff x="2665127" y="3661000"/>
            <a:chExt cx="9095030" cy="6730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E808EE66-D1C6-4DF2-A5C4-12E52AEC0822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247C3A5F-59A4-4F2F-BE05-37832E89BB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27" name="육각형 26">
                <a:extLst>
                  <a:ext uri="{FF2B5EF4-FFF2-40B4-BE49-F238E27FC236}">
                    <a16:creationId xmlns:a16="http://schemas.microsoft.com/office/drawing/2014/main" id="{E03899DF-F58E-437A-9F43-B762204C6BD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3FB2907F-2238-4A0A-99E1-F903C97B7AB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00E717-C1A1-4C1C-99FF-22345F7D013E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6CF8FE-15F0-43F9-A557-D564F2001CF4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D867FED-CF29-452A-844C-C2FDA5759564}"/>
              </a:ext>
            </a:extLst>
          </p:cNvPr>
          <p:cNvGrpSpPr/>
          <p:nvPr/>
        </p:nvGrpSpPr>
        <p:grpSpPr>
          <a:xfrm>
            <a:off x="1336675" y="5462775"/>
            <a:ext cx="9095030" cy="673099"/>
            <a:chOff x="2665127" y="4597922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7C155E09-D0EC-4771-A073-C16B84F97F93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F81C0266-4404-4132-A6EB-E0209BDDCE59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34" name="육각형 33">
                <a:extLst>
                  <a:ext uri="{FF2B5EF4-FFF2-40B4-BE49-F238E27FC236}">
                    <a16:creationId xmlns:a16="http://schemas.microsoft.com/office/drawing/2014/main" id="{1E7BDEA5-6E71-4EFD-9F90-5C43C6C0D30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55DC4814-B9C6-47BD-BB7A-27F85631E70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193611-6082-43FE-8FC1-D327E06FB14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A26D6C0-51CC-430C-A97F-FFBD8D014574}"/>
              </a:ext>
            </a:extLst>
          </p:cNvPr>
          <p:cNvGrpSpPr/>
          <p:nvPr/>
        </p:nvGrpSpPr>
        <p:grpSpPr>
          <a:xfrm>
            <a:off x="1336675" y="2929000"/>
            <a:ext cx="9095030" cy="673099"/>
            <a:chOff x="2665127" y="2724078"/>
            <a:chExt cx="9095030" cy="673099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5C6779C-1253-4859-A563-1F434CCF0EB2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16487291-F9F5-4D05-B11F-240E902CA8E5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3" name="육각형 42">
                <a:extLst>
                  <a:ext uri="{FF2B5EF4-FFF2-40B4-BE49-F238E27FC236}">
                    <a16:creationId xmlns:a16="http://schemas.microsoft.com/office/drawing/2014/main" id="{40DF7075-A1B7-4E3B-972A-0DB2538E3018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E50B28D6-2C5D-4681-91E8-7C773E28E65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F9946C-3F18-4D02-AB43-6B8CD5AA0CB2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57" name="_x278651016" descr="EMB0000378c3f3d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AF7D8A23-DA0D-4865-AF27-D347D66B4371}"/>
              </a:ext>
            </a:extLst>
          </p:cNvPr>
          <p:cNvSpPr txBox="1"/>
          <p:nvPr/>
        </p:nvSpPr>
        <p:spPr>
          <a:xfrm>
            <a:off x="1912086" y="3078734"/>
            <a:ext cx="806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GEO</a:t>
            </a:r>
            <a:r>
              <a:rPr lang="ko-KR" altLang="en-US" dirty="0" err="1"/>
              <a:t>어쩌구</a:t>
            </a: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4C85F7-03A0-41E3-A91E-8F9176BFBD4A}"/>
              </a:ext>
            </a:extLst>
          </p:cNvPr>
          <p:cNvSpPr txBox="1"/>
          <p:nvPr/>
        </p:nvSpPr>
        <p:spPr>
          <a:xfrm>
            <a:off x="1900501" y="5622182"/>
            <a:ext cx="806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 </a:t>
            </a:r>
            <a:r>
              <a:rPr lang="en-US" altLang="ko-KR" dirty="0"/>
              <a:t>GEO </a:t>
            </a:r>
            <a:r>
              <a:rPr lang="ko-KR" altLang="en-US" dirty="0"/>
              <a:t>위치 기상청 날씨 </a:t>
            </a:r>
            <a:r>
              <a:rPr lang="en-US" altLang="ko-KR" dirty="0"/>
              <a:t>~~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D4BD16-05E1-45FC-B237-FE4252EA8253}"/>
              </a:ext>
            </a:extLst>
          </p:cNvPr>
          <p:cNvSpPr txBox="1"/>
          <p:nvPr/>
        </p:nvSpPr>
        <p:spPr>
          <a:xfrm>
            <a:off x="1851411" y="4163572"/>
            <a:ext cx="806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Kakao</a:t>
            </a:r>
            <a:r>
              <a:rPr lang="en-US" altLang="ko-KR" dirty="0"/>
              <a:t> </a:t>
            </a:r>
            <a:r>
              <a:rPr lang="ko-KR" altLang="en-US" dirty="0" err="1"/>
              <a:t>어쩌구</a:t>
            </a:r>
            <a:endParaRPr lang="ko-KR" altLang="en-US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CEB2783-EB26-461A-82D1-7ACB53DC3B9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9A1E9934-2240-46C4-B119-BB95B798A41E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68E27E4-AB56-4E9B-9490-12EAB4A8D836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ㅁㄴㅇ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EAE71D9F-F397-442B-A35D-4B1C7CAE033B}"/>
                </a:ext>
              </a:extLst>
            </p:cNvPr>
            <p:cNvGrpSpPr/>
            <p:nvPr/>
          </p:nvGrpSpPr>
          <p:grpSpPr>
            <a:xfrm>
              <a:off x="808712" y="2137404"/>
              <a:ext cx="253936" cy="276999"/>
              <a:chOff x="-547013" y="2114420"/>
              <a:chExt cx="253936" cy="276999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4193BB12-1171-4BE1-9AB2-14D2FA7CD672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5134E1D-B2C7-4425-B70E-854EFF34D2F2}"/>
                  </a:ext>
                </a:extLst>
              </p:cNvPr>
              <p:cNvSpPr txBox="1"/>
              <p:nvPr/>
            </p:nvSpPr>
            <p:spPr>
              <a:xfrm>
                <a:off x="-547013" y="2114420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3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329A869-90B4-4D35-BDA7-955D4AD9333B}"/>
              </a:ext>
            </a:extLst>
          </p:cNvPr>
          <p:cNvSpPr txBox="1"/>
          <p:nvPr/>
        </p:nvSpPr>
        <p:spPr>
          <a:xfrm>
            <a:off x="593870" y="1337971"/>
            <a:ext cx="579344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세방고딕 Regular" panose="00000500000000000000" pitchFamily="2" charset="-127"/>
              </a:rPr>
              <a:t>음식 추천 엔진</a:t>
            </a:r>
            <a:endParaRPr lang="en-US" altLang="ko-KR" sz="2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968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24FBAF1-7ED1-4C12-A798-8E041DCA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605A540D-22A1-4C08-B8FF-B4CE354769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E082BFF8-AE36-4F34-A35E-2BE20DD4AE68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4239A4-1513-4894-A6FE-4D4C9DF9CE1C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415AC8-0EAD-4471-BD08-2F5880F52BFB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FDB7D0-3A73-4324-A5FD-5E1C6DBC268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 기능 및 서비스 흐름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65601C-0CE1-44FE-A5BB-B3607193560E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9381570-BCD2-4889-99D8-82F7349D42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A3B868A-E964-4E21-A3B8-731917B99B33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3E329C-EEF2-468F-A70B-A0A7E72266C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A4956316-08DE-477E-8122-803FE550A92A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05CCC1-D32F-410E-A978-AA121FE13E7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1A27D-B55A-40B3-8ED6-A3C16EB491F9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A267037-196F-4A40-B274-7C4F83D5F4D8}"/>
              </a:ext>
            </a:extLst>
          </p:cNvPr>
          <p:cNvGrpSpPr/>
          <p:nvPr/>
        </p:nvGrpSpPr>
        <p:grpSpPr>
          <a:xfrm>
            <a:off x="1326238" y="3973323"/>
            <a:ext cx="9095030" cy="673099"/>
            <a:chOff x="2665127" y="3661000"/>
            <a:chExt cx="9095030" cy="6730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E808EE66-D1C6-4DF2-A5C4-12E52AEC0822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247C3A5F-59A4-4F2F-BE05-37832E89BB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27" name="육각형 26">
                <a:extLst>
                  <a:ext uri="{FF2B5EF4-FFF2-40B4-BE49-F238E27FC236}">
                    <a16:creationId xmlns:a16="http://schemas.microsoft.com/office/drawing/2014/main" id="{E03899DF-F58E-437A-9F43-B762204C6BD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3FB2907F-2238-4A0A-99E1-F903C97B7AB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00E717-C1A1-4C1C-99FF-22345F7D013E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6CF8FE-15F0-43F9-A557-D564F2001CF4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D867FED-CF29-452A-844C-C2FDA5759564}"/>
              </a:ext>
            </a:extLst>
          </p:cNvPr>
          <p:cNvGrpSpPr/>
          <p:nvPr/>
        </p:nvGrpSpPr>
        <p:grpSpPr>
          <a:xfrm>
            <a:off x="1336675" y="5462775"/>
            <a:ext cx="9095030" cy="673099"/>
            <a:chOff x="2665127" y="4597922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7C155E09-D0EC-4771-A073-C16B84F97F93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F81C0266-4404-4132-A6EB-E0209BDDCE59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34" name="육각형 33">
                <a:extLst>
                  <a:ext uri="{FF2B5EF4-FFF2-40B4-BE49-F238E27FC236}">
                    <a16:creationId xmlns:a16="http://schemas.microsoft.com/office/drawing/2014/main" id="{1E7BDEA5-6E71-4EFD-9F90-5C43C6C0D30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55DC4814-B9C6-47BD-BB7A-27F85631E70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193611-6082-43FE-8FC1-D327E06FB14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pic>
        <p:nvPicPr>
          <p:cNvPr id="55" name="그래픽 54">
            <a:extLst>
              <a:ext uri="{FF2B5EF4-FFF2-40B4-BE49-F238E27FC236}">
                <a16:creationId xmlns:a16="http://schemas.microsoft.com/office/drawing/2014/main" id="{1F05342D-34CE-40D0-A768-4AA6B915C3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B945AB6-144B-4593-AC86-EE092A2B2956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57" name="_x278651016" descr="EMB0000378c3f3d">
              <a:extLst>
                <a:ext uri="{FF2B5EF4-FFF2-40B4-BE49-F238E27FC236}">
                  <a16:creationId xmlns:a16="http://schemas.microsoft.com/office/drawing/2014/main" id="{1B5B307E-B1DC-47FA-B963-B63606DAB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그래픽 23">
              <a:extLst>
                <a:ext uri="{FF2B5EF4-FFF2-40B4-BE49-F238E27FC236}">
                  <a16:creationId xmlns:a16="http://schemas.microsoft.com/office/drawing/2014/main" id="{D609F24C-ADEB-4696-91A7-9A7379A5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AF7D8A23-DA0D-4865-AF27-D347D66B4371}"/>
              </a:ext>
            </a:extLst>
          </p:cNvPr>
          <p:cNvSpPr txBox="1"/>
          <p:nvPr/>
        </p:nvSpPr>
        <p:spPr>
          <a:xfrm>
            <a:off x="1235460" y="3078529"/>
            <a:ext cx="8066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치킨</a:t>
            </a:r>
            <a:r>
              <a:rPr lang="en-US" altLang="ko-KR" dirty="0"/>
              <a:t>,</a:t>
            </a:r>
            <a:r>
              <a:rPr lang="ko-KR" altLang="en-US" dirty="0"/>
              <a:t>피자</a:t>
            </a:r>
            <a:r>
              <a:rPr lang="en-US" altLang="ko-KR" dirty="0"/>
              <a:t>,</a:t>
            </a:r>
            <a:r>
              <a:rPr lang="ko-KR" altLang="en-US" dirty="0"/>
              <a:t>버거 등 사계절성을 띄는 메뉴 제외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4C85F7-03A0-41E3-A91E-8F9176BFBD4A}"/>
              </a:ext>
            </a:extLst>
          </p:cNvPr>
          <p:cNvSpPr txBox="1"/>
          <p:nvPr/>
        </p:nvSpPr>
        <p:spPr>
          <a:xfrm>
            <a:off x="1900501" y="5622182"/>
            <a:ext cx="806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 </a:t>
            </a:r>
            <a:r>
              <a:rPr lang="en-US" altLang="ko-KR" dirty="0"/>
              <a:t>GEO </a:t>
            </a:r>
            <a:r>
              <a:rPr lang="ko-KR" altLang="en-US" dirty="0"/>
              <a:t>위치 기상청 날씨 </a:t>
            </a:r>
            <a:r>
              <a:rPr lang="en-US" altLang="ko-KR" dirty="0"/>
              <a:t>~~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D4BD16-05E1-45FC-B237-FE4252EA8253}"/>
              </a:ext>
            </a:extLst>
          </p:cNvPr>
          <p:cNvSpPr txBox="1"/>
          <p:nvPr/>
        </p:nvSpPr>
        <p:spPr>
          <a:xfrm>
            <a:off x="1851411" y="4163572"/>
            <a:ext cx="806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Kakao</a:t>
            </a:r>
            <a:r>
              <a:rPr lang="en-US" altLang="ko-KR" dirty="0"/>
              <a:t> </a:t>
            </a:r>
            <a:r>
              <a:rPr lang="ko-KR" altLang="en-US" dirty="0" err="1"/>
              <a:t>어쩌구</a:t>
            </a:r>
            <a:endParaRPr lang="ko-KR" altLang="en-US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CEB2783-EB26-461A-82D1-7ACB53DC3B9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9A1E9934-2240-46C4-B119-BB95B798A41E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68E27E4-AB56-4E9B-9490-12EAB4A8D836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ㅁㄴㅇ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EAE71D9F-F397-442B-A35D-4B1C7CAE033B}"/>
                </a:ext>
              </a:extLst>
            </p:cNvPr>
            <p:cNvGrpSpPr/>
            <p:nvPr/>
          </p:nvGrpSpPr>
          <p:grpSpPr>
            <a:xfrm>
              <a:off x="808712" y="2137404"/>
              <a:ext cx="253936" cy="276999"/>
              <a:chOff x="-547013" y="2114420"/>
              <a:chExt cx="253936" cy="276999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4193BB12-1171-4BE1-9AB2-14D2FA7CD672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5134E1D-B2C7-4425-B70E-854EFF34D2F2}"/>
                  </a:ext>
                </a:extLst>
              </p:cNvPr>
              <p:cNvSpPr txBox="1"/>
              <p:nvPr/>
            </p:nvSpPr>
            <p:spPr>
              <a:xfrm>
                <a:off x="-547013" y="2114420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3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329A869-90B4-4D35-BDA7-955D4AD9333B}"/>
              </a:ext>
            </a:extLst>
          </p:cNvPr>
          <p:cNvSpPr txBox="1"/>
          <p:nvPr/>
        </p:nvSpPr>
        <p:spPr>
          <a:xfrm>
            <a:off x="593870" y="1337971"/>
            <a:ext cx="579344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세방고딕 Regular" panose="00000500000000000000" pitchFamily="2" charset="-127"/>
              </a:rPr>
              <a:t>음식 추천 엔진</a:t>
            </a:r>
            <a:endParaRPr lang="en-US" altLang="ko-KR" sz="2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3759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67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결과물이 도출된 과정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세부적으로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095030" cy="673099"/>
            <a:chOff x="2665127" y="3661000"/>
            <a:chExt cx="9095030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4761897" y="2999421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4259955" y="3108199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0" y="4277173"/>
            <a:ext cx="2207558" cy="2580827"/>
            <a:chOff x="0" y="4277173"/>
            <a:chExt cx="2207558" cy="2580827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2576C25F-1621-30A2-B5DC-DFB624D7A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9322" b="12503"/>
            <a:stretch/>
          </p:blipFill>
          <p:spPr>
            <a:xfrm flipH="1">
              <a:off x="0" y="4643916"/>
              <a:ext cx="2207558" cy="2214084"/>
            </a:xfrm>
            <a:prstGeom prst="rect">
              <a:avLst/>
            </a:prstGeom>
          </p:spPr>
        </p:pic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HTML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시연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 내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D919C341-0475-47A3-A32D-20168295F5F6}"/>
              </a:ext>
            </a:extLst>
          </p:cNvPr>
          <p:cNvSpPr/>
          <p:nvPr/>
        </p:nvSpPr>
        <p:spPr>
          <a:xfrm>
            <a:off x="473892" y="2150430"/>
            <a:ext cx="11244216" cy="4263070"/>
          </a:xfrm>
          <a:custGeom>
            <a:avLst/>
            <a:gdLst>
              <a:gd name="connsiteX0" fmla="*/ 0 w 7434265"/>
              <a:gd name="connsiteY0" fmla="*/ 0 h 4167182"/>
              <a:gd name="connsiteX1" fmla="*/ 7434265 w 7434265"/>
              <a:gd name="connsiteY1" fmla="*/ 0 h 4167182"/>
              <a:gd name="connsiteX2" fmla="*/ 7434265 w 7434265"/>
              <a:gd name="connsiteY2" fmla="*/ 4167182 h 4167182"/>
              <a:gd name="connsiteX3" fmla="*/ 0 w 7434265"/>
              <a:gd name="connsiteY3" fmla="*/ 4167182 h 4167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34265" h="4167182">
                <a:moveTo>
                  <a:pt x="0" y="0"/>
                </a:moveTo>
                <a:lnTo>
                  <a:pt x="7434265" y="0"/>
                </a:lnTo>
                <a:lnTo>
                  <a:pt x="7434265" y="4167182"/>
                </a:lnTo>
                <a:lnTo>
                  <a:pt x="0" y="4167182"/>
                </a:lnTo>
                <a:close/>
              </a:path>
            </a:pathLst>
          </a:custGeom>
          <a:solidFill>
            <a:srgbClr val="2C3E50"/>
          </a:solidFill>
          <a:ln w="153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향후 계획 및 기대효과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결과물에 대한 프로젝트 기획 의도와의 부합 정도 및 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완성도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훈련생의 자체적인 평가 의견과 느낀 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912406" y="2900049"/>
              <a:ext cx="4622911" cy="3919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4805280"/>
              <a:ext cx="4622911" cy="10567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모델이 어떤 데이터에 강점이 있고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데이가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어떤 특성이 있는지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대한 깊은 이해 필요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느낀 점이나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3398497" y="2408110"/>
            <a:ext cx="8361659" cy="1748490"/>
            <a:chOff x="3398497" y="2408110"/>
            <a:chExt cx="8361659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747148" y="2900049"/>
              <a:ext cx="462291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/>
                <a:t>수집된 로그가 </a:t>
              </a:r>
              <a:r>
                <a:rPr lang="ko-KR" altLang="en-US" dirty="0" err="1"/>
                <a:t>쌓여감에</a:t>
              </a:r>
              <a:r>
                <a:rPr lang="ko-KR" altLang="en-US" dirty="0"/>
                <a:t> 따라</a:t>
              </a:r>
              <a:br>
                <a:rPr lang="en-US" altLang="ko-KR" dirty="0"/>
              </a:br>
              <a:r>
                <a:rPr lang="ko-KR" altLang="en-US" dirty="0"/>
                <a:t>개인 맞춤형 음식</a:t>
              </a:r>
              <a:r>
                <a:rPr lang="en-US" altLang="ko-KR" dirty="0"/>
                <a:t>,</a:t>
              </a:r>
              <a:r>
                <a:rPr lang="ko-KR" altLang="en-US" dirty="0"/>
                <a:t>광고 활용</a:t>
              </a:r>
              <a:endParaRPr lang="en-US" altLang="ko-KR" dirty="0"/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/>
                <a:t>지역 상권 분석</a:t>
              </a:r>
              <a:r>
                <a:rPr lang="en-US" altLang="ko-KR" dirty="0"/>
                <a:t> </a:t>
              </a:r>
              <a:r>
                <a:rPr lang="ko-KR" altLang="en-US" dirty="0"/>
                <a:t>등의 효과 기대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3398497" y="3418973"/>
              <a:ext cx="28350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정확도 향상을 위해 모델 추후 개선 필요</a:t>
              </a:r>
              <a:endParaRPr lang="ko-KR" altLang="en-US" sz="1200" dirty="0"/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CAA5814-B568-4CC0-94CB-6D86B7D7E26E}"/>
              </a:ext>
            </a:extLst>
          </p:cNvPr>
          <p:cNvSpPr txBox="1"/>
          <p:nvPr/>
        </p:nvSpPr>
        <p:spPr>
          <a:xfrm>
            <a:off x="3439784" y="5507730"/>
            <a:ext cx="4622911" cy="724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모델이 어떤 데이터에 강점이 있고</a:t>
            </a:r>
            <a:b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</a:b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대한 깊은 이해 필요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837</Words>
  <Application>Microsoft Office PowerPoint</Application>
  <PresentationFormat>와이드스크린</PresentationFormat>
  <Paragraphs>208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맑은 고딕</vt:lpstr>
      <vt:lpstr>세방고딕 Bold</vt:lpstr>
      <vt:lpstr>세방고딕 OTF Regular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MYCOM</cp:lastModifiedBy>
  <cp:revision>36</cp:revision>
  <dcterms:created xsi:type="dcterms:W3CDTF">2023-12-20T03:00:25Z</dcterms:created>
  <dcterms:modified xsi:type="dcterms:W3CDTF">2025-12-04T11:27:53Z</dcterms:modified>
</cp:coreProperties>
</file>