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2" r:id="rId14"/>
  </p:sldMasterIdLst>
  <p:sldIdLst>
    <p:sldId id="289" r:id="rId16"/>
    <p:sldId id="291" r:id="rId17"/>
    <p:sldId id="294" r:id="rId18"/>
    <p:sldId id="333" r:id="rId19"/>
    <p:sldId id="295" r:id="rId20"/>
    <p:sldId id="336" r:id="rId21"/>
    <p:sldId id="340" r:id="rId22"/>
    <p:sldId id="337" r:id="rId23"/>
    <p:sldId id="338" r:id="rId24"/>
    <p:sldId id="339" r:id="rId25"/>
    <p:sldId id="334" r:id="rId26"/>
    <p:sldId id="335" r:id="rId27"/>
    <p:sldId id="303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9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7400" userDrawn="1">
          <p15:clr>
            <a:srgbClr val="A4A3A4"/>
          </p15:clr>
        </p15:guide>
        <p15:guide id="4" pos="3839" userDrawn="1">
          <p15:clr>
            <a:srgbClr val="A4A3A4"/>
          </p15:clr>
        </p15:guide>
        <p15:guide id="5" orient="horz" pos="40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1" snapToObjects="1">
      <p:cViewPr varScale="1">
        <p:scale>
          <a:sx n="114" d="100"/>
          <a:sy n="114" d="100"/>
        </p:scale>
        <p:origin x="474" y="96"/>
      </p:cViewPr>
      <p:guideLst>
        <p:guide orient="horz" pos="1569"/>
        <p:guide pos="324"/>
        <p:guide pos="7400"/>
        <p:guide pos="3839"/>
        <p:guide orient="horz" pos="40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7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29" Type="http://schemas.openxmlformats.org/officeDocument/2006/relationships/viewProps" Target="viewProps.xml"></Relationship><Relationship Id="rId30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?>
<Relationships xmlns="http://schemas.openxmlformats.org/package/2006/relationships"><Relationship Id="rId8" Type="http://schemas.openxmlformats.org/officeDocument/2006/relationships/image" Target="../media/image46.svg"></Relationship><Relationship Id="rId13" Type="http://schemas.openxmlformats.org/officeDocument/2006/relationships/image" Target="../media/image51.png"></Relationship><Relationship Id="rId18" Type="http://schemas.openxmlformats.org/officeDocument/2006/relationships/image" Target="../media/image54.svg"></Relationship><Relationship Id="rId3" Type="http://schemas.openxmlformats.org/officeDocument/2006/relationships/image" Target="../media/image41.png"></Relationship><Relationship Id="rId21" Type="http://schemas.openxmlformats.org/officeDocument/2006/relationships/image" Target="../media/image7.svg"></Relationship><Relationship Id="rId7" Type="http://schemas.openxmlformats.org/officeDocument/2006/relationships/image" Target="../media/image45.png"></Relationship><Relationship Id="rId12" Type="http://schemas.openxmlformats.org/officeDocument/2006/relationships/image" Target="../media/image50.svg"></Relationship><Relationship Id="rId17" Type="http://schemas.openxmlformats.org/officeDocument/2006/relationships/image" Target="../media/image53.png"></Relationship><Relationship Id="rId2" Type="http://schemas.openxmlformats.org/officeDocument/2006/relationships/image" Target="../media/image40.png"></Relationship><Relationship Id="rId16" Type="http://schemas.openxmlformats.org/officeDocument/2006/relationships/image" Target="../media/image2.svg"></Relationship><Relationship Id="rId20" Type="http://schemas.openxmlformats.org/officeDocument/2006/relationships/image" Target="../media/image6.png"></Relationship><Relationship Id="rId6" Type="http://schemas.openxmlformats.org/officeDocument/2006/relationships/image" Target="../media/image44.svg"></Relationship><Relationship Id="rId11" Type="http://schemas.openxmlformats.org/officeDocument/2006/relationships/image" Target="../media/image49.png"></Relationship><Relationship Id="rId5" Type="http://schemas.openxmlformats.org/officeDocument/2006/relationships/image" Target="../media/image43.png"></Relationship><Relationship Id="rId15" Type="http://schemas.openxmlformats.org/officeDocument/2006/relationships/image" Target="../media/image1.png"></Relationship><Relationship Id="rId10" Type="http://schemas.openxmlformats.org/officeDocument/2006/relationships/image" Target="../media/image48.svg"></Relationship><Relationship Id="rId19" Type="http://schemas.openxmlformats.org/officeDocument/2006/relationships/image" Target="../media/image5.png"></Relationship><Relationship Id="rId4" Type="http://schemas.openxmlformats.org/officeDocument/2006/relationships/image" Target="../media/image42.svg"></Relationship><Relationship Id="rId9" Type="http://schemas.openxmlformats.org/officeDocument/2006/relationships/image" Target="../media/image47.png"></Relationship><Relationship Id="rId14" Type="http://schemas.openxmlformats.org/officeDocument/2006/relationships/image" Target="../media/image52.svg"></Relationship><Relationship Id="rId22" Type="http://schemas.openxmlformats.org/officeDocument/2006/relationships/slideLayout" Target="../slideLayouts/slideLayout12.xml"></Relationship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71.png"/><Relationship Id="rId3" Type="http://schemas.openxmlformats.org/officeDocument/2006/relationships/image" Target="../media/image56.svg"/><Relationship Id="rId21" Type="http://schemas.openxmlformats.org/officeDocument/2006/relationships/image" Target="../media/image7.sv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0.svg"/><Relationship Id="rId2" Type="http://schemas.openxmlformats.org/officeDocument/2006/relationships/image" Target="../media/image55.png"/><Relationship Id="rId16" Type="http://schemas.openxmlformats.org/officeDocument/2006/relationships/image" Target="../media/image66.svg"/><Relationship Id="rId20" Type="http://schemas.openxmlformats.org/officeDocument/2006/relationships/image" Target="../media/image6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1.png"/><Relationship Id="rId24" Type="http://schemas.openxmlformats.org/officeDocument/2006/relationships/image" Target="../media/image69.png"/><Relationship Id="rId5" Type="http://schemas.openxmlformats.org/officeDocument/2006/relationships/image" Target="../media/image41.png"/><Relationship Id="rId15" Type="http://schemas.openxmlformats.org/officeDocument/2006/relationships/image" Target="../media/image65.png"/><Relationship Id="rId23" Type="http://schemas.openxmlformats.org/officeDocument/2006/relationships/image" Target="../media/image44.svg"/><Relationship Id="rId28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5.png"/><Relationship Id="rId31" Type="http://schemas.openxmlformats.org/officeDocument/2006/relationships/image" Target="../media/image76.svg"/><Relationship Id="rId4" Type="http://schemas.openxmlformats.org/officeDocument/2006/relationships/image" Target="../media/image40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43.png"/><Relationship Id="rId27" Type="http://schemas.openxmlformats.org/officeDocument/2006/relationships/image" Target="../media/image72.svg"/><Relationship Id="rId30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1.svg"/><Relationship Id="rId3" Type="http://schemas.openxmlformats.org/officeDocument/2006/relationships/image" Target="../media/image56.svg"/><Relationship Id="rId7" Type="http://schemas.openxmlformats.org/officeDocument/2006/relationships/image" Target="../media/image79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image" Target="../media/image55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78.svg"/><Relationship Id="rId15" Type="http://schemas.openxmlformats.org/officeDocument/2006/relationships/image" Target="../media/image83.svg"/><Relationship Id="rId10" Type="http://schemas.openxmlformats.org/officeDocument/2006/relationships/image" Target="../media/image6.png"/><Relationship Id="rId4" Type="http://schemas.openxmlformats.org/officeDocument/2006/relationships/image" Target="../media/image77.png"/><Relationship Id="rId9" Type="http://schemas.openxmlformats.org/officeDocument/2006/relationships/image" Target="../media/image5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12" Type="http://schemas.openxmlformats.org/officeDocument/2006/relationships/image" Target="../media/image92.svg"/><Relationship Id="rId17" Type="http://schemas.openxmlformats.org/officeDocument/2006/relationships/image" Target="../media/image5.png"/><Relationship Id="rId2" Type="http://schemas.openxmlformats.org/officeDocument/2006/relationships/image" Target="../media/image55.png"/><Relationship Id="rId16" Type="http://schemas.openxmlformats.org/officeDocument/2006/relationships/image" Target="../media/image9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91.png"/><Relationship Id="rId5" Type="http://schemas.openxmlformats.org/officeDocument/2006/relationships/image" Target="../media/image87.svg"/><Relationship Id="rId15" Type="http://schemas.openxmlformats.org/officeDocument/2006/relationships/image" Target="../media/image93.png"/><Relationship Id="rId10" Type="http://schemas.openxmlformats.org/officeDocument/2006/relationships/image" Target="../media/image90.svg"/><Relationship Id="rId19" Type="http://schemas.openxmlformats.org/officeDocument/2006/relationships/image" Target="../media/image7.svg"/><Relationship Id="rId4" Type="http://schemas.openxmlformats.org/officeDocument/2006/relationships/image" Target="../media/image86.png"/><Relationship Id="rId9" Type="http://schemas.openxmlformats.org/officeDocument/2006/relationships/image" Target="../media/image89.png"/><Relationship Id="rId14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6.svg"/><Relationship Id="rId7" Type="http://schemas.openxmlformats.org/officeDocument/2006/relationships/image" Target="../media/image98.svg"/><Relationship Id="rId12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5.png"/><Relationship Id="rId5" Type="http://schemas.openxmlformats.org/officeDocument/2006/relationships/image" Target="../media/image96.svg"/><Relationship Id="rId10" Type="http://schemas.openxmlformats.org/officeDocument/2006/relationships/image" Target="../media/image100.sv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655225"/>
            <a:chOff x="6747213" y="1370504"/>
            <a:chExt cx="5158567" cy="26552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2215991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314" y="4077072"/>
            <a:ext cx="5222342" cy="1102233"/>
            <a:chOff x="6768048" y="3882051"/>
            <a:chExt cx="5222342" cy="1102233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95436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1880644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22806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2679950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 및 서비스 흐름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479256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처리 과정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278562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7CED560-FCDB-4FB0-90A8-38C3DCBEFF88}"/>
              </a:ext>
            </a:extLst>
          </p:cNvPr>
          <p:cNvGrpSpPr/>
          <p:nvPr/>
        </p:nvGrpSpPr>
        <p:grpSpPr>
          <a:xfrm>
            <a:off x="6242109" y="5010475"/>
            <a:ext cx="3850335" cy="584775"/>
            <a:chOff x="6242109" y="4773997"/>
            <a:chExt cx="3256573" cy="43332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8FA5D6-9098-4628-A9CB-A1FD379FC72D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향후 계획 및 기대효과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F66D59-02DB-46C2-87FF-5034C24A918A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433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710"/>
            <a:ext cx="12192000" cy="92329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330" y="2373630"/>
            <a:ext cx="2122170" cy="3803650"/>
            <a:chOff x="7339330" y="2373630"/>
            <a:chExt cx="2122170" cy="380365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39330" y="2567305"/>
              <a:ext cx="2122170" cy="3609975"/>
              <a:chOff x="7339330" y="2567305"/>
              <a:chExt cx="2122170" cy="3609975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7339330" y="2567305"/>
                <a:ext cx="2122170" cy="3609975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7339330" y="6034405"/>
                <a:ext cx="2122170" cy="14287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193405" y="2373630"/>
              <a:ext cx="408305" cy="351790"/>
              <a:chOff x="8193405" y="2373630"/>
              <a:chExt cx="408305" cy="351790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8193405" y="2373630"/>
                <a:ext cx="408305" cy="351790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8218805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8269605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48245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2125" y="2373630"/>
            <a:ext cx="2122170" cy="3803650"/>
            <a:chOff x="492125" y="2373630"/>
            <a:chExt cx="2122170" cy="3803650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492125" y="2567305"/>
              <a:ext cx="2122170" cy="3609975"/>
              <a:chOff x="492125" y="2567305"/>
              <a:chExt cx="2122170" cy="3609975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492125" y="2567305"/>
                <a:ext cx="2122170" cy="3609975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492125" y="6034405"/>
                <a:ext cx="2122170" cy="14287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682625" y="3060065"/>
              <a:ext cx="1740535" cy="10572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88745" y="2373630"/>
              <a:ext cx="408305" cy="387985"/>
              <a:chOff x="1388745" y="2373630"/>
              <a:chExt cx="408305" cy="387985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1388745" y="237363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1414780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1465580" y="2439035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492125" y="4453255"/>
              <a:ext cx="2122170" cy="278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49070" y="4260215"/>
              <a:ext cx="208280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315" y="2373630"/>
            <a:ext cx="2133600" cy="3803650"/>
            <a:chOff x="2774315" y="2373630"/>
            <a:chExt cx="2133600" cy="3803650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74315" y="2567305"/>
              <a:ext cx="2122170" cy="3609975"/>
              <a:chOff x="2774315" y="2567305"/>
              <a:chExt cx="2122170" cy="3609975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774315" y="2567305"/>
                <a:ext cx="2122170" cy="3609975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774315" y="6034405"/>
                <a:ext cx="2122170" cy="14287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78555" y="2373630"/>
              <a:ext cx="408305" cy="351790"/>
              <a:chOff x="3678555" y="2373630"/>
              <a:chExt cx="408305" cy="351790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3678555" y="2373630"/>
                <a:ext cx="408305" cy="351790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3703955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3754755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83230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5745" y="4453255"/>
              <a:ext cx="2122170" cy="278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위치요청과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31260" y="4260215"/>
              <a:ext cx="208280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4941570" y="2373630"/>
            <a:ext cx="2362200" cy="3803650"/>
            <a:chOff x="4941570" y="2373630"/>
            <a:chExt cx="2362200" cy="3803650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56505" y="2567305"/>
              <a:ext cx="2122170" cy="3609975"/>
              <a:chOff x="5056505" y="2567305"/>
              <a:chExt cx="2122170" cy="3609975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056505" y="2567305"/>
                <a:ext cx="2122170" cy="3609975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056505" y="6034405"/>
                <a:ext cx="2122170" cy="14287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13755" y="2373630"/>
              <a:ext cx="408305" cy="351790"/>
              <a:chOff x="5913755" y="2373630"/>
              <a:chExt cx="408305" cy="351790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5913755" y="237363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939155" y="236855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5989955" y="243903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65420" y="3060065"/>
              <a:ext cx="1704340" cy="735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 장비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재료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4941570" y="4453255"/>
              <a:ext cx="2362200" cy="1497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HTML, CSS, JS, Python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VScode, Spyder, MySQL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Flask, GitHub</a:t>
              </a: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기상청 기상관측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공공데이터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_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소상공인 상권정보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네이버 플레이스 리뷰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11545" y="4260215"/>
              <a:ext cx="208280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7075" y="2373630"/>
            <a:ext cx="2126615" cy="3803650"/>
            <a:chOff x="9617075" y="2373630"/>
            <a:chExt cx="2126615" cy="3803650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21520" y="2567305"/>
              <a:ext cx="2122170" cy="3609975"/>
              <a:chOff x="9621520" y="2567305"/>
              <a:chExt cx="2122170" cy="3609975"/>
            </a:xfrm>
            <a:effectLst/>
          </p:grpSpPr>
          <p:sp>
            <p:nvSpPr>
              <p:cNvPr id="122" name="사각형: 둥근 위쪽 모서리 121"/>
              <p:cNvSpPr>
                <a:spLocks/>
              </p:cNvSpPr>
              <p:nvPr/>
            </p:nvSpPr>
            <p:spPr>
              <a:xfrm rot="0">
                <a:off x="9621520" y="2567305"/>
                <a:ext cx="2122805" cy="3610610"/>
              </a:xfrm>
              <a:prstGeom prst="round2SameRect"/>
              <a:solidFill>
                <a:srgbClr val="FCFDFE"/>
              </a:solidFill>
              <a:ln w="0">
                <a:noFill/>
                <a:prstDash/>
              </a:ln>
              <a:effectLst>
                <a:outerShdw sx="102000" sy="102000" blurRad="63500" dist="0" dir="0" rotWithShape="0" algn="ctr">
                  <a:srgbClr val="3378C8">
                    <a:alpha val="9803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123" name="직사각형 122"/>
              <p:cNvSpPr>
                <a:spLocks/>
              </p:cNvSpPr>
              <p:nvPr/>
            </p:nvSpPr>
            <p:spPr>
              <a:xfrm rot="0">
                <a:off x="9621520" y="6034405"/>
                <a:ext cx="2122805" cy="143510"/>
              </a:xfrm>
              <a:prstGeom prst="rect"/>
              <a:solidFill>
                <a:srgbClr val="3378C8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78135" y="2373630"/>
              <a:ext cx="408305" cy="351790"/>
              <a:chOff x="10478135" y="2373630"/>
              <a:chExt cx="408305" cy="351790"/>
            </a:xfrm>
          </p:grpSpPr>
          <p:sp>
            <p:nvSpPr>
              <p:cNvPr id="119" name="육각형 118"/>
              <p:cNvSpPr>
                <a:spLocks/>
              </p:cNvSpPr>
              <p:nvPr/>
            </p:nvSpPr>
            <p:spPr>
              <a:xfrm rot="0">
                <a:off x="10478135" y="2373630"/>
                <a:ext cx="408940" cy="352425"/>
              </a:xfrm>
              <a:prstGeom prst="hexagon"/>
              <a:solidFill>
                <a:srgbClr val="3378C8"/>
              </a:solidFill>
              <a:ln w="12700" cap="flat" cmpd="sng">
                <a:solidFill>
                  <a:srgbClr val="3378C8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120" name="자유형: 도형 119"/>
              <p:cNvSpPr>
                <a:spLocks/>
              </p:cNvSpPr>
              <p:nvPr/>
            </p:nvSpPr>
            <p:spPr>
              <a:xfrm rot="4620000">
                <a:off x="10504170" y="2368550"/>
                <a:ext cx="307340" cy="321310"/>
              </a:xfrm>
              <a:custGeom>
                <a:gdLst>
                  <a:gd fmla="*/ 0 w 751713" name="TX0"/>
                  <a:gd fmla="*/ 497894 h 766420" name="TY0"/>
                  <a:gd fmla="*/ 107134 w 751713" name="TX1"/>
                  <a:gd fmla="*/ 3253 h 766420" name="TY1"/>
                  <a:gd fmla="*/ 119855 w 751713" name="TX2"/>
                  <a:gd fmla="*/ 0 h 766420" name="TY2"/>
                  <a:gd fmla="*/ 751712 w 751713" name="TX3"/>
                  <a:gd fmla="*/ 649798 h 766420" name="TY3"/>
                  <a:gd fmla="*/ 749455 w 751713" name="TX4"/>
                  <a:gd fmla="*/ 660217 h 766420" name="TY4"/>
                  <a:gd fmla="*/ 334147 w 751713" name="TX5"/>
                  <a:gd fmla="*/ 766419 h 766420" name="TY5"/>
                  <a:gd fmla="*/ 0 w 751713" name="TX6"/>
                  <a:gd fmla="*/ 497894 h 766420" name="TY6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</a:cxnLst>
                <a:rect l="l" t="t" r="r" b="b"/>
                <a:pathLst>
                  <a:path w="751713" h="76642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069C2">
                      <a:alpha val="14000"/>
                    </a:srgbClr>
                  </a:gs>
                  <a:gs pos="69000">
                    <a:schemeClr val="bg1">
                      <a:alpha val="20000"/>
                    </a:schemeClr>
                  </a:gs>
                </a:gsLst>
                <a:lin ang="15000000"/>
              </a:gradFill>
              <a:ln w="0">
                <a:noFill/>
                <a:prstDash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/>
              </a:p>
            </p:txBody>
          </p:sp>
          <p:sp>
            <p:nvSpPr>
              <p:cNvPr id="121" name="TextBox 120"/>
              <p:cNvSpPr txBox="1">
                <a:spLocks/>
              </p:cNvSpPr>
              <p:nvPr/>
            </p:nvSpPr>
            <p:spPr>
              <a:xfrm rot="0">
                <a:off x="10554970" y="2439035"/>
                <a:ext cx="256540" cy="247015"/>
              </a:xfrm>
              <a:prstGeom prst="rect"/>
              <a:noFill/>
            </p:spPr>
            <p:txBody>
              <a:bodyPr wrap="square" lIns="0" tIns="0" rIns="0" bIns="0" numCol="1" vert="horz" anchor="t">
                <a:sp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>
                    <a:ln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latin typeface="세방고딕 Bold" charset="0"/>
                    <a:ea typeface="세방고딕 Bold" charset="0"/>
                    <a:cs typeface="Pretendard SemiBold" charset="0"/>
                  </a:rPr>
                  <a:t>5</a:t>
                </a:r>
                <a:endParaRPr lang="ko-KR" altLang="en-US" sz="160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Bold" charset="0"/>
                  <a:ea typeface="세방고딕 Bold" charset="0"/>
                  <a:cs typeface="Pretendard SemiBold" charset="0"/>
                </a:endParaRPr>
              </a:p>
            </p:txBody>
          </p:sp>
        </p:grpSp>
        <p:sp>
          <p:nvSpPr>
            <p:cNvPr id="116" name="TextBox 115"/>
            <p:cNvSpPr txBox="1">
              <a:spLocks/>
            </p:cNvSpPr>
            <p:nvPr/>
          </p:nvSpPr>
          <p:spPr>
            <a:xfrm rot="0">
              <a:off x="9823450" y="3060065"/>
              <a:ext cx="1704975" cy="7359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ko-KR" altLang="en-US" sz="19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활용방안 및</a:t>
              </a:r>
              <a:r>
                <a:rPr lang="en-US" altLang="ko-KR" sz="19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/>
              </a:r>
              <a:br>
                <a:rPr lang="en-US" altLang="ko-KR" sz="19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</a:br>
              <a:r>
                <a:rPr lang="ko-KR" altLang="en-US" sz="19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기대 효과</a:t>
              </a:r>
              <a:endPara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117" name="TextBox 116"/>
            <p:cNvSpPr txBox="1">
              <a:spLocks/>
            </p:cNvSpPr>
            <p:nvPr/>
          </p:nvSpPr>
          <p:spPr>
            <a:xfrm rot="0">
              <a:off x="9617075" y="4453255"/>
              <a:ext cx="2122805" cy="8883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ctr" latinLnBrk="0">
                <a:lnSpc>
                  <a:spcPct val="110000"/>
                </a:lnSpc>
                <a:buFontTx/>
                <a:buNone/>
                <a:defRPr/>
              </a:pPr>
              <a:r>
                <a: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사용자의 위치</a:t>
              </a:r>
              <a:r>
                <a:rPr lang="en-US" altLang="ko-KR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,</a:t>
              </a:r>
              <a:r>
                <a: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검색</a:t>
              </a:r>
              <a:r>
                <a:rPr lang="en-US" altLang="ko-KR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,</a:t>
              </a:r>
              <a:r>
                <a: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선택 등의 데이터를 수집</a:t>
              </a:r>
              <a:r>
                <a:rPr lang="en-US" altLang="ko-KR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,</a:t>
              </a:r>
              <a:r>
                <a: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분석하여 연계 서비스</a:t>
              </a:r>
              <a:r>
                <a:rPr lang="en-US" altLang="ko-KR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광고 추천 패턴 등 활용가능</a:t>
              </a:r>
              <a:endParaRPr lang="ko-KR" altLang="en-US" sz="12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cxnSp>
          <p:nvCxnSpPr>
            <p:cNvPr id="118" name="직선 연결선 117"/>
            <p:cNvCxnSpPr>
              <a:cxnSpLocks/>
            </p:cNvCxnSpPr>
            <p:nvPr/>
          </p:nvCxnSpPr>
          <p:spPr>
            <a:xfrm rot="0">
              <a:off x="10574020" y="4260215"/>
              <a:ext cx="208915" cy="635"/>
            </a:xfrm>
            <a:prstGeom prst="line"/>
            <a:ln w="19050" cap="flat" cmpd="sng">
              <a:solidFill>
                <a:srgbClr val="3378C8">
                  <a:alpha val="10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95300" y="4447540"/>
            <a:ext cx="2122170" cy="88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사용자의 위치정보와 날씨정보를 활용해 은 음식점을 선정해 사용자의 선택 부담을 낮춘다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7339330" y="4453255"/>
            <a:ext cx="2122170" cy="149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프론트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지도표시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위치요청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UI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백엔드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API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처리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추천엔진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API: Geolocation,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단기예보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카카오 맵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ko-KR" altLang="en-US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 선택 히스토리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42745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</a:t>
              </a: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2538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0" y="3519045"/>
              <a:ext cx="20307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49268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97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549777"/>
            <a:chOff x="7579407" y="4251550"/>
            <a:chExt cx="2713128" cy="549777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21588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59728" y="3568254"/>
            <a:ext cx="219805" cy="201488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28594" y="5128843"/>
            <a:ext cx="191121" cy="20386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5008404" y="4284633"/>
            <a:ext cx="2167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수행 절차 및 방법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제시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더 효과적으로 전달하는 방법 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수정하여 작성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기획 단계에서 도출된 주제와 아이디어를 기반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실제 프로젝트를 수행한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세부적인 기간과 활동 내용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865232"/>
              </p:ext>
            </p:extLst>
          </p:nvPr>
        </p:nvGraphicFramePr>
        <p:xfrm>
          <a:off x="524528" y="2832100"/>
          <a:ext cx="11218265" cy="3629919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12/1(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304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필요 데이터  및 수집 절차 정의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06923" cy="326913"/>
            <a:chOff x="7383738" y="3841157"/>
            <a:chExt cx="170692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데이터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정제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모형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서비스 시스템 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845987" cy="326914"/>
            <a:chOff x="7383738" y="5427069"/>
            <a:chExt cx="1845987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845987" cy="326914"/>
              <a:chOff x="4665552" y="3307757"/>
              <a:chExt cx="1845987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928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4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플랫폼 구현</a:t>
                </a:r>
                <a:endParaRPr lang="en-US" altLang="ko-KR" sz="1200" spc="-4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CD9E89F2-4F68-4AB0-9218-C8C97D5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875A498E-9C30-4671-B11F-3B155E32CF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7CEA8883-0F4B-4DB0-971A-94C46EEC90A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6327-B0AC-4D03-A193-7743604709E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F0A513-9B14-497F-BC03-3210C5A2B34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990B0-257D-4C18-9F11-EA1017E052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733FF1-2B3D-42ED-8414-C6582C2949E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325066-996C-4E95-9410-7CF4C96E5C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5C09441-2A3E-4906-8BF0-E159DB95AF5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EF61B-33A0-4FBC-B080-8A93B9656EA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8E093890-2EE3-4E78-BDBB-33A84EBE747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BBC-4C40-4632-A4FE-686FF7EB6F7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82664-69B5-427E-BA23-8C3524BA2CC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906047-2341-4DF0-A889-BBFDB3E846F1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78650F1-F874-4A8C-8A3B-CBD9CA525372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F7C46A-41A9-400A-9348-4FF0956A6DBB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CCE2A8-F46E-453B-8CD4-E4BAC3ECEED5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4D22397-E541-4ADC-8489-A3EAE7F25516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6A4D2C-BB03-4943-8E50-803F44FD7393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7CCE2CD3-2334-48D2-995A-80C071F8AE21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0615D-5100-4772-8157-9520B79D4B1A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B9B0DB5-AA63-4838-951A-95EB53BEB930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775A5D0-58F7-4800-812F-36CC50101E75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C45DC4-5BDD-444E-95DE-8BD0163A6869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F29CA161-4661-46A6-AC17-91EFBC91BFF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AED09D81-609A-4068-AF6D-10DE809740D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497D4-9643-4FA1-97C0-55937758E7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58385-BD94-4106-A03A-8FC5F872599B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3EF3B7-00BC-45A7-8D1E-49E43808A490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7D6FB30-DAE0-4448-82DB-F095305242DF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040851-8072-4546-BA20-A58621A2F09D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49759865-28D2-416F-BCE0-234E540E751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A263BE4-5238-4E9A-98CA-EDBC06668A8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4849B3-076F-40E8-ABE7-ED5EE16BA5A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892870-016D-4BED-93D4-E6BE403D8ECF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73BD6B-088C-4D75-A94A-E96E5F7DAAAC}"/>
              </a:ext>
            </a:extLst>
          </p:cNvPr>
          <p:cNvGrpSpPr/>
          <p:nvPr/>
        </p:nvGrpSpPr>
        <p:grpSpPr>
          <a:xfrm>
            <a:off x="2638615" y="819535"/>
            <a:ext cx="9095030" cy="2577642"/>
            <a:chOff x="2665127" y="819535"/>
            <a:chExt cx="9095030" cy="2577642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5D3617C-CDE1-4475-BFA4-81CD6966330C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7C69F9-3903-41FF-935B-BD39ADAC4782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41C435-76F0-4587-849F-64DBFBEA123D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165DD2-C280-4CAB-9083-DE27C95A8D32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AAF455A-5FDB-4B49-AC8B-69514DE07B9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B7367E4-7A83-473C-905D-1A9F8B974DB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88622-2D4C-4A21-A069-F769EAA6B6D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EBD41A-4551-419D-80EF-BBDA0E6D06F2}"/>
                </a:ext>
              </a:extLst>
            </p:cNvPr>
            <p:cNvSpPr/>
            <p:nvPr/>
          </p:nvSpPr>
          <p:spPr>
            <a:xfrm>
              <a:off x="9981283" y="819535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67AE788-5C53-4F09-8B77-53DB07B4CBDE}"/>
              </a:ext>
            </a:extLst>
          </p:cNvPr>
          <p:cNvGrpSpPr/>
          <p:nvPr/>
        </p:nvGrpSpPr>
        <p:grpSpPr>
          <a:xfrm>
            <a:off x="2638615" y="846667"/>
            <a:ext cx="9095030" cy="5361276"/>
            <a:chOff x="2665127" y="846667"/>
            <a:chExt cx="9095030" cy="53612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329104FD-80CD-4ED1-871C-8724D4EE98B8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24D613-5321-4233-845A-DEB6A0964A72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2" name="육각형 51">
                <a:extLst>
                  <a:ext uri="{FF2B5EF4-FFF2-40B4-BE49-F238E27FC236}">
                    <a16:creationId xmlns:a16="http://schemas.microsoft.com/office/drawing/2014/main" id="{B4BBF74B-8704-4C82-9338-0B548B62D3D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C7C3C972-FF43-4006-852F-CA35EBC06B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5B7C623-5C7E-4B0C-9FAB-99B615DFC72C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491895-4974-4993-B45C-81EA4642AE14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D0B6BA-1DC8-4D91-A7F8-6499B0C5BCCE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4B0B85E-7F25-4F67-A8AD-17AFA60E0671}"/>
                </a:ext>
              </a:extLst>
            </p:cNvPr>
            <p:cNvSpPr/>
            <p:nvPr/>
          </p:nvSpPr>
          <p:spPr>
            <a:xfrm>
              <a:off x="8735376" y="846667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86D0B2E5-E636-4944-9183-4C06F26BD6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12623BA6-AEED-49E4-B917-E8AD7765671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" name="_x278651016" descr="EMB0000378c3f3d">
              <a:extLst>
                <a:ext uri="{FF2B5EF4-FFF2-40B4-BE49-F238E27FC236}">
                  <a16:creationId xmlns:a16="http://schemas.microsoft.com/office/drawing/2014/main" id="{8B8AEA81-A975-47FB-AD8F-6A3DAF09A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래픽 23">
              <a:extLst>
                <a:ext uri="{FF2B5EF4-FFF2-40B4-BE49-F238E27FC236}">
                  <a16:creationId xmlns:a16="http://schemas.microsoft.com/office/drawing/2014/main" id="{ED158CE9-27B6-4598-9494-007AD5AB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74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CD9E89F2-4F68-4AB0-9218-C8C97D5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875A498E-9C30-4671-B11F-3B155E32CF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7CEA8883-0F4B-4DB0-971A-94C46EEC90A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6327-B0AC-4D03-A193-7743604709E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F0A513-9B14-497F-BC03-3210C5A2B34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990B0-257D-4C18-9F11-EA1017E052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733FF1-2B3D-42ED-8414-C6582C2949E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325066-996C-4E95-9410-7CF4C96E5C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5C09441-2A3E-4906-8BF0-E159DB95AF5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EF61B-33A0-4FBC-B080-8A93B9656EA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8E093890-2EE3-4E78-BDBB-33A84EBE747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BBC-4C40-4632-A4FE-686FF7EB6F7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82664-69B5-427E-BA23-8C3524BA2CC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906047-2341-4DF0-A889-BBFDB3E846F1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78650F1-F874-4A8C-8A3B-CBD9CA525372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F7C46A-41A9-400A-9348-4FF0956A6DBB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CCE2A8-F46E-453B-8CD4-E4BAC3ECEED5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4D22397-E541-4ADC-8489-A3EAE7F25516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6A4D2C-BB03-4943-8E50-803F44FD7393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7CCE2CD3-2334-48D2-995A-80C071F8AE21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0615D-5100-4772-8157-9520B79D4B1A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B9B0DB5-AA63-4838-951A-95EB53BEB930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775A5D0-58F7-4800-812F-36CC50101E75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C45DC4-5BDD-444E-95DE-8BD0163A6869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F29CA161-4661-46A6-AC17-91EFBC91BFF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AED09D81-609A-4068-AF6D-10DE809740D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497D4-9643-4FA1-97C0-55937758E7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58385-BD94-4106-A03A-8FC5F872599B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3EF3B7-00BC-45A7-8D1E-49E43808A490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7D6FB30-DAE0-4448-82DB-F095305242DF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040851-8072-4546-BA20-A58621A2F09D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49759865-28D2-416F-BCE0-234E540E751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A263BE4-5238-4E9A-98CA-EDBC06668A8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4849B3-076F-40E8-ABE7-ED5EE16BA5A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892870-016D-4BED-93D4-E6BE403D8ECF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73BD6B-088C-4D75-A94A-E96E5F7DAAAC}"/>
              </a:ext>
            </a:extLst>
          </p:cNvPr>
          <p:cNvGrpSpPr/>
          <p:nvPr/>
        </p:nvGrpSpPr>
        <p:grpSpPr>
          <a:xfrm>
            <a:off x="2638615" y="819535"/>
            <a:ext cx="9095030" cy="2577642"/>
            <a:chOff x="2665127" y="819535"/>
            <a:chExt cx="9095030" cy="2577642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5D3617C-CDE1-4475-BFA4-81CD6966330C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7C69F9-3903-41FF-935B-BD39ADAC4782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41C435-76F0-4587-849F-64DBFBEA123D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165DD2-C280-4CAB-9083-DE27C95A8D32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AAF455A-5FDB-4B49-AC8B-69514DE07B9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B7367E4-7A83-473C-905D-1A9F8B974DB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88622-2D4C-4A21-A069-F769EAA6B6D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EBD41A-4551-419D-80EF-BBDA0E6D06F2}"/>
                </a:ext>
              </a:extLst>
            </p:cNvPr>
            <p:cNvSpPr/>
            <p:nvPr/>
          </p:nvSpPr>
          <p:spPr>
            <a:xfrm>
              <a:off x="9981283" y="819535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67AE788-5C53-4F09-8B77-53DB07B4CBDE}"/>
              </a:ext>
            </a:extLst>
          </p:cNvPr>
          <p:cNvGrpSpPr/>
          <p:nvPr/>
        </p:nvGrpSpPr>
        <p:grpSpPr>
          <a:xfrm>
            <a:off x="2638615" y="846667"/>
            <a:ext cx="9095030" cy="5361276"/>
            <a:chOff x="2665127" y="846667"/>
            <a:chExt cx="9095030" cy="53612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329104FD-80CD-4ED1-871C-8724D4EE98B8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24D613-5321-4233-845A-DEB6A0964A72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2" name="육각형 51">
                <a:extLst>
                  <a:ext uri="{FF2B5EF4-FFF2-40B4-BE49-F238E27FC236}">
                    <a16:creationId xmlns:a16="http://schemas.microsoft.com/office/drawing/2014/main" id="{B4BBF74B-8704-4C82-9338-0B548B62D3D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C7C3C972-FF43-4006-852F-CA35EBC06B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5B7C623-5C7E-4B0C-9FAB-99B615DFC72C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491895-4974-4993-B45C-81EA4642AE14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D0B6BA-1DC8-4D91-A7F8-6499B0C5BCCE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4B0B85E-7F25-4F67-A8AD-17AFA60E0671}"/>
                </a:ext>
              </a:extLst>
            </p:cNvPr>
            <p:cNvSpPr/>
            <p:nvPr/>
          </p:nvSpPr>
          <p:spPr>
            <a:xfrm>
              <a:off x="8735376" y="846667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86D0B2E5-E636-4944-9183-4C06F26BD6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12623BA6-AEED-49E4-B917-E8AD7765671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" name="_x278651016" descr="EMB0000378c3f3d">
              <a:extLst>
                <a:ext uri="{FF2B5EF4-FFF2-40B4-BE49-F238E27FC236}">
                  <a16:creationId xmlns:a16="http://schemas.microsoft.com/office/drawing/2014/main" id="{8B8AEA81-A975-47FB-AD8F-6A3DAF09A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래픽 23">
              <a:extLst>
                <a:ext uri="{FF2B5EF4-FFF2-40B4-BE49-F238E27FC236}">
                  <a16:creationId xmlns:a16="http://schemas.microsoft.com/office/drawing/2014/main" id="{ED158CE9-27B6-4598-9494-007AD5AB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19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30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69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6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173"/>
            <a:ext cx="2207558" cy="2580827"/>
            <a:chOff x="0" y="4277173"/>
            <a:chExt cx="2207558" cy="258082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916"/>
              <a:ext cx="2207558" cy="2214084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D919C341-0475-47A3-A32D-20168295F5F6}"/>
              </a:ext>
            </a:extLst>
          </p:cNvPr>
          <p:cNvSpPr/>
          <p:nvPr/>
        </p:nvSpPr>
        <p:spPr>
          <a:xfrm>
            <a:off x="473892" y="2150430"/>
            <a:ext cx="11244216" cy="4263070"/>
          </a:xfrm>
          <a:custGeom>
            <a:avLst/>
            <a:gdLst>
              <a:gd name="connsiteX0" fmla="*/ 0 w 7434265"/>
              <a:gd name="connsiteY0" fmla="*/ 0 h 4167182"/>
              <a:gd name="connsiteX1" fmla="*/ 7434265 w 7434265"/>
              <a:gd name="connsiteY1" fmla="*/ 0 h 4167182"/>
              <a:gd name="connsiteX2" fmla="*/ 7434265 w 7434265"/>
              <a:gd name="connsiteY2" fmla="*/ 4167182 h 4167182"/>
              <a:gd name="connsiteX3" fmla="*/ 0 w 7434265"/>
              <a:gd name="connsiteY3" fmla="*/ 4167182 h 416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34265" h="4167182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153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결과물에 대한 프로젝트 기획 의도와의 부합 정도 및 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훈련생의 자체적인 평가 의견과 느낀 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900049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 기획의 관점에서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결과물에 대한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결과물의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추후 개선점이나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보완할 점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47148" y="2900049"/>
              <a:ext cx="4622911" cy="397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잘한 부분과 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7" y="3457087"/>
              <a:ext cx="28350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 향상을 위해 모델 추후 개선 필요</a:t>
              </a:r>
              <a:endParaRPr lang="ko-KR" altLang="en-US" sz="1200" dirty="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13</Pages>
  <Paragraphs>171</Paragraphs>
  <Words>816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김준영</dc:creator>
  <cp:lastModifiedBy>최연흠</cp:lastModifiedBy>
  <dc:title>PowerPoint 프레젠테이션</dc:title>
  <cp:version>9.103.82.44099</cp:version>
  <dcterms:modified xsi:type="dcterms:W3CDTF">2025-12-04T08:14:25Z</dcterms:modified>
</cp:coreProperties>
</file>