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92" r:id="rId14"/>
  </p:sldMasterIdLst>
  <p:notesMasterIdLst>
    <p:notesMasterId r:id="rId16"/>
  </p:notesMasterIdLst>
  <p:sldIdLst>
    <p:sldId id="289" r:id="rId18"/>
    <p:sldId id="291" r:id="rId19"/>
    <p:sldId id="333" r:id="rId20"/>
    <p:sldId id="365" r:id="rId21"/>
    <p:sldId id="372" r:id="rId22"/>
    <p:sldId id="364" r:id="rId23"/>
    <p:sldId id="294" r:id="rId24"/>
    <p:sldId id="295" r:id="rId25"/>
    <p:sldId id="375" r:id="rId26"/>
    <p:sldId id="348" r:id="rId27"/>
    <p:sldId id="376" r:id="rId28"/>
    <p:sldId id="380" r:id="rId29"/>
    <p:sldId id="377" r:id="rId30"/>
    <p:sldId id="378" r:id="rId31"/>
    <p:sldId id="379" r:id="rId32"/>
    <p:sldId id="381" r:id="rId33"/>
    <p:sldId id="382" r:id="rId34"/>
    <p:sldId id="383" r:id="rId35"/>
    <p:sldId id="387" r:id="rId36"/>
    <p:sldId id="385" r:id="rId37"/>
    <p:sldId id="384" r:id="rId38"/>
    <p:sldId id="386" r:id="rId39"/>
    <p:sldId id="398" r:id="rId40"/>
    <p:sldId id="388" r:id="rId41"/>
    <p:sldId id="399" r:id="rId42"/>
    <p:sldId id="392" r:id="rId43"/>
    <p:sldId id="400" r:id="rId44"/>
    <p:sldId id="335" r:id="rId45"/>
    <p:sldId id="390" r:id="rId46"/>
    <p:sldId id="397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7" userDrawn="1">
          <p15:clr>
            <a:srgbClr val="A4A3A4"/>
          </p15:clr>
        </p15:guide>
        <p15:guide id="2" pos="322" userDrawn="1">
          <p15:clr>
            <a:srgbClr val="A4A3A4"/>
          </p15:clr>
        </p15:guide>
        <p15:guide id="3" pos="7398" userDrawn="1">
          <p15:clr>
            <a:srgbClr val="A4A3A4"/>
          </p15:clr>
        </p15:guide>
        <p15:guide id="4" pos="3837" userDrawn="1">
          <p15:clr>
            <a:srgbClr val="A4A3A4"/>
          </p15:clr>
        </p15:guide>
        <p15:guide id="5" orient="horz" pos="40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E60000"/>
    <a:srgbClr val="000000"/>
    <a:srgbClr val="6E66D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28" autoAdjust="0"/>
    <p:restoredTop sz="85059" autoAdjust="0"/>
  </p:normalViewPr>
  <p:slideViewPr>
    <p:cSldViewPr snapToGrid="1" snapToObjects="1">
      <p:cViewPr>
        <p:scale>
          <a:sx n="100" d="100"/>
          <a:sy n="100" d="100"/>
        </p:scale>
        <p:origin x="636" y="-54"/>
      </p:cViewPr>
      <p:guideLst>
        <p:guide orient="horz" pos="1567"/>
        <p:guide pos="322"/>
        <p:guide pos="7398"/>
        <p:guide pos="3837"/>
        <p:guide orient="horz" pos="40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notesMaster" Target="notesMasters/notesMaster1.xml"></Relationship><Relationship Id="rId18" Type="http://schemas.openxmlformats.org/officeDocument/2006/relationships/slide" Target="slides/slide1.xml"></Relationship><Relationship Id="rId19" Type="http://schemas.openxmlformats.org/officeDocument/2006/relationships/slide" Target="slides/slide2.xml"></Relationship><Relationship Id="rId20" Type="http://schemas.openxmlformats.org/officeDocument/2006/relationships/slide" Target="slides/slide3.xml"></Relationship><Relationship Id="rId21" Type="http://schemas.openxmlformats.org/officeDocument/2006/relationships/slide" Target="slides/slide4.xml"></Relationship><Relationship Id="rId22" Type="http://schemas.openxmlformats.org/officeDocument/2006/relationships/slide" Target="slides/slide5.xml"></Relationship><Relationship Id="rId23" Type="http://schemas.openxmlformats.org/officeDocument/2006/relationships/slide" Target="slides/slide6.xml"></Relationship><Relationship Id="rId24" Type="http://schemas.openxmlformats.org/officeDocument/2006/relationships/slide" Target="slides/slide7.xml"></Relationship><Relationship Id="rId25" Type="http://schemas.openxmlformats.org/officeDocument/2006/relationships/slide" Target="slides/slide8.xml"></Relationship><Relationship Id="rId26" Type="http://schemas.openxmlformats.org/officeDocument/2006/relationships/slide" Target="slides/slide9.xml"></Relationship><Relationship Id="rId27" Type="http://schemas.openxmlformats.org/officeDocument/2006/relationships/slide" Target="slides/slide10.xml"></Relationship><Relationship Id="rId28" Type="http://schemas.openxmlformats.org/officeDocument/2006/relationships/slide" Target="slides/slide11.xml"></Relationship><Relationship Id="rId29" Type="http://schemas.openxmlformats.org/officeDocument/2006/relationships/slide" Target="slides/slide12.xml"></Relationship><Relationship Id="rId30" Type="http://schemas.openxmlformats.org/officeDocument/2006/relationships/slide" Target="slides/slide13.xml"></Relationship><Relationship Id="rId31" Type="http://schemas.openxmlformats.org/officeDocument/2006/relationships/slide" Target="slides/slide14.xml"></Relationship><Relationship Id="rId32" Type="http://schemas.openxmlformats.org/officeDocument/2006/relationships/slide" Target="slides/slide15.xml"></Relationship><Relationship Id="rId33" Type="http://schemas.openxmlformats.org/officeDocument/2006/relationships/slide" Target="slides/slide16.xml"></Relationship><Relationship Id="rId34" Type="http://schemas.openxmlformats.org/officeDocument/2006/relationships/slide" Target="slides/slide17.xml"></Relationship><Relationship Id="rId35" Type="http://schemas.openxmlformats.org/officeDocument/2006/relationships/slide" Target="slides/slide18.xml"></Relationship><Relationship Id="rId36" Type="http://schemas.openxmlformats.org/officeDocument/2006/relationships/slide" Target="slides/slide19.xml"></Relationship><Relationship Id="rId37" Type="http://schemas.openxmlformats.org/officeDocument/2006/relationships/slide" Target="slides/slide20.xml"></Relationship><Relationship Id="rId38" Type="http://schemas.openxmlformats.org/officeDocument/2006/relationships/slide" Target="slides/slide21.xml"></Relationship><Relationship Id="rId39" Type="http://schemas.openxmlformats.org/officeDocument/2006/relationships/slide" Target="slides/slide22.xml"></Relationship><Relationship Id="rId40" Type="http://schemas.openxmlformats.org/officeDocument/2006/relationships/slide" Target="slides/slide23.xml"></Relationship><Relationship Id="rId41" Type="http://schemas.openxmlformats.org/officeDocument/2006/relationships/slide" Target="slides/slide24.xml"></Relationship><Relationship Id="rId42" Type="http://schemas.openxmlformats.org/officeDocument/2006/relationships/slide" Target="slides/slide25.xml"></Relationship><Relationship Id="rId43" Type="http://schemas.openxmlformats.org/officeDocument/2006/relationships/slide" Target="slides/slide26.xml"></Relationship><Relationship Id="rId44" Type="http://schemas.openxmlformats.org/officeDocument/2006/relationships/slide" Target="slides/slide27.xml"></Relationship><Relationship Id="rId45" Type="http://schemas.openxmlformats.org/officeDocument/2006/relationships/slide" Target="slides/slide28.xml"></Relationship><Relationship Id="rId46" Type="http://schemas.openxmlformats.org/officeDocument/2006/relationships/slide" Target="slides/slide29.xml"></Relationship><Relationship Id="rId47" Type="http://schemas.openxmlformats.org/officeDocument/2006/relationships/slide" Target="slides/slide30.xml"></Relationship><Relationship Id="rId58" Type="http://schemas.openxmlformats.org/officeDocument/2006/relationships/viewProps" Target="viewProps.xml"></Relationship><Relationship Id="rId59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D9562-6110-4F8B-BDF1-EEA3A3FF54C6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BCE2C-94A3-4A8C-8D80-7DF8828A58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483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slide" Target="../slides/slide11.xml"></Relationship><Relationship Id="rId2" Type="http://schemas.openxmlformats.org/officeDocument/2006/relationships/notesMaster" Target="../notesMasters/notesMaster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slide" Target="../slides/slide13.xml"></Relationship><Relationship Id="rId2" Type="http://schemas.openxmlformats.org/officeDocument/2006/relationships/notesMaster" Target="../notesMasters/notesMaster1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_rels/notesSlide29.xml.rels><?xml version="1.0" encoding="UTF-8"?>
<Relationships xmlns="http://schemas.openxmlformats.org/package/2006/relationships"><Relationship Id="rId1" Type="http://schemas.openxmlformats.org/officeDocument/2006/relationships/slide" Target="../slides/slide29.xml"></Relationship><Relationship Id="rId2" Type="http://schemas.openxmlformats.org/officeDocument/2006/relationships/notesMaster" Target="../notesMasters/notesMaster1.xml"></Relationship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네이버 리뷰에는 평점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E2C-94A3-4A8C-8D80-7DF8828A588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969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r>
              <a:rPr lang="ko-KR" altLang="en-US"/>
              <a:t>최신 만족도를 반영 할 수 있는 최근 10개 리뷰를 수집</a:t>
            </a:r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035" cy="308673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7035" cy="3601085"/>
          </a:xfrm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r>
              <a:rPr lang="ko-KR" altLang="en-US"/>
              <a:t>음식점 추천 품질을 높이는데 활용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930" y="8685530"/>
            <a:ext cx="2972435" cy="459105"/>
          </a:xfrm>
        </p:spPr>
        <p:txBody>
          <a:bodyPr/>
          <a:lstStyle/>
          <a:p>
            <a:fld id="{173BCE2C-94A3-4A8C-8D80-7DF8828A588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459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r>
              <a:rPr lang="ko-KR" altLang="en-US"/>
              <a:t>예측 품질을 높이기 위해 konlpy로 명사,형용사,동사만 추출해 토큰화 하였으며</a:t>
            </a:r>
            <a:endParaRPr lang="ko-KR" altLang="en-US"/>
          </a:p>
          <a:p>
            <a:pPr marL="0" indent="0"/>
            <a:r>
              <a:rPr lang="ko-KR" altLang="en-US"/>
              <a:t>단어의 빈도와 희귀도를 고려하는 TF-IDF벡터화 사용</a:t>
            </a:r>
            <a:endParaRPr lang="ko-KR" altLang="en-US"/>
          </a:p>
          <a:p>
            <a:pPr marL="0" indent="0"/>
            <a:r>
              <a:rPr lang="ko-KR" altLang="en-US"/>
              <a:t>소량의 데이터셋을 라벨링하여 재학습시키는 준지도학습 방식 사용</a:t>
            </a:r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지도 객체가 </a:t>
            </a:r>
            <a:r>
              <a:rPr lang="ko-KR" altLang="en-US" dirty="0" err="1"/>
              <a:t>생성되어야만</a:t>
            </a:r>
            <a:r>
              <a:rPr lang="ko-KR" altLang="en-US" dirty="0"/>
              <a:t> 후속 기능 실행</a:t>
            </a:r>
          </a:p>
          <a:p>
            <a:r>
              <a:rPr lang="ko-KR" altLang="en-US" dirty="0"/>
              <a:t>사용자에게 즉시 보이는 화면을 먼저 확보하여 초기 </a:t>
            </a:r>
            <a:r>
              <a:rPr lang="en-US" altLang="ko-KR" dirty="0"/>
              <a:t>UX </a:t>
            </a:r>
            <a:r>
              <a:rPr lang="ko-KR" altLang="en-US" dirty="0"/>
              <a:t>안정성을 향상</a:t>
            </a:r>
          </a:p>
          <a:p>
            <a:endParaRPr lang="en-US" altLang="ko-KR" dirty="0"/>
          </a:p>
          <a:p>
            <a:r>
              <a:rPr lang="ko-KR" altLang="en-US" dirty="0"/>
              <a:t>데이터 의존 기능은 백그라운드에서 외부</a:t>
            </a:r>
            <a:r>
              <a:rPr lang="en-US" altLang="ko-KR" dirty="0"/>
              <a:t>, </a:t>
            </a:r>
            <a:r>
              <a:rPr lang="ko-KR" altLang="en-US" dirty="0"/>
              <a:t>내부 </a:t>
            </a:r>
            <a:r>
              <a:rPr lang="en-US" altLang="ko-KR" dirty="0" err="1"/>
              <a:t>api</a:t>
            </a:r>
            <a:r>
              <a:rPr lang="ko-KR" altLang="en-US" dirty="0"/>
              <a:t>가 병렬로 처리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E2C-94A3-4A8C-8D80-7DF8828A588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2605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호출 후 해당 날씨를 </a:t>
            </a:r>
            <a:r>
              <a:rPr lang="ko-KR" altLang="en-US" dirty="0" err="1"/>
              <a:t>캐싱해</a:t>
            </a:r>
            <a:r>
              <a:rPr lang="ko-KR" altLang="en-US" dirty="0"/>
              <a:t> 불필요한 호출을 줄였음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E2C-94A3-4A8C-8D80-7DF8828A588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155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음식 클릭 </a:t>
            </a:r>
            <a:r>
              <a:rPr lang="ko-KR" altLang="en-US" dirty="0" err="1"/>
              <a:t>안해도</a:t>
            </a:r>
            <a:r>
              <a:rPr lang="ko-KR" altLang="en-US" dirty="0"/>
              <a:t> 음식점 목록 추천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E2C-94A3-4A8C-8D80-7DF8828A588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020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정답 라벨이 없는 날씨 데이터 특성상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유사한 상황을 묶는 군집 기반 접근이 더 적합하다고 판단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사용자의 현재 날씨와 시간을 하나의 상황으로 해석하고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가장 유사한 패턴의 군집을 찾아 음식 카테고리를 추천하는 구조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E2C-94A3-4A8C-8D80-7DF8828A588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23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피드백을 통해 추가함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BCE2C-94A3-4A8C-8D80-7DF8828A588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5359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r>
              <a:rPr lang="ko-KR" altLang="en-US"/>
              <a:t>비지도 학습(k-means)이라 정답 보장이 없음 / 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클러스터 수(K) 설정이 주관적 / 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복잡한 비선형 패턴 표현(LR)에는 한계</a:t>
            </a:r>
            <a:endParaRPr lang="ko-KR" altLang="en-US"/>
          </a:p>
          <a:p>
            <a:pPr marL="0" indent="0"/>
            <a:r>
              <a:rPr lang="ko-KR" altLang="en-US"/>
              <a:t>날씨 데이터는 명확한 정답 라벨이 없고,</a:t>
            </a:r>
            <a:endParaRPr lang="ko-KR" altLang="en-US"/>
          </a:p>
          <a:p>
            <a:pPr marL="0" indent="0"/>
            <a:r>
              <a:rPr lang="ko-KR" altLang="en-US"/>
              <a:t> 상황 패턴을 묶는 것이 목적이었기 때문에 </a:t>
            </a:r>
            <a:endParaRPr lang="ko-KR" altLang="en-US"/>
          </a:p>
          <a:p>
            <a:pPr marL="0" indent="0"/>
            <a:r>
              <a:rPr lang="ko-KR" altLang="en-US"/>
              <a:t>K-Means가 문제 정의에 적합한 모델이었다.</a:t>
            </a:r>
            <a:endParaRPr lang="ko-KR" altLang="en-US"/>
          </a:p>
          <a:p>
            <a:pPr marL="0" indent="0"/>
            <a:r>
              <a:rPr lang="ko-KR" altLang="en-US"/>
              <a:t>"최신/고성능"은 아니지만, </a:t>
            </a:r>
            <a:endParaRPr lang="ko-KR" altLang="en-US"/>
          </a:p>
          <a:p>
            <a:pPr marL="0" indent="0"/>
            <a:r>
              <a:rPr lang="ko-KR" altLang="en-US"/>
              <a:t>프로젝트 목적·데이터 조건·설명 가능성 측면에서는 충분히 합리적인 선택이었다고 생각.</a:t>
            </a:r>
            <a:endParaRPr lang="ko-KR" altLang="en-US"/>
          </a:p>
          <a:p>
            <a:pPr marL="0" indent="0"/>
            <a:endParaRPr lang="ko-KR" altLang="en-US"/>
          </a:p>
          <a:p>
            <a:pPr marL="0" indent="0"/>
            <a:r>
              <a:rPr lang="ko-KR" altLang="en-US"/>
              <a:t>‘서비스 문제를 어떻게 정의하고 해결했는가’에 초점</a:t>
            </a:r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8" Type="http://schemas.openxmlformats.org/officeDocument/2006/relationships/image" Target="../media/image7.svg"></Relationship><Relationship Id="rId13" Type="http://schemas.openxmlformats.org/officeDocument/2006/relationships/image" Target="../media/image12.png"></Relationship><Relationship Id="rId18" Type="http://schemas.openxmlformats.org/officeDocument/2006/relationships/image" Target="../media/image17.svg"></Relationship><Relationship Id="rId3" Type="http://schemas.openxmlformats.org/officeDocument/2006/relationships/image" Target="../media/image2.svg"></Relationship><Relationship Id="rId7" Type="http://schemas.openxmlformats.org/officeDocument/2006/relationships/image" Target="../media/image6.png"></Relationship><Relationship Id="rId12" Type="http://schemas.openxmlformats.org/officeDocument/2006/relationships/image" Target="../media/image11.svg"></Relationship><Relationship Id="rId17" Type="http://schemas.openxmlformats.org/officeDocument/2006/relationships/image" Target="../media/image16.png"></Relationship><Relationship Id="rId2" Type="http://schemas.openxmlformats.org/officeDocument/2006/relationships/image" Target="../media/image1.png"></Relationship><Relationship Id="rId16" Type="http://schemas.openxmlformats.org/officeDocument/2006/relationships/image" Target="../media/image15.svg"></Relationship><Relationship Id="rId6" Type="http://schemas.openxmlformats.org/officeDocument/2006/relationships/image" Target="../media/image5.png"></Relationship><Relationship Id="rId11" Type="http://schemas.openxmlformats.org/officeDocument/2006/relationships/image" Target="../media/image10.png"></Relationship><Relationship Id="rId5" Type="http://schemas.openxmlformats.org/officeDocument/2006/relationships/image" Target="../media/image4.svg"></Relationship><Relationship Id="rId15" Type="http://schemas.openxmlformats.org/officeDocument/2006/relationships/image" Target="../media/image14.png"></Relationship><Relationship Id="rId10" Type="http://schemas.openxmlformats.org/officeDocument/2006/relationships/image" Target="../media/image9.svg"></Relationship><Relationship Id="rId4" Type="http://schemas.openxmlformats.org/officeDocument/2006/relationships/image" Target="../media/image3.png"></Relationship><Relationship Id="rId9" Type="http://schemas.openxmlformats.org/officeDocument/2006/relationships/image" Target="../media/image8.png"></Relationship><Relationship Id="rId14" Type="http://schemas.openxmlformats.org/officeDocument/2006/relationships/image" Target="../media/image13.svg"></Relationship><Relationship Id="rId19" Type="http://schemas.openxmlformats.org/officeDocument/2006/relationships/slideLayout" Target="../slideLayouts/slideLayout12.xml"></Relationship></Relationships>
</file>

<file path=ppt/slides/_rels/slide2.xml.rels><?xml version="1.0" encoding="UTF-8"?>
<Relationships xmlns="http://schemas.openxmlformats.org/package/2006/relationships"><Relationship Id="rId8" Type="http://schemas.openxmlformats.org/officeDocument/2006/relationships/image" Target="../media/image24.png"></Relationship><Relationship Id="rId13" Type="http://schemas.openxmlformats.org/officeDocument/2006/relationships/image" Target="../media/image29.svg"></Relationship><Relationship Id="rId18" Type="http://schemas.openxmlformats.org/officeDocument/2006/relationships/image" Target="../media/image34.png"></Relationship><Relationship Id="rId3" Type="http://schemas.openxmlformats.org/officeDocument/2006/relationships/image" Target="../media/image19.svg"></Relationship><Relationship Id="rId21" Type="http://schemas.openxmlformats.org/officeDocument/2006/relationships/image" Target="../media/image37.svg"></Relationship><Relationship Id="rId7" Type="http://schemas.openxmlformats.org/officeDocument/2006/relationships/image" Target="../media/image23.svg"></Relationship><Relationship Id="rId12" Type="http://schemas.openxmlformats.org/officeDocument/2006/relationships/image" Target="../media/image28.png"></Relationship><Relationship Id="rId17" Type="http://schemas.openxmlformats.org/officeDocument/2006/relationships/image" Target="../media/image33.svg"></Relationship><Relationship Id="rId2" Type="http://schemas.openxmlformats.org/officeDocument/2006/relationships/image" Target="../media/image18.png"></Relationship><Relationship Id="rId16" Type="http://schemas.openxmlformats.org/officeDocument/2006/relationships/image" Target="../media/image32.png"></Relationship><Relationship Id="rId20" Type="http://schemas.openxmlformats.org/officeDocument/2006/relationships/image" Target="../media/image36.png"></Relationship><Relationship Id="rId6" Type="http://schemas.openxmlformats.org/officeDocument/2006/relationships/image" Target="../media/image22.png"></Relationship><Relationship Id="rId11" Type="http://schemas.openxmlformats.org/officeDocument/2006/relationships/image" Target="../media/image27.svg"></Relationship><Relationship Id="rId5" Type="http://schemas.openxmlformats.org/officeDocument/2006/relationships/image" Target="../media/image21.svg"></Relationship><Relationship Id="rId15" Type="http://schemas.openxmlformats.org/officeDocument/2006/relationships/image" Target="../media/image31.svg"></Relationship><Relationship Id="rId23" Type="http://schemas.openxmlformats.org/officeDocument/2006/relationships/image" Target="../media/image39.svg"></Relationship><Relationship Id="rId10" Type="http://schemas.openxmlformats.org/officeDocument/2006/relationships/image" Target="../media/image26.png"></Relationship><Relationship Id="rId19" Type="http://schemas.openxmlformats.org/officeDocument/2006/relationships/image" Target="../media/image35.svg"></Relationship><Relationship Id="rId4" Type="http://schemas.openxmlformats.org/officeDocument/2006/relationships/image" Target="../media/image20.png"></Relationship><Relationship Id="rId9" Type="http://schemas.openxmlformats.org/officeDocument/2006/relationships/image" Target="../media/image25.svg"></Relationship><Relationship Id="rId14" Type="http://schemas.openxmlformats.org/officeDocument/2006/relationships/image" Target="../media/image30.png"></Relationship><Relationship Id="rId22" Type="http://schemas.openxmlformats.org/officeDocument/2006/relationships/image" Target="../media/image38.png"></Relationship><Relationship Id="rId24" Type="http://schemas.openxmlformats.org/officeDocument/2006/relationships/slideLayout" Target="../slideLayouts/slideLayout12.xml"></Relationship></Relationships>
</file>

<file path=ppt/slides/_rels/slide3.xml.rels><?xml version="1.0" encoding="UTF-8"?>
<Relationships xmlns="http://schemas.openxmlformats.org/package/2006/relationships"><Relationship Id="rId8" Type="http://schemas.openxmlformats.org/officeDocument/2006/relationships/image" Target="../media/image46.svg"></Relationship><Relationship Id="rId13" Type="http://schemas.openxmlformats.org/officeDocument/2006/relationships/image" Target="../media/image51.png"></Relationship><Relationship Id="rId18" Type="http://schemas.openxmlformats.org/officeDocument/2006/relationships/image" Target="../media/image56.svg"></Relationship><Relationship Id="rId26" Type="http://schemas.openxmlformats.org/officeDocument/2006/relationships/image" Target="../media/image62.png"></Relationship><Relationship Id="rId3" Type="http://schemas.openxmlformats.org/officeDocument/2006/relationships/image" Target="../media/image41.svg"></Relationship><Relationship Id="rId21" Type="http://schemas.openxmlformats.org/officeDocument/2006/relationships/image" Target="../media/image7.svg"></Relationship><Relationship Id="rId7" Type="http://schemas.openxmlformats.org/officeDocument/2006/relationships/image" Target="../media/image45.png"></Relationship><Relationship Id="rId12" Type="http://schemas.openxmlformats.org/officeDocument/2006/relationships/image" Target="../media/image50.svg"></Relationship><Relationship Id="rId17" Type="http://schemas.openxmlformats.org/officeDocument/2006/relationships/image" Target="../media/image55.png"></Relationship><Relationship Id="rId25" Type="http://schemas.openxmlformats.org/officeDocument/2006/relationships/image" Target="../media/image61.svg"></Relationship><Relationship Id="rId2" Type="http://schemas.openxmlformats.org/officeDocument/2006/relationships/image" Target="../media/image40.png"></Relationship><Relationship Id="rId16" Type="http://schemas.openxmlformats.org/officeDocument/2006/relationships/image" Target="../media/image54.svg"></Relationship><Relationship Id="rId20" Type="http://schemas.openxmlformats.org/officeDocument/2006/relationships/image" Target="../media/image6.png"></Relationship><Relationship Id="rId29" Type="http://schemas.openxmlformats.org/officeDocument/2006/relationships/image" Target="../media/image65.svg"></Relationship><Relationship Id="rId6" Type="http://schemas.openxmlformats.org/officeDocument/2006/relationships/image" Target="../media/image44.svg"></Relationship><Relationship Id="rId11" Type="http://schemas.openxmlformats.org/officeDocument/2006/relationships/image" Target="../media/image49.png"></Relationship><Relationship Id="rId24" Type="http://schemas.openxmlformats.org/officeDocument/2006/relationships/image" Target="../media/image60.png"></Relationship><Relationship Id="rId5" Type="http://schemas.openxmlformats.org/officeDocument/2006/relationships/image" Target="../media/image43.png"></Relationship><Relationship Id="rId15" Type="http://schemas.openxmlformats.org/officeDocument/2006/relationships/image" Target="../media/image53.png"></Relationship><Relationship Id="rId23" Type="http://schemas.openxmlformats.org/officeDocument/2006/relationships/image" Target="../media/image59.svg"></Relationship><Relationship Id="rId28" Type="http://schemas.openxmlformats.org/officeDocument/2006/relationships/image" Target="../media/image64.png"></Relationship><Relationship Id="rId10" Type="http://schemas.openxmlformats.org/officeDocument/2006/relationships/image" Target="../media/image48.svg"></Relationship><Relationship Id="rId19" Type="http://schemas.openxmlformats.org/officeDocument/2006/relationships/image" Target="../media/image57.png"></Relationship><Relationship Id="rId31" Type="http://schemas.openxmlformats.org/officeDocument/2006/relationships/image" Target="../media/image67.svg"></Relationship><Relationship Id="rId4" Type="http://schemas.openxmlformats.org/officeDocument/2006/relationships/image" Target="../media/image42.png"></Relationship><Relationship Id="rId9" Type="http://schemas.openxmlformats.org/officeDocument/2006/relationships/image" Target="../media/image47.png"></Relationship><Relationship Id="rId14" Type="http://schemas.openxmlformats.org/officeDocument/2006/relationships/image" Target="../media/image52.svg"></Relationship><Relationship Id="rId22" Type="http://schemas.openxmlformats.org/officeDocument/2006/relationships/image" Target="../media/image58.png"></Relationship><Relationship Id="rId27" Type="http://schemas.openxmlformats.org/officeDocument/2006/relationships/image" Target="../media/image63.svg"></Relationship><Relationship Id="rId30" Type="http://schemas.openxmlformats.org/officeDocument/2006/relationships/image" Target="../media/image66.png"></Relationship><Relationship Id="rId32" Type="http://schemas.openxmlformats.org/officeDocument/2006/relationships/slideLayout" Target="../slideLayouts/slideLayout12.xml"></Relationship></Relationships>
</file>

<file path=ppt/slides/_rels/slide4.xml.rels><?xml version="1.0" encoding="UTF-8"?>
<Relationships xmlns="http://schemas.openxmlformats.org/package/2006/relationships"><Relationship Id="rId8" Type="http://schemas.openxmlformats.org/officeDocument/2006/relationships/image" Target="../media/image43.png"></Relationship><Relationship Id="rId3" Type="http://schemas.openxmlformats.org/officeDocument/2006/relationships/image" Target="../media/image41.svg"></Relationship><Relationship Id="rId7" Type="http://schemas.openxmlformats.org/officeDocument/2006/relationships/image" Target="../media/image42.png"></Relationship><Relationship Id="rId12" Type="http://schemas.openxmlformats.org/officeDocument/2006/relationships/image" Target="../media/image7.sv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70.svg"></Relationship><Relationship Id="rId11" Type="http://schemas.openxmlformats.org/officeDocument/2006/relationships/image" Target="../media/image6.png"></Relationship><Relationship Id="rId5" Type="http://schemas.openxmlformats.org/officeDocument/2006/relationships/image" Target="../media/image69.png"></Relationship><Relationship Id="rId10" Type="http://schemas.openxmlformats.org/officeDocument/2006/relationships/image" Target="../media/image57.png"></Relationship><Relationship Id="rId4" Type="http://schemas.openxmlformats.org/officeDocument/2006/relationships/image" Target="../media/image68.png"></Relationship><Relationship Id="rId9" Type="http://schemas.openxmlformats.org/officeDocument/2006/relationships/image" Target="../media/image71.svg"></Relationship><Relationship Id="rId13" Type="http://schemas.openxmlformats.org/officeDocument/2006/relationships/slideLayout" Target="../slideLayouts/slideLayout12.xml"></Relationship></Relationships>
</file>

<file path=ppt/slides/_rels/slide5.xml.rels><?xml version="1.0" encoding="UTF-8"?>
<Relationships xmlns="http://schemas.openxmlformats.org/package/2006/relationships"><Relationship Id="rId8" Type="http://schemas.openxmlformats.org/officeDocument/2006/relationships/image" Target="../media/image6.png"></Relationship><Relationship Id="rId3" Type="http://schemas.openxmlformats.org/officeDocument/2006/relationships/image" Target="../media/image70.svg"></Relationship><Relationship Id="rId7" Type="http://schemas.openxmlformats.org/officeDocument/2006/relationships/image" Target="../media/image57.png"></Relationship><Relationship Id="rId2" Type="http://schemas.openxmlformats.org/officeDocument/2006/relationships/image" Target="../media/image69.png"></Relationship><Relationship Id="rId6" Type="http://schemas.openxmlformats.org/officeDocument/2006/relationships/image" Target="../media/image71.svg"></Relationship><Relationship Id="rId5" Type="http://schemas.openxmlformats.org/officeDocument/2006/relationships/image" Target="../media/image43.png"></Relationship><Relationship Id="rId10" Type="http://schemas.openxmlformats.org/officeDocument/2006/relationships/image" Target="../media/image72.png"></Relationship><Relationship Id="rId4" Type="http://schemas.openxmlformats.org/officeDocument/2006/relationships/image" Target="../media/image42.png"></Relationship><Relationship Id="rId9" Type="http://schemas.openxmlformats.org/officeDocument/2006/relationships/image" Target="../media/image7.svg"></Relationship><Relationship Id="rId11" Type="http://schemas.openxmlformats.org/officeDocument/2006/relationships/slideLayout" Target="../slideLayouts/slideLayout12.xml"></Relationship></Relationships>
</file>

<file path=ppt/slides/_rels/slide6.xml.rels><?xml version="1.0" encoding="UTF-8"?>
<Relationships xmlns="http://schemas.openxmlformats.org/package/2006/relationships"><Relationship Id="rId8" Type="http://schemas.openxmlformats.org/officeDocument/2006/relationships/image" Target="../media/image71.svg"></Relationship><Relationship Id="rId3" Type="http://schemas.openxmlformats.org/officeDocument/2006/relationships/image" Target="../media/image41.svg"></Relationship><Relationship Id="rId7" Type="http://schemas.openxmlformats.org/officeDocument/2006/relationships/image" Target="../media/image43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42.png"></Relationship><Relationship Id="rId11" Type="http://schemas.openxmlformats.org/officeDocument/2006/relationships/image" Target="../media/image7.svg"></Relationship><Relationship Id="rId5" Type="http://schemas.openxmlformats.org/officeDocument/2006/relationships/image" Target="../media/image70.svg"></Relationship><Relationship Id="rId10" Type="http://schemas.openxmlformats.org/officeDocument/2006/relationships/image" Target="../media/image6.png"></Relationship><Relationship Id="rId4" Type="http://schemas.openxmlformats.org/officeDocument/2006/relationships/image" Target="../media/image69.png"></Relationship><Relationship Id="rId9" Type="http://schemas.openxmlformats.org/officeDocument/2006/relationships/image" Target="../media/image57.png"></Relationship><Relationship Id="rId12" Type="http://schemas.openxmlformats.org/officeDocument/2006/relationships/slideLayout" Target="../slideLayouts/slideLayout12.xml"></Relationship></Relationships>
</file>

<file path=ppt/slides/_rels/slide7.xml.rels><?xml version="1.0" encoding="UTF-8"?>
<Relationships xmlns="http://schemas.openxmlformats.org/package/2006/relationships"><Relationship Id="rId8" Type="http://schemas.openxmlformats.org/officeDocument/2006/relationships/image" Target="../media/image74.svg"></Relationship><Relationship Id="rId13" Type="http://schemas.openxmlformats.org/officeDocument/2006/relationships/image" Target="../media/image79.png"></Relationship><Relationship Id="rId18" Type="http://schemas.openxmlformats.org/officeDocument/2006/relationships/image" Target="../media/image57.png"></Relationship><Relationship Id="rId26" Type="http://schemas.openxmlformats.org/officeDocument/2006/relationships/image" Target="../media/image88.svg"></Relationship><Relationship Id="rId3" Type="http://schemas.openxmlformats.org/officeDocument/2006/relationships/image" Target="../media/image43.png"></Relationship><Relationship Id="rId21" Type="http://schemas.openxmlformats.org/officeDocument/2006/relationships/image" Target="../media/image83.png"></Relationship><Relationship Id="rId7" Type="http://schemas.openxmlformats.org/officeDocument/2006/relationships/image" Target="../media/image73.png"></Relationship><Relationship Id="rId12" Type="http://schemas.openxmlformats.org/officeDocument/2006/relationships/image" Target="../media/image78.svg"></Relationship><Relationship Id="rId17" Type="http://schemas.openxmlformats.org/officeDocument/2006/relationships/image" Target="../media/image82.svg"></Relationship><Relationship Id="rId25" Type="http://schemas.openxmlformats.org/officeDocument/2006/relationships/image" Target="../media/image87.png"></Relationship><Relationship Id="rId2" Type="http://schemas.openxmlformats.org/officeDocument/2006/relationships/image" Target="../media/image42.png"></Relationship><Relationship Id="rId16" Type="http://schemas.openxmlformats.org/officeDocument/2006/relationships/image" Target="../media/image81.png"></Relationship><Relationship Id="rId20" Type="http://schemas.openxmlformats.org/officeDocument/2006/relationships/image" Target="../media/image7.svg"></Relationship><Relationship Id="rId6" Type="http://schemas.openxmlformats.org/officeDocument/2006/relationships/image" Target="../media/image59.svg"></Relationship><Relationship Id="rId11" Type="http://schemas.openxmlformats.org/officeDocument/2006/relationships/image" Target="../media/image77.png"></Relationship><Relationship Id="rId24" Type="http://schemas.openxmlformats.org/officeDocument/2006/relationships/image" Target="../media/image86.svg"></Relationship><Relationship Id="rId5" Type="http://schemas.openxmlformats.org/officeDocument/2006/relationships/image" Target="../media/image58.png"></Relationship><Relationship Id="rId15" Type="http://schemas.openxmlformats.org/officeDocument/2006/relationships/image" Target="../media/image1.png"></Relationship><Relationship Id="rId23" Type="http://schemas.openxmlformats.org/officeDocument/2006/relationships/image" Target="../media/image85.png"></Relationship><Relationship Id="rId10" Type="http://schemas.openxmlformats.org/officeDocument/2006/relationships/image" Target="../media/image76.svg"></Relationship><Relationship Id="rId19" Type="http://schemas.openxmlformats.org/officeDocument/2006/relationships/image" Target="../media/image6.png"></Relationship><Relationship Id="rId4" Type="http://schemas.openxmlformats.org/officeDocument/2006/relationships/image" Target="../media/image44.svg"></Relationship><Relationship Id="rId9" Type="http://schemas.openxmlformats.org/officeDocument/2006/relationships/image" Target="../media/image75.png"></Relationship><Relationship Id="rId14" Type="http://schemas.openxmlformats.org/officeDocument/2006/relationships/image" Target="../media/image80.svg"></Relationship><Relationship Id="rId22" Type="http://schemas.openxmlformats.org/officeDocument/2006/relationships/image" Target="../media/image84.svg"></Relationship><Relationship Id="rId27" Type="http://schemas.openxmlformats.org/officeDocument/2006/relationships/slideLayout" Target="../slideLayouts/slideLayout12.xml"></Relationship></Relationships>
</file>

<file path=ppt/slides/_rels/slide8.xml.rels><?xml version="1.0" encoding="UTF-8"?>
<Relationships xmlns="http://schemas.openxmlformats.org/package/2006/relationships"><Relationship Id="rId8" Type="http://schemas.openxmlformats.org/officeDocument/2006/relationships/image" Target="../media/image57.png"></Relationship><Relationship Id="rId13" Type="http://schemas.openxmlformats.org/officeDocument/2006/relationships/image" Target="../media/image94.png"></Relationship><Relationship Id="rId3" Type="http://schemas.openxmlformats.org/officeDocument/2006/relationships/image" Target="../media/image41.svg"></Relationship><Relationship Id="rId7" Type="http://schemas.openxmlformats.org/officeDocument/2006/relationships/image" Target="../media/image42.png"></Relationship><Relationship Id="rId12" Type="http://schemas.openxmlformats.org/officeDocument/2006/relationships/image" Target="../media/image93.sv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91.png"></Relationship><Relationship Id="rId11" Type="http://schemas.openxmlformats.org/officeDocument/2006/relationships/image" Target="../media/image92.png"></Relationship><Relationship Id="rId5" Type="http://schemas.openxmlformats.org/officeDocument/2006/relationships/image" Target="../media/image90.svg"></Relationship><Relationship Id="rId15" Type="http://schemas.openxmlformats.org/officeDocument/2006/relationships/image" Target="../media/image96.png"></Relationship><Relationship Id="rId10" Type="http://schemas.openxmlformats.org/officeDocument/2006/relationships/image" Target="../media/image7.svg"></Relationship><Relationship Id="rId4" Type="http://schemas.openxmlformats.org/officeDocument/2006/relationships/image" Target="../media/image89.png"></Relationship><Relationship Id="rId9" Type="http://schemas.openxmlformats.org/officeDocument/2006/relationships/image" Target="../media/image6.png"></Relationship><Relationship Id="rId14" Type="http://schemas.openxmlformats.org/officeDocument/2006/relationships/image" Target="../media/image95.svg"></Relationship><Relationship Id="rId16" Type="http://schemas.openxmlformats.org/officeDocument/2006/relationships/slideLayout" Target="../slideLayouts/slideLayout12.xml"></Relationship></Relationships>
</file>

<file path=ppt/slides/_rels/slide9.xml.rels><?xml version="1.0" encoding="UTF-8"?>
<Relationships xmlns="http://schemas.openxmlformats.org/package/2006/relationships"><Relationship Id="rId8" Type="http://schemas.openxmlformats.org/officeDocument/2006/relationships/image" Target="../media/image6.png"></Relationship><Relationship Id="rId3" Type="http://schemas.openxmlformats.org/officeDocument/2006/relationships/image" Target="../media/image40.png"></Relationship><Relationship Id="rId7" Type="http://schemas.openxmlformats.org/officeDocument/2006/relationships/image" Target="../media/image5.png"></Relationship><Relationship Id="rId2" Type="http://schemas.openxmlformats.org/officeDocument/2006/relationships/notesSlide" Target="../notesSlides/notesSlide9.xml"></Relationship><Relationship Id="rId6" Type="http://schemas.openxmlformats.org/officeDocument/2006/relationships/image" Target="../media/image98.png"></Relationship><Relationship Id="rId5" Type="http://schemas.openxmlformats.org/officeDocument/2006/relationships/image" Target="../media/image42.png"></Relationship><Relationship Id="rId4" Type="http://schemas.openxmlformats.org/officeDocument/2006/relationships/image" Target="../media/image97.png"></Relationship><Relationship Id="rId9" Type="http://schemas.openxmlformats.org/officeDocument/2006/relationships/slideLayout" Target="../slideLayouts/slideLayout12.xml"></Relationship></Relationships>
</file>

<file path=ppt/slides/_rels/slide10.xml.rels><?xml version="1.0" encoding="UTF-8"?>
<Relationships xmlns="http://schemas.openxmlformats.org/package/2006/relationships"><Relationship Id="rId8" Type="http://schemas.openxmlformats.org/officeDocument/2006/relationships/image" Target="../media/image99.png"></Relationship><Relationship Id="rId3" Type="http://schemas.openxmlformats.org/officeDocument/2006/relationships/image" Target="../media/image97.png"></Relationship><Relationship Id="rId7" Type="http://schemas.openxmlformats.org/officeDocument/2006/relationships/image" Target="../media/image6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42.png"></Relationship><Relationship Id="rId9" Type="http://schemas.openxmlformats.org/officeDocument/2006/relationships/slideLayout" Target="../slideLayouts/slideLayout12.xml"></Relationship></Relationships>
</file>

<file path=ppt/slides/_rels/slide11.xml.rels><?xml version="1.0" encoding="UTF-8"?>
<Relationships xmlns="http://schemas.openxmlformats.org/package/2006/relationships"><Relationship Id="rId8" Type="http://schemas.openxmlformats.org/officeDocument/2006/relationships/image" Target="../media/image100.PNG"></Relationship><Relationship Id="rId3" Type="http://schemas.openxmlformats.org/officeDocument/2006/relationships/image" Target="../media/image97.png"></Relationship><Relationship Id="rId7" Type="http://schemas.openxmlformats.org/officeDocument/2006/relationships/image" Target="../media/image6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42.png"></Relationship><Relationship Id="rId9" Type="http://schemas.openxmlformats.org/officeDocument/2006/relationships/slideLayout" Target="../slideLayouts/slideLayout12.xml"></Relationship><Relationship Id="rId10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3" Type="http://schemas.openxmlformats.org/officeDocument/2006/relationships/image" Target="../media/image40.png"></Relationship><Relationship Id="rId2" Type="http://schemas.openxmlformats.org/officeDocument/2006/relationships/notesSlide" Target="../notesSlides/notesSlide12.xml"></Relationship><Relationship Id="rId6" Type="http://schemas.openxmlformats.org/officeDocument/2006/relationships/image" Target="../media/image101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42.png"></Relationship><Relationship Id="rId7" Type="http://schemas.openxmlformats.org/officeDocument/2006/relationships/slideLayout" Target="../slideLayouts/slideLayout12.xml"></Relationship></Relationships>
</file>

<file path=ppt/slides/_rels/slide13.xml.rels><?xml version="1.0" encoding="UTF-8"?>
<Relationships xmlns="http://schemas.openxmlformats.org/package/2006/relationships"><Relationship Id="rId8" Type="http://schemas.openxmlformats.org/officeDocument/2006/relationships/image" Target="../media/image102.png"></Relationship><Relationship Id="rId3" Type="http://schemas.openxmlformats.org/officeDocument/2006/relationships/image" Target="../media/image97.png"></Relationship><Relationship Id="rId7" Type="http://schemas.openxmlformats.org/officeDocument/2006/relationships/image" Target="../media/image6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42.png"></Relationship><Relationship Id="rId9" Type="http://schemas.openxmlformats.org/officeDocument/2006/relationships/slideLayout" Target="../slideLayouts/slideLayout12.xml"></Relationship><Relationship Id="rId10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8" Type="http://schemas.openxmlformats.org/officeDocument/2006/relationships/image" Target="../media/image42.png"></Relationship><Relationship Id="rId3" Type="http://schemas.openxmlformats.org/officeDocument/2006/relationships/image" Target="../media/image97.png"></Relationship><Relationship Id="rId7" Type="http://schemas.openxmlformats.org/officeDocument/2006/relationships/image" Target="../media/image103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98.png"></Relationship><Relationship Id="rId5" Type="http://schemas.openxmlformats.org/officeDocument/2006/relationships/image" Target="../media/image6.png"></Relationship><Relationship Id="rId4" Type="http://schemas.openxmlformats.org/officeDocument/2006/relationships/image" Target="../media/image5.png"></Relationship><Relationship Id="rId9" Type="http://schemas.openxmlformats.org/officeDocument/2006/relationships/slideLayout" Target="../slideLayouts/slideLayout12.xml"></Relationship></Relationships>
</file>

<file path=ppt/slides/_rels/slide15.xml.rels><?xml version="1.0" encoding="UTF-8"?>
<Relationships xmlns="http://schemas.openxmlformats.org/package/2006/relationships"><Relationship Id="rId8" Type="http://schemas.openxmlformats.org/officeDocument/2006/relationships/image" Target="../media/image103.png"></Relationship><Relationship Id="rId3" Type="http://schemas.openxmlformats.org/officeDocument/2006/relationships/image" Target="../media/image97.png"></Relationship><Relationship Id="rId7" Type="http://schemas.openxmlformats.org/officeDocument/2006/relationships/image" Target="../media/image104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98.png"></Relationship><Relationship Id="rId5" Type="http://schemas.openxmlformats.org/officeDocument/2006/relationships/image" Target="../media/image6.png"></Relationship><Relationship Id="rId4" Type="http://schemas.openxmlformats.org/officeDocument/2006/relationships/image" Target="../media/image5.png"></Relationship><Relationship Id="rId9" Type="http://schemas.openxmlformats.org/officeDocument/2006/relationships/image" Target="../media/image42.png"></Relationship><Relationship Id="rId10" Type="http://schemas.openxmlformats.org/officeDocument/2006/relationships/slideLayout" Target="../slideLayouts/slideLayout12.xml"></Relationship></Relationships>
</file>

<file path=ppt/slides/_rels/slide16.xml.rels><?xml version="1.0" encoding="UTF-8"?>
<Relationships xmlns="http://schemas.openxmlformats.org/package/2006/relationships"><Relationship Id="rId3" Type="http://schemas.openxmlformats.org/officeDocument/2006/relationships/image" Target="../media/image5.png"></Relationship><Relationship Id="rId7" Type="http://schemas.openxmlformats.org/officeDocument/2006/relationships/image" Target="../media/image42.png"></Relationship><Relationship Id="rId2" Type="http://schemas.openxmlformats.org/officeDocument/2006/relationships/image" Target="../media/image97.png"></Relationship><Relationship Id="rId6" Type="http://schemas.openxmlformats.org/officeDocument/2006/relationships/image" Target="../media/image10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6.png"></Relationship><Relationship Id="rId8" Type="http://schemas.openxmlformats.org/officeDocument/2006/relationships/slideLayout" Target="../slideLayouts/slideLayout12.xml"></Relationship></Relationships>
</file>

<file path=ppt/slides/_rels/slide17.xml.rels><?xml version="1.0" encoding="UTF-8"?>
<Relationships xmlns="http://schemas.openxmlformats.org/package/2006/relationships"><Relationship Id="rId3" Type="http://schemas.openxmlformats.org/officeDocument/2006/relationships/image" Target="../media/image5.png"></Relationship><Relationship Id="rId7" Type="http://schemas.openxmlformats.org/officeDocument/2006/relationships/image" Target="../media/image106.png"></Relationship><Relationship Id="rId2" Type="http://schemas.openxmlformats.org/officeDocument/2006/relationships/image" Target="../media/image97.png"></Relationship><Relationship Id="rId6" Type="http://schemas.openxmlformats.org/officeDocument/2006/relationships/image" Target="../media/image42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6.png"></Relationship><Relationship Id="rId8" Type="http://schemas.openxmlformats.org/officeDocument/2006/relationships/slideLayout" Target="../slideLayouts/slideLayout12.xml"></Relationship></Relationships>
</file>

<file path=ppt/slides/_rels/slide18.xml.rels><?xml version="1.0" encoding="UTF-8"?>
<Relationships xmlns="http://schemas.openxmlformats.org/package/2006/relationships"><Relationship Id="rId3" Type="http://schemas.openxmlformats.org/officeDocument/2006/relationships/image" Target="../media/image97.png"></Relationship><Relationship Id="rId7" Type="http://schemas.openxmlformats.org/officeDocument/2006/relationships/image" Target="../media/image107.png"></Relationship><Relationship Id="rId2" Type="http://schemas.openxmlformats.org/officeDocument/2006/relationships/image" Target="../media/image42.png"></Relationship><Relationship Id="rId6" Type="http://schemas.openxmlformats.org/officeDocument/2006/relationships/image" Target="../media/image98.png"></Relationship><Relationship Id="rId5" Type="http://schemas.openxmlformats.org/officeDocument/2006/relationships/image" Target="../media/image6.png"></Relationship><Relationship Id="rId4" Type="http://schemas.openxmlformats.org/officeDocument/2006/relationships/image" Target="../media/image5.png"></Relationship><Relationship Id="rId8" Type="http://schemas.openxmlformats.org/officeDocument/2006/relationships/slideLayout" Target="../slideLayouts/slideLayout12.xml"></Relationship></Relationships>
</file>

<file path=ppt/slides/_rels/slide19.xml.rels><?xml version="1.0" encoding="UTF-8"?>
<Relationships xmlns="http://schemas.openxmlformats.org/package/2006/relationships"><Relationship Id="rId3" Type="http://schemas.openxmlformats.org/officeDocument/2006/relationships/image" Target="../media/image97.png"></Relationship><Relationship Id="rId7" Type="http://schemas.openxmlformats.org/officeDocument/2006/relationships/image" Target="../media/image108.png"></Relationship><Relationship Id="rId2" Type="http://schemas.openxmlformats.org/officeDocument/2006/relationships/image" Target="../media/image42.png"></Relationship><Relationship Id="rId6" Type="http://schemas.openxmlformats.org/officeDocument/2006/relationships/image" Target="../media/image98.png"></Relationship><Relationship Id="rId5" Type="http://schemas.openxmlformats.org/officeDocument/2006/relationships/image" Target="../media/image6.png"></Relationship><Relationship Id="rId4" Type="http://schemas.openxmlformats.org/officeDocument/2006/relationships/image" Target="../media/image5.png"></Relationship><Relationship Id="rId8" Type="http://schemas.openxmlformats.org/officeDocument/2006/relationships/slideLayout" Target="../slideLayouts/slideLayout12.xml"></Relationship></Relationships>
</file>

<file path=ppt/slides/_rels/slide20.xml.rels><?xml version="1.0" encoding="UTF-8"?>
<Relationships xmlns="http://schemas.openxmlformats.org/package/2006/relationships"><Relationship Id="rId8" Type="http://schemas.openxmlformats.org/officeDocument/2006/relationships/image" Target="../media/image42.png"></Relationship><Relationship Id="rId3" Type="http://schemas.openxmlformats.org/officeDocument/2006/relationships/image" Target="../media/image40.png"></Relationship><Relationship Id="rId7" Type="http://schemas.openxmlformats.org/officeDocument/2006/relationships/image" Target="../media/image6.png"></Relationship><Relationship Id="rId2" Type="http://schemas.openxmlformats.org/officeDocument/2006/relationships/notesSlide" Target="../notesSlides/notesSlide20.xml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97.png"></Relationship><Relationship Id="rId9" Type="http://schemas.openxmlformats.org/officeDocument/2006/relationships/image" Target="../media/image109.png"></Relationship><Relationship Id="rId10" Type="http://schemas.openxmlformats.org/officeDocument/2006/relationships/slideLayout" Target="../slideLayouts/slideLayout12.xml"></Relationship></Relationships>
</file>

<file path=ppt/slides/_rels/slide21.xml.rels><?xml version="1.0" encoding="UTF-8"?>
<Relationships xmlns="http://schemas.openxmlformats.org/package/2006/relationships"><Relationship Id="rId8" Type="http://schemas.openxmlformats.org/officeDocument/2006/relationships/image" Target="../media/image42.png"></Relationship><Relationship Id="rId3" Type="http://schemas.openxmlformats.org/officeDocument/2006/relationships/image" Target="../media/image40.png"></Relationship><Relationship Id="rId7" Type="http://schemas.openxmlformats.org/officeDocument/2006/relationships/image" Target="../media/image6.png"></Relationship><Relationship Id="rId2" Type="http://schemas.openxmlformats.org/officeDocument/2006/relationships/notesSlide" Target="../notesSlides/notesSlide21.xml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97.png"></Relationship><Relationship Id="rId9" Type="http://schemas.openxmlformats.org/officeDocument/2006/relationships/image" Target="../media/image109.png"></Relationship><Relationship Id="rId10" Type="http://schemas.openxmlformats.org/officeDocument/2006/relationships/slideLayout" Target="../slideLayouts/slideLayout12.xml"></Relationship></Relationships>
</file>

<file path=ppt/slides/_rels/slide22.xml.rels><?xml version="1.0" encoding="UTF-8"?>
<Relationships xmlns="http://schemas.openxmlformats.org/package/2006/relationships"><Relationship Id="rId8" Type="http://schemas.openxmlformats.org/officeDocument/2006/relationships/image" Target="../media/image42.png"></Relationship><Relationship Id="rId3" Type="http://schemas.openxmlformats.org/officeDocument/2006/relationships/image" Target="../media/image40.png"></Relationship><Relationship Id="rId7" Type="http://schemas.openxmlformats.org/officeDocument/2006/relationships/image" Target="../media/image6.png"></Relationship><Relationship Id="rId2" Type="http://schemas.openxmlformats.org/officeDocument/2006/relationships/notesSlide" Target="../notesSlides/notesSlide22.xml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97.png"></Relationship><Relationship Id="rId9" Type="http://schemas.openxmlformats.org/officeDocument/2006/relationships/image" Target="../media/image110.png"></Relationship><Relationship Id="rId10" Type="http://schemas.openxmlformats.org/officeDocument/2006/relationships/slideLayout" Target="../slideLayouts/slideLayout12.xml"></Relationship></Relationships>
</file>

<file path=ppt/slides/_rels/slide23.xml.rels><?xml version="1.0" encoding="UTF-8"?>
<Relationships xmlns="http://schemas.openxmlformats.org/package/2006/relationships"><Relationship Id="rId8" Type="http://schemas.openxmlformats.org/officeDocument/2006/relationships/image" Target="../media/image111.png"></Relationship><Relationship Id="rId3" Type="http://schemas.openxmlformats.org/officeDocument/2006/relationships/image" Target="../media/image97.png"></Relationship><Relationship Id="rId7" Type="http://schemas.openxmlformats.org/officeDocument/2006/relationships/image" Target="../media/image42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6.png"></Relationship><Relationship Id="rId5" Type="http://schemas.openxmlformats.org/officeDocument/2006/relationships/image" Target="../media/image5.png"></Relationship><Relationship Id="rId4" Type="http://schemas.openxmlformats.org/officeDocument/2006/relationships/image" Target="../media/image98.png"></Relationship><Relationship Id="rId9" Type="http://schemas.openxmlformats.org/officeDocument/2006/relationships/slideLayout" Target="../slideLayouts/slideLayout12.xml"></Relationship></Relationships>
</file>

<file path=ppt/slides/_rels/slide24.xml.rels><?xml version="1.0" encoding="UTF-8"?>
<Relationships xmlns="http://schemas.openxmlformats.org/package/2006/relationships"><Relationship Id="rId8" Type="http://schemas.openxmlformats.org/officeDocument/2006/relationships/image" Target="../media/image42.png"></Relationship><Relationship Id="rId3" Type="http://schemas.openxmlformats.org/officeDocument/2006/relationships/image" Target="../media/image40.png"></Relationship><Relationship Id="rId7" Type="http://schemas.openxmlformats.org/officeDocument/2006/relationships/image" Target="../media/image6.png"></Relationship><Relationship Id="rId2" Type="http://schemas.openxmlformats.org/officeDocument/2006/relationships/notesSlide" Target="../notesSlides/notesSlide24.xml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97.png"></Relationship><Relationship Id="rId9" Type="http://schemas.openxmlformats.org/officeDocument/2006/relationships/slideLayout" Target="../slideLayouts/slideLayout12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image" Target="../media/image40.png"></Relationship><Relationship Id="rId3" Type="http://schemas.openxmlformats.org/officeDocument/2006/relationships/image" Target="../media/image97.png"></Relationship><Relationship Id="rId4" Type="http://schemas.openxmlformats.org/officeDocument/2006/relationships/image" Target="../media/image98.png"></Relationship><Relationship Id="rId5" Type="http://schemas.openxmlformats.org/officeDocument/2006/relationships/image" Target="../media/image5.png"></Relationship><Relationship Id="rId6" Type="http://schemas.openxmlformats.org/officeDocument/2006/relationships/image" Target="../media/image6.png"></Relationship><Relationship Id="rId7" Type="http://schemas.openxmlformats.org/officeDocument/2006/relationships/image" Target="../media/image42.png"></Relationship></Relationships>
</file>

<file path=ppt/slides/_rels/slide26.xml.rels><?xml version="1.0" encoding="UTF-8"?>
<Relationships xmlns="http://schemas.openxmlformats.org/package/2006/relationships"><Relationship Id="rId8" Type="http://schemas.openxmlformats.org/officeDocument/2006/relationships/image" Target="../media/image42.png"></Relationship><Relationship Id="rId3" Type="http://schemas.openxmlformats.org/officeDocument/2006/relationships/image" Target="../media/image40.png"></Relationship><Relationship Id="rId7" Type="http://schemas.openxmlformats.org/officeDocument/2006/relationships/image" Target="../media/image6.png"></Relationship><Relationship Id="rId2" Type="http://schemas.openxmlformats.org/officeDocument/2006/relationships/notesSlide" Target="../notesSlides/notesSlide26.xml"></Relationship><Relationship Id="rId6" Type="http://schemas.openxmlformats.org/officeDocument/2006/relationships/image" Target="../media/image5.png"></Relationship><Relationship Id="rId5" Type="http://schemas.openxmlformats.org/officeDocument/2006/relationships/image" Target="../media/image98.png"></Relationship><Relationship Id="rId4" Type="http://schemas.openxmlformats.org/officeDocument/2006/relationships/image" Target="../media/image97.png"></Relationship><Relationship Id="rId9" Type="http://schemas.openxmlformats.org/officeDocument/2006/relationships/slideLayout" Target="../slideLayouts/slideLayout12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2.xml"></Relationship><Relationship Id="rId2" Type="http://schemas.openxmlformats.org/officeDocument/2006/relationships/image" Target="../media/image40.png"></Relationship><Relationship Id="rId3" Type="http://schemas.openxmlformats.org/officeDocument/2006/relationships/image" Target="../media/image97.png"></Relationship><Relationship Id="rId4" Type="http://schemas.openxmlformats.org/officeDocument/2006/relationships/image" Target="../media/image98.png"></Relationship><Relationship Id="rId5" Type="http://schemas.openxmlformats.org/officeDocument/2006/relationships/image" Target="../media/image5.png"></Relationship><Relationship Id="rId6" Type="http://schemas.openxmlformats.org/officeDocument/2006/relationships/image" Target="../media/image6.png"></Relationship><Relationship Id="rId7" Type="http://schemas.openxmlformats.org/officeDocument/2006/relationships/image" Target="../media/image42.png"></Relationship></Relationships>
</file>

<file path=ppt/slides/_rels/slide28.xml.rels><?xml version="1.0" encoding="UTF-8"?>
<Relationships xmlns="http://schemas.openxmlformats.org/package/2006/relationships"><Relationship Id="rId3" Type="http://schemas.openxmlformats.org/officeDocument/2006/relationships/image" Target="../media/image41.svg"></Relationship><Relationship Id="rId7" Type="http://schemas.openxmlformats.org/officeDocument/2006/relationships/image" Target="../media/image7.sv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6.png"></Relationship><Relationship Id="rId5" Type="http://schemas.openxmlformats.org/officeDocument/2006/relationships/image" Target="../media/image57.png"></Relationship><Relationship Id="rId4" Type="http://schemas.openxmlformats.org/officeDocument/2006/relationships/image" Target="../media/image42.png"></Relationship><Relationship Id="rId8" Type="http://schemas.openxmlformats.org/officeDocument/2006/relationships/slideLayout" Target="../slideLayouts/slideLayout12.xml"></Relationship></Relationships>
</file>

<file path=ppt/slides/_rels/slide29.xml.rels><?xml version="1.0" encoding="UTF-8"?>
<Relationships xmlns="http://schemas.openxmlformats.org/package/2006/relationships"><Relationship Id="rId8" Type="http://schemas.openxmlformats.org/officeDocument/2006/relationships/image" Target="../media/image42.png"></Relationship><Relationship Id="rId13" Type="http://schemas.openxmlformats.org/officeDocument/2006/relationships/image" Target="../media/image7.svg"></Relationship><Relationship Id="rId3" Type="http://schemas.openxmlformats.org/officeDocument/2006/relationships/image" Target="../media/image41.svg"></Relationship><Relationship Id="rId7" Type="http://schemas.openxmlformats.org/officeDocument/2006/relationships/image" Target="../media/image115.svg"></Relationship><Relationship Id="rId12" Type="http://schemas.openxmlformats.org/officeDocument/2006/relationships/image" Target="../media/image6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114.png"></Relationship><Relationship Id="rId11" Type="http://schemas.openxmlformats.org/officeDocument/2006/relationships/image" Target="../media/image57.png"></Relationship><Relationship Id="rId5" Type="http://schemas.openxmlformats.org/officeDocument/2006/relationships/image" Target="../media/image113.svg"></Relationship><Relationship Id="rId10" Type="http://schemas.openxmlformats.org/officeDocument/2006/relationships/image" Target="../media/image117.svg"></Relationship><Relationship Id="rId4" Type="http://schemas.openxmlformats.org/officeDocument/2006/relationships/image" Target="../media/image112.png"></Relationship><Relationship Id="rId9" Type="http://schemas.openxmlformats.org/officeDocument/2006/relationships/image" Target="../media/image116.png"></Relationship><Relationship Id="rId14" Type="http://schemas.openxmlformats.org/officeDocument/2006/relationships/slideLayout" Target="../slideLayouts/slideLayout12.xml"></Relationship><Relationship Id="rId15" Type="http://schemas.openxmlformats.org/officeDocument/2006/relationships/notesSlide" Target="../notesSlides/notesSlide29.xml"></Relationship></Relationships>
</file>

<file path=ppt/slides/_rels/slide30.xml.rels><?xml version="1.0" encoding="UTF-8"?>
<Relationships xmlns="http://schemas.openxmlformats.org/package/2006/relationships"><Relationship Id="rId3" Type="http://schemas.openxmlformats.org/officeDocument/2006/relationships/image" Target="../media/image97.png"></Relationship><Relationship Id="rId7" Type="http://schemas.openxmlformats.org/officeDocument/2006/relationships/image" Target="../media/image42.png"></Relationship><Relationship Id="rId2" Type="http://schemas.openxmlformats.org/officeDocument/2006/relationships/image" Target="../media/image40.png"></Relationship><Relationship Id="rId6" Type="http://schemas.openxmlformats.org/officeDocument/2006/relationships/image" Target="../media/image6.png"></Relationship><Relationship Id="rId5" Type="http://schemas.openxmlformats.org/officeDocument/2006/relationships/image" Target="../media/image5.png"></Relationship><Relationship Id="rId4" Type="http://schemas.openxmlformats.org/officeDocument/2006/relationships/image" Target="../media/image98.png"></Relationship><Relationship Id="rId8" Type="http://schemas.openxmlformats.org/officeDocument/2006/relationships/slideLayout" Target="../slideLayouts/slideLayout1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355" y="-635"/>
            <a:ext cx="1858645" cy="217043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510" y="1370330"/>
            <a:ext cx="5158740" cy="2654935"/>
            <a:chOff x="6747510" y="1370330"/>
            <a:chExt cx="5158740" cy="265493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340" y="1370330"/>
              <a:ext cx="2629535" cy="369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510" y="1809750"/>
              <a:ext cx="5158740" cy="2216150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EZEN </a:t>
              </a:r>
              <a:r>
                <a:rPr lang="ko-KR" altLang="en-US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뭐 먹지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날씨정보와 위치 정보를 활용한 음식점 추천 지능형 웹사이트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1165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920" y="6027420"/>
            <a:ext cx="2679700" cy="375920"/>
            <a:chOff x="8757920" y="6027420"/>
            <a:chExt cx="2679700" cy="375920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57790" y="6027420"/>
              <a:ext cx="1180465" cy="375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57920" y="6027420"/>
              <a:ext cx="1190625" cy="35369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20" y="3915410"/>
            <a:ext cx="7470140" cy="3683000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360"/>
            <a:ext cx="6616065" cy="564134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240" y="2177415"/>
            <a:ext cx="1047115" cy="1047750"/>
            <a:chOff x="396240" y="2177415"/>
            <a:chExt cx="1047115" cy="1047750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396240" y="2177415"/>
              <a:ext cx="1047115" cy="1047750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720725" y="2501900"/>
              <a:ext cx="397510" cy="397510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20" y="5509260"/>
            <a:ext cx="335915" cy="335915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620" y="2615565"/>
            <a:ext cx="3935730" cy="4307840"/>
            <a:chOff x="1277620" y="2615565"/>
            <a:chExt cx="3935730" cy="4307840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136900" y="2615565"/>
              <a:ext cx="762635" cy="1329690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395345" y="3034665"/>
              <a:ext cx="358775" cy="10287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549015" y="3181985"/>
              <a:ext cx="304165" cy="446405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602355" y="3408045"/>
              <a:ext cx="199390" cy="93980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445510" y="2946400"/>
              <a:ext cx="114300" cy="175260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606800" y="3291840"/>
              <a:ext cx="291465" cy="114935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330700" y="2822575"/>
              <a:ext cx="845820" cy="1231900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4642485" y="3194685"/>
              <a:ext cx="260350" cy="396240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134870" y="3569970"/>
              <a:ext cx="1713230" cy="2122170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782445" y="2731770"/>
              <a:ext cx="1021715" cy="95631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134870" y="3002915"/>
              <a:ext cx="769620" cy="898525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635250" y="3086735"/>
              <a:ext cx="168910" cy="8890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2847975" y="3226435"/>
              <a:ext cx="62230" cy="179705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253615" y="3220720"/>
              <a:ext cx="220980" cy="207645"/>
              <a:chOff x="2253615" y="3220720"/>
              <a:chExt cx="220980" cy="207645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253615" y="3220720"/>
                <a:ext cx="220980" cy="207645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284730" y="3239770"/>
                <a:ext cx="136525" cy="64135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574290" y="3705860"/>
              <a:ext cx="130810" cy="52070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753360" y="3369945"/>
              <a:ext cx="131445" cy="113665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620" y="3713480"/>
              <a:ext cx="3935730" cy="3209925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693035" y="3910330"/>
              <a:ext cx="1303655" cy="84201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3951605" y="4706620"/>
              <a:ext cx="180975" cy="68770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2919730" y="5164455"/>
              <a:ext cx="741045" cy="600075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581910" y="3262630"/>
              <a:ext cx="152400" cy="152400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314190" y="2766060"/>
              <a:ext cx="473710" cy="473710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007870" y="3778250"/>
              <a:ext cx="883285" cy="197485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4619625" y="3200400"/>
              <a:ext cx="266065" cy="372110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4697095" y="3370580"/>
              <a:ext cx="90170" cy="97790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633470" y="378269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4949825" y="3902075"/>
              <a:ext cx="137795" cy="137795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733675" y="3194050"/>
              <a:ext cx="45085" cy="59055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0115" y="5818505"/>
            <a:ext cx="321310" cy="32131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78625" y="4077335"/>
            <a:ext cx="5222240" cy="1102360"/>
            <a:chOff x="6778625" y="4077335"/>
            <a:chExt cx="5222240" cy="1102360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78625" y="4077335"/>
              <a:ext cx="1663700" cy="70485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42125" y="4223385"/>
              <a:ext cx="5158740" cy="956310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D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최연흠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이승준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유재욱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27522" b="23907"/>
          <a:stretch/>
        </p:blipFill>
        <p:spPr>
          <a:xfrm flipV="1">
            <a:off x="7546340" y="-635"/>
            <a:ext cx="4645660" cy="3296920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6585" y="5136515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1818"/>
          <a:stretch/>
        </p:blipFill>
        <p:spPr>
          <a:xfrm>
            <a:off x="45720" y="3369945"/>
            <a:ext cx="3592830" cy="344614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585" y="519430"/>
            <a:ext cx="2266950" cy="1224915"/>
            <a:chOff x="870585" y="519430"/>
            <a:chExt cx="2266950" cy="1224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825" y="913130"/>
              <a:ext cx="2252345" cy="831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585" y="519430"/>
              <a:ext cx="225234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050" y="1880870"/>
            <a:ext cx="5255260" cy="789305"/>
            <a:chOff x="6242050" y="1880870"/>
            <a:chExt cx="5255260" cy="78930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154545" y="2067560"/>
              <a:ext cx="4342765" cy="307975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 및 목표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050" y="1880870"/>
              <a:ext cx="883920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050" y="2679700"/>
            <a:ext cx="4702175" cy="789305"/>
            <a:chOff x="6242050" y="2679700"/>
            <a:chExt cx="4702175" cy="7893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154545" y="2869565"/>
              <a:ext cx="3789680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latinLnBrk="0"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050" y="267970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050" y="3479165"/>
            <a:ext cx="4949190" cy="789305"/>
            <a:chOff x="6242050" y="3479165"/>
            <a:chExt cx="4949190" cy="7893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154545" y="3670935"/>
              <a:ext cx="4036695" cy="30797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0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050" y="3479165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050" y="4278630"/>
            <a:ext cx="3882390" cy="789305"/>
            <a:chOff x="6242050" y="4278630"/>
            <a:chExt cx="3882390" cy="789305"/>
          </a:xfrm>
        </p:grpSpPr>
        <p:sp>
          <p:nvSpPr>
            <p:cNvPr id="20" name="TextBox 19"/>
            <p:cNvSpPr txBox="1">
              <a:spLocks/>
            </p:cNvSpPr>
            <p:nvPr/>
          </p:nvSpPr>
          <p:spPr>
            <a:xfrm>
              <a:off x="7185660" y="4431030"/>
              <a:ext cx="2938780" cy="30797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2000" b="1" dirty="0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프로젝트 시연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050" y="4278630"/>
              <a:ext cx="903605" cy="789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42670" y="4289425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73130" y="1555115"/>
            <a:ext cx="233045" cy="233045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11933555" y="302895"/>
            <a:ext cx="343535" cy="34353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45" y="1043305"/>
            <a:ext cx="6160770" cy="4371340"/>
            <a:chOff x="296545" y="1043305"/>
            <a:chExt cx="6160770" cy="437134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46710" y="1043305"/>
              <a:ext cx="6111240" cy="3434080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09670" y="5176520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38345" y="4298315"/>
              <a:ext cx="106680" cy="106680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03325" y="2752090"/>
              <a:ext cx="320675" cy="32067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96545" y="1824355"/>
              <a:ext cx="320675" cy="304165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31BFECF-5A1F-4826-A94C-A8C69C95B4D7}"/>
              </a:ext>
            </a:extLst>
          </p:cNvPr>
          <p:cNvGrpSpPr/>
          <p:nvPr/>
        </p:nvGrpSpPr>
        <p:grpSpPr>
          <a:xfrm>
            <a:off x="6242050" y="5017135"/>
            <a:ext cx="3882390" cy="584835"/>
            <a:chOff x="6242050" y="5017135"/>
            <a:chExt cx="3882390" cy="58483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2891CD4-9CAC-4677-B07E-3CEE701146DD}"/>
                </a:ext>
              </a:extLst>
            </p:cNvPr>
            <p:cNvSpPr txBox="1">
              <a:spLocks/>
            </p:cNvSpPr>
            <p:nvPr/>
          </p:nvSpPr>
          <p:spPr>
            <a:xfrm>
              <a:off x="7185660" y="5169535"/>
              <a:ext cx="2938780" cy="30797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2000" b="1">
                  <a:ln w="9525" cap="flat" cmpd="sng">
                    <a:solidFill>
                      <a:schemeClr val="accent1"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rPr>
                <a:t>프로젝트 평가</a:t>
              </a:r>
              <a:endParaRPr lang="ko-KR" altLang="en-US" sz="20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2570019-D52E-472B-8A35-E61C8E043BF2}"/>
                </a:ext>
              </a:extLst>
            </p:cNvPr>
            <p:cNvSpPr txBox="1"/>
            <p:nvPr/>
          </p:nvSpPr>
          <p:spPr>
            <a:xfrm>
              <a:off x="6242050" y="5017135"/>
              <a:ext cx="903605" cy="5848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1-1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팀 구성 및 역할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46742"/>
              </p:ext>
            </p:extLst>
          </p:nvPr>
        </p:nvGraphicFramePr>
        <p:xfrm>
          <a:off x="301789" y="2401104"/>
          <a:ext cx="11588421" cy="3787191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318117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54804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722256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803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최연흠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이승준</a:t>
                      </a:r>
                      <a:endParaRPr lang="ko-KR" altLang="en-US" sz="19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7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유재욱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801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ko-KR" altLang="en-US" sz="17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라스테크</a:t>
                      </a:r>
                      <a:endParaRPr kumimoji="0" lang="en-US" altLang="ko-KR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정상윤 멘토님</a:t>
                      </a:r>
                    </a:p>
                  </a:txBody>
                  <a:tcPr marL="94457" marR="94457" marT="47250" marB="4725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7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7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94457" marR="94457" marT="47250" marB="4725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1515" y="5923280"/>
            <a:ext cx="113665" cy="11366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302760" y="3281045"/>
            <a:ext cx="2802890" cy="370840"/>
            <a:chOff x="4302760" y="3281045"/>
            <a:chExt cx="2802890" cy="370840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302760" y="3281045"/>
              <a:ext cx="2802890" cy="370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302760" y="3281045"/>
              <a:ext cx="370840" cy="370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80230" y="3357880"/>
              <a:ext cx="216535" cy="216535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4816475" y="3308350"/>
              <a:ext cx="1927860" cy="318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전체 시스템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356475" y="3281045"/>
            <a:ext cx="2802890" cy="370840"/>
            <a:chOff x="7356475" y="3281045"/>
            <a:chExt cx="2802890" cy="370840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356475" y="3281045"/>
              <a:ext cx="2802890" cy="370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356475" y="3281045"/>
              <a:ext cx="370840" cy="370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7929245" y="3308350"/>
              <a:ext cx="2098040" cy="318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정제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326255" y="4039870"/>
            <a:ext cx="2802890" cy="37084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302760" y="4039870"/>
            <a:ext cx="370840" cy="370840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70070" y="4129405"/>
            <a:ext cx="224155" cy="19939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302760" y="4834255"/>
            <a:ext cx="2802890" cy="370840"/>
            <a:chOff x="4302760" y="4834255"/>
            <a:chExt cx="2802890" cy="370840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302760" y="4834255"/>
              <a:ext cx="2802890" cy="370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302760" y="4834255"/>
              <a:ext cx="370840" cy="370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4816475" y="4861560"/>
              <a:ext cx="2041525" cy="318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수집모델 설계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356475" y="4834255"/>
            <a:ext cx="2802890" cy="370840"/>
            <a:chOff x="7356475" y="4834255"/>
            <a:chExt cx="2802890" cy="370840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356475" y="4834255"/>
              <a:ext cx="2802890" cy="370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356475" y="4834255"/>
              <a:ext cx="370840" cy="370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7929245" y="4861560"/>
              <a:ext cx="1927860" cy="318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텍스트 마이닝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417435" y="4945380"/>
              <a:ext cx="248920" cy="15557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356475" y="4033520"/>
            <a:ext cx="2802890" cy="568325"/>
            <a:chOff x="7356475" y="4033520"/>
            <a:chExt cx="2802890" cy="56832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356475" y="4033520"/>
              <a:ext cx="2802890" cy="370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356475" y="4033520"/>
              <a:ext cx="370840" cy="370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7929245" y="4060825"/>
              <a:ext cx="2230120" cy="5403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>
                <a:defRPr/>
              </a:pP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30135" y="4100830"/>
              <a:ext cx="236220" cy="226060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302760" y="5600065"/>
            <a:ext cx="4494530" cy="370840"/>
            <a:chOff x="4302760" y="5600065"/>
            <a:chExt cx="4494530" cy="370840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302760" y="5600065"/>
              <a:ext cx="3873500" cy="370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302760" y="5600065"/>
              <a:ext cx="370840" cy="370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4816475" y="5626735"/>
              <a:ext cx="3980815" cy="318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386580" y="5688330"/>
              <a:ext cx="193040" cy="18923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5" name="_x278651016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9090" y="5013960"/>
            <a:ext cx="1692910" cy="1372870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r="4407" b="11555"/>
          <a:stretch/>
        </p:blipFill>
        <p:spPr>
          <a:xfrm>
            <a:off x="10092055" y="4828540"/>
            <a:ext cx="2099945" cy="1557655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700000">
            <a:off x="11833225" y="5062220"/>
            <a:ext cx="154305" cy="154305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4EB77A4B-E7E1-474B-8FF5-C41DEF5A8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37120" y="3361690"/>
            <a:ext cx="226695" cy="207645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09BE1932-099D-4176-9300-0E97308EA0A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05630" y="4922520"/>
            <a:ext cx="197485" cy="21082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41CB5B38-DB96-42E2-971D-60491C042C86}"/>
              </a:ext>
            </a:extLst>
          </p:cNvPr>
          <p:cNvSpPr txBox="1"/>
          <p:nvPr/>
        </p:nvSpPr>
        <p:spPr>
          <a:xfrm>
            <a:off x="4785360" y="4074160"/>
            <a:ext cx="2239645" cy="31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웹사이트 디자인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(HTML)</a:t>
            </a: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894895-F39E-4034-A63E-6691E7B68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" y="2386965"/>
            <a:ext cx="6861175" cy="35807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C222AC2-FD61-4295-B858-5527150D46F7}"/>
              </a:ext>
            </a:extLst>
          </p:cNvPr>
          <p:cNvSpPr txBox="1"/>
          <p:nvPr/>
        </p:nvSpPr>
        <p:spPr>
          <a:xfrm>
            <a:off x="7832725" y="2386965"/>
            <a:ext cx="3312160" cy="2327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500" b="1" dirty="0" err="1"/>
              <a:t>ㆍ단순</a:t>
            </a:r>
            <a:r>
              <a:rPr lang="ko-KR" altLang="en-US" sz="1500" b="1" dirty="0"/>
              <a:t> 카테고리에 의한 서비스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ko-KR" altLang="en-US" sz="1500" b="1" dirty="0" err="1"/>
              <a:t>ㆍ사용자의</a:t>
            </a:r>
            <a:r>
              <a:rPr lang="ko-KR" altLang="en-US" sz="1500" b="1" dirty="0"/>
              <a:t> 주변 환경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날씨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등</a:t>
            </a:r>
            <a:r>
              <a:rPr lang="en-US" altLang="ko-KR" sz="1500" b="1" dirty="0"/>
              <a:t>)</a:t>
            </a:r>
            <a:r>
              <a:rPr lang="ko-KR" altLang="en-US" sz="1500" b="1" dirty="0"/>
              <a:t>을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en-US" altLang="ko-KR" sz="1500" b="1" dirty="0"/>
              <a:t>   </a:t>
            </a:r>
            <a:r>
              <a:rPr lang="ko-KR" altLang="en-US" sz="1500" b="1" dirty="0"/>
              <a:t>활용한 음식 추천이 이루어지지 </a:t>
            </a:r>
            <a:br>
              <a:rPr lang="en-US" altLang="ko-KR" sz="1500" b="1" dirty="0"/>
            </a:br>
            <a:r>
              <a:rPr lang="en-US" altLang="ko-KR" sz="1500" b="1" dirty="0"/>
              <a:t>   </a:t>
            </a:r>
            <a:r>
              <a:rPr lang="ko-KR" altLang="en-US" sz="1500" b="1" dirty="0"/>
              <a:t>않음</a:t>
            </a:r>
          </a:p>
          <a:p>
            <a:pPr>
              <a:lnSpc>
                <a:spcPct val="200000"/>
              </a:lnSpc>
            </a:pP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699627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1-2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기존 추천 서비스 분석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FD99DF44-0E61-429D-A93E-94E8E5351BF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27"/>
          <a:stretch/>
        </p:blipFill>
        <p:spPr>
          <a:xfrm>
            <a:off x="1113790" y="2174240"/>
            <a:ext cx="6104255" cy="41713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38ECBF1-9638-4AA9-A427-C866095CF0C4}"/>
              </a:ext>
            </a:extLst>
          </p:cNvPr>
          <p:cNvSpPr txBox="1"/>
          <p:nvPr/>
        </p:nvSpPr>
        <p:spPr>
          <a:xfrm>
            <a:off x="7832725" y="2386965"/>
            <a:ext cx="3312160" cy="186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500" b="1" dirty="0" err="1"/>
              <a:t>ㆍ여러가지</a:t>
            </a:r>
            <a:r>
              <a:rPr lang="ko-KR" altLang="en-US" sz="1500" b="1" dirty="0"/>
              <a:t> 음식 나열로 인한 사용자</a:t>
            </a:r>
            <a:br>
              <a:rPr lang="en-US" altLang="ko-KR" sz="1500" b="1" dirty="0"/>
            </a:br>
            <a:r>
              <a:rPr lang="en-US" altLang="ko-KR" sz="1500" b="1" dirty="0"/>
              <a:t>   </a:t>
            </a:r>
            <a:r>
              <a:rPr lang="ko-KR" altLang="en-US" sz="1500" b="1" dirty="0"/>
              <a:t>피로도 상승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ko-KR" altLang="en-US" sz="1500" b="1" dirty="0" err="1"/>
              <a:t>ㆍ획일화된</a:t>
            </a:r>
            <a:r>
              <a:rPr lang="ko-KR" altLang="en-US" sz="1500" b="1" dirty="0"/>
              <a:t> 음식 메뉴 추천</a:t>
            </a:r>
            <a:endParaRPr lang="en-US" altLang="ko-KR" sz="1500" b="1" dirty="0"/>
          </a:p>
          <a:p>
            <a:pPr>
              <a:lnSpc>
                <a:spcPct val="200000"/>
              </a:lnSpc>
            </a:pPr>
            <a:r>
              <a:rPr lang="en-US" altLang="ko-KR" sz="1500" b="1" dirty="0"/>
              <a:t>    ( </a:t>
            </a:r>
            <a:r>
              <a:rPr lang="ko-KR" altLang="en-US" sz="1500" b="1" dirty="0"/>
              <a:t>점심 메뉴 추천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저녁 메뉴 추천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283751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520" y="4695190"/>
            <a:ext cx="4602480" cy="21628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1-3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기획 의도 및 목표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835" y="3020695"/>
            <a:ext cx="290830" cy="2827655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15" y="2888615"/>
            <a:ext cx="1738630" cy="954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endParaRPr lang="en-US" altLang="ko-KR" sz="28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defRPr/>
            </a:pPr>
            <a:r>
              <a:rPr lang="ko-KR" altLang="en-US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425" y="3660775"/>
            <a:ext cx="9095105" cy="673100"/>
            <a:chOff x="2638425" y="3660775"/>
            <a:chExt cx="9095105" cy="673100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30830" y="366077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38425" y="3812540"/>
              <a:ext cx="408305" cy="351790"/>
              <a:chOff x="2638425" y="3812540"/>
              <a:chExt cx="408305" cy="351790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2638425" y="381254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2663825" y="380746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2714625" y="387794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49930" y="3841115"/>
              <a:ext cx="817689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매일 반복되는 음식 선택 과정에서 발생하는 고민과 결정 피로를 줄이는 서비스의 제공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425" y="4598035"/>
            <a:ext cx="9095105" cy="673100"/>
            <a:chOff x="2638425" y="4598035"/>
            <a:chExt cx="9095105" cy="6731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30830" y="4598035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38425" y="4749165"/>
              <a:ext cx="408305" cy="351790"/>
              <a:chOff x="2638425" y="4749165"/>
              <a:chExt cx="408305" cy="351790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2638425" y="474916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2663825" y="474408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2714625" y="4814570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49930" y="4732655"/>
              <a:ext cx="8176895" cy="388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날씨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위치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시간 정보를 통합한 상황 인지형 음식점 추천 기능 구현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425" y="2724150"/>
            <a:ext cx="9095105" cy="673100"/>
            <a:chOff x="2638425" y="2724150"/>
            <a:chExt cx="9095105" cy="6731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30830" y="272415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7870" y="2905125"/>
              <a:ext cx="814895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위치 정보와 실시간 날씨 데이터를 활용하여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상황에 적합한 음식 선택을 돕는다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38425" y="2875915"/>
              <a:ext cx="408305" cy="387985"/>
              <a:chOff x="2638425" y="2875915"/>
              <a:chExt cx="408305" cy="387985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2638425" y="2875915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2663825" y="2870835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2714625" y="2941320"/>
                <a:ext cx="255905" cy="322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425" y="5534660"/>
            <a:ext cx="9095105" cy="673100"/>
            <a:chOff x="2638425" y="5534660"/>
            <a:chExt cx="9095105" cy="6731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30830" y="5534660"/>
              <a:ext cx="8902700" cy="673100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38425" y="5685790"/>
              <a:ext cx="408305" cy="351790"/>
              <a:chOff x="2638425" y="5685790"/>
              <a:chExt cx="408305" cy="351790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2638425" y="5685790"/>
                <a:ext cx="408305" cy="351790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2663825" y="5680710"/>
                <a:ext cx="306705" cy="32067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2714625" y="5751195"/>
                <a:ext cx="255905" cy="2463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49930" y="5713730"/>
              <a:ext cx="8019415" cy="307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추천 과정에서 발생하는 이용 이력을 수집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·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분석하여 향후 개인화 추천 및 서비스 고도화에 활용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250" y="2466975"/>
            <a:ext cx="1438910" cy="48577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26" name="_x278651016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9759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905" y="5530850"/>
            <a:ext cx="1452245" cy="917575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395" y="4762500"/>
            <a:ext cx="3710305" cy="1869440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350" y="3164840"/>
            <a:ext cx="178435" cy="17843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715" y="5443220"/>
            <a:ext cx="186690" cy="207645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615" y="4903470"/>
            <a:ext cx="1175385" cy="77978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995"/>
            <a:ext cx="2914650" cy="2847975"/>
          </a:xfrm>
          <a:prstGeom prst="rect">
            <a:avLst/>
          </a:prstGeom>
        </p:spPr>
      </p:pic>
      <p:pic>
        <p:nvPicPr>
          <p:cNvPr id="7" name="그래픽 6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34710"/>
            <a:ext cx="12192635" cy="923925"/>
          </a:xfrm>
          <a:prstGeom prst="rect">
            <a:avLst/>
          </a:prstGeom>
          <a:noFill/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672570" y="2240915"/>
            <a:ext cx="149225" cy="149225"/>
          </a:xfrm>
          <a:prstGeom prst="rect">
            <a:avLst/>
          </a:prstGeom>
        </p:spPr>
      </p:pic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28" name="_x278651016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0ECFF9AA-B8BE-40FD-9C3B-6DBCEEE69F9E}"/>
              </a:ext>
            </a:extLst>
          </p:cNvPr>
          <p:cNvSpPr txBox="1"/>
          <p:nvPr/>
        </p:nvSpPr>
        <p:spPr>
          <a:xfrm>
            <a:off x="422910" y="4989830"/>
            <a:ext cx="2036445" cy="488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GeoLocation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이용자의 좌표 획득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81D922-48EB-4362-BBD3-39CA7DDE51E7}"/>
              </a:ext>
            </a:extLst>
          </p:cNvPr>
          <p:cNvSpPr txBox="1"/>
          <p:nvPr/>
        </p:nvSpPr>
        <p:spPr>
          <a:xfrm>
            <a:off x="3216910" y="5048885"/>
            <a:ext cx="2122805" cy="48704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LCC DFS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좌표로 변환 후 기상청에 날씨 요청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8734F482-8D9D-4730-AC07-2A52F78763B7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26143AA-EC37-486B-9653-36B79C491362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1-4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개요</a:t>
              </a:r>
              <a:endParaRPr lang="en-US" altLang="ko-KR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24" name="그래픽 43">
              <a:extLst>
                <a:ext uri="{FF2B5EF4-FFF2-40B4-BE49-F238E27FC236}">
                  <a16:creationId xmlns:a16="http://schemas.microsoft.com/office/drawing/2014/main" id="{61F120D7-0567-4C32-963B-AAE1B9E62D91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10" name="그래픽 9">
            <a:extLst>
              <a:ext uri="{FF2B5EF4-FFF2-40B4-BE49-F238E27FC236}">
                <a16:creationId xmlns:a16="http://schemas.microsoft.com/office/drawing/2014/main" id="{61C75D0F-C629-45FF-9672-63EAEFAD4AB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29890" y="2277110"/>
            <a:ext cx="2704465" cy="186944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F235FE4-2D8A-41A8-90F6-8A48CC24C89D}"/>
              </a:ext>
            </a:extLst>
          </p:cNvPr>
          <p:cNvSpPr txBox="1"/>
          <p:nvPr/>
        </p:nvSpPr>
        <p:spPr>
          <a:xfrm>
            <a:off x="504825" y="4354195"/>
            <a:ext cx="1774825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이용자 좌표</a:t>
            </a:r>
          </a:p>
        </p:txBody>
      </p:sp>
      <p:sp>
        <p:nvSpPr>
          <p:cNvPr id="130" name="TextBox 129"/>
          <p:cNvSpPr txBox="1">
            <a:spLocks/>
          </p:cNvSpPr>
          <p:nvPr/>
        </p:nvSpPr>
        <p:spPr>
          <a:xfrm>
            <a:off x="3442335" y="4293235"/>
            <a:ext cx="1718310" cy="7346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2.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초단기예보 </a:t>
            </a: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API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호출</a:t>
            </a: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3D6C4C69-A727-4DEE-81F3-A65E346BF6D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2095" y="2277110"/>
            <a:ext cx="2386330" cy="1929765"/>
          </a:xfrm>
          <a:prstGeom prst="rect">
            <a:avLst/>
          </a:prstGeom>
        </p:spPr>
      </p:pic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22217562-97B7-43FD-AB54-46F8751A38C1}"/>
              </a:ext>
            </a:extLst>
          </p:cNvPr>
          <p:cNvGrpSpPr/>
          <p:nvPr/>
        </p:nvGrpSpPr>
        <p:grpSpPr>
          <a:xfrm>
            <a:off x="9020810" y="2380615"/>
            <a:ext cx="3041015" cy="1804035"/>
            <a:chOff x="9020810" y="2380615"/>
            <a:chExt cx="3041015" cy="1804035"/>
          </a:xfrm>
        </p:grpSpPr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83D821A6-3480-474D-9107-653311551F12}"/>
                </a:ext>
              </a:extLst>
            </p:cNvPr>
            <p:cNvSpPr/>
            <p:nvPr/>
          </p:nvSpPr>
          <p:spPr>
            <a:xfrm>
              <a:off x="10109200" y="2380615"/>
              <a:ext cx="1130935" cy="1495425"/>
            </a:xfrm>
            <a:custGeom>
              <a:avLst/>
              <a:gdLst>
                <a:gd name="connsiteX0" fmla="*/ 1141224 w 1141537"/>
                <a:gd name="connsiteY0" fmla="*/ 471352 h 1571168"/>
                <a:gd name="connsiteX1" fmla="*/ 684287 w 1141537"/>
                <a:gd name="connsiteY1" fmla="*/ 1503977 h 1571168"/>
                <a:gd name="connsiteX2" fmla="*/ 507059 w 1141537"/>
                <a:gd name="connsiteY2" fmla="*/ 1554413 h 1571168"/>
                <a:gd name="connsiteX3" fmla="*/ 456623 w 1141537"/>
                <a:gd name="connsiteY3" fmla="*/ 1503977 h 1571168"/>
                <a:gd name="connsiteX4" fmla="*/ -314 w 1141537"/>
                <a:gd name="connsiteY4" fmla="*/ 471352 h 1571168"/>
                <a:gd name="connsiteX5" fmla="*/ 570455 w 1141537"/>
                <a:gd name="connsiteY5" fmla="*/ -269 h 1571168"/>
                <a:gd name="connsiteX6" fmla="*/ 1141224 w 1141537"/>
                <a:gd name="connsiteY6" fmla="*/ 471352 h 15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1537" h="1571168">
                  <a:moveTo>
                    <a:pt x="1141224" y="471352"/>
                  </a:moveTo>
                  <a:cubicBezTo>
                    <a:pt x="1141224" y="657149"/>
                    <a:pt x="850802" y="1205082"/>
                    <a:pt x="684287" y="1503977"/>
                  </a:cubicBezTo>
                  <a:cubicBezTo>
                    <a:pt x="649275" y="1566842"/>
                    <a:pt x="569925" y="1589426"/>
                    <a:pt x="507059" y="1554413"/>
                  </a:cubicBezTo>
                  <a:cubicBezTo>
                    <a:pt x="485885" y="1542617"/>
                    <a:pt x="468419" y="1525152"/>
                    <a:pt x="456623" y="1503977"/>
                  </a:cubicBezTo>
                  <a:cubicBezTo>
                    <a:pt x="290109" y="1205082"/>
                    <a:pt x="-314" y="657149"/>
                    <a:pt x="-314" y="471352"/>
                  </a:cubicBezTo>
                  <a:cubicBezTo>
                    <a:pt x="-314" y="210883"/>
                    <a:pt x="255230" y="-269"/>
                    <a:pt x="570455" y="-269"/>
                  </a:cubicBezTo>
                  <a:cubicBezTo>
                    <a:pt x="885680" y="-269"/>
                    <a:pt x="1141224" y="210883"/>
                    <a:pt x="1141224" y="471352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B553194A-D5B0-4E21-A145-693D9F1F0DD4}"/>
                </a:ext>
              </a:extLst>
            </p:cNvPr>
            <p:cNvSpPr/>
            <p:nvPr/>
          </p:nvSpPr>
          <p:spPr>
            <a:xfrm>
              <a:off x="10369550" y="2528570"/>
              <a:ext cx="615950" cy="591820"/>
            </a:xfrm>
            <a:custGeom>
              <a:avLst/>
              <a:gdLst>
                <a:gd name="connsiteX0" fmla="*/ 621682 w 621682"/>
                <a:gd name="connsiteY0" fmla="*/ 310841 h 621682"/>
                <a:gd name="connsiteX1" fmla="*/ 310841 w 621682"/>
                <a:gd name="connsiteY1" fmla="*/ 621682 h 621682"/>
                <a:gd name="connsiteX2" fmla="*/ 0 w 621682"/>
                <a:gd name="connsiteY2" fmla="*/ 310841 h 621682"/>
                <a:gd name="connsiteX3" fmla="*/ 310841 w 621682"/>
                <a:gd name="connsiteY3" fmla="*/ 0 h 621682"/>
                <a:gd name="connsiteX4" fmla="*/ 621682 w 621682"/>
                <a:gd name="connsiteY4" fmla="*/ 310841 h 62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1682" h="621682">
                  <a:moveTo>
                    <a:pt x="621682" y="310841"/>
                  </a:moveTo>
                  <a:cubicBezTo>
                    <a:pt x="621682" y="482514"/>
                    <a:pt x="482514" y="621682"/>
                    <a:pt x="310841" y="621682"/>
                  </a:cubicBezTo>
                  <a:cubicBezTo>
                    <a:pt x="139168" y="621682"/>
                    <a:pt x="0" y="482514"/>
                    <a:pt x="0" y="310841"/>
                  </a:cubicBezTo>
                  <a:cubicBezTo>
                    <a:pt x="0" y="139168"/>
                    <a:pt x="139168" y="0"/>
                    <a:pt x="310841" y="0"/>
                  </a:cubicBezTo>
                  <a:cubicBezTo>
                    <a:pt x="482514" y="0"/>
                    <a:pt x="621682" y="139168"/>
                    <a:pt x="621682" y="310841"/>
                  </a:cubicBezTo>
                  <a:close/>
                </a:path>
              </a:pathLst>
            </a:custGeom>
            <a:solidFill>
              <a:srgbClr val="FFFF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D967D472-B7BF-4807-A4D1-DE6A86F572DB}"/>
                </a:ext>
              </a:extLst>
            </p:cNvPr>
            <p:cNvSpPr/>
            <p:nvPr/>
          </p:nvSpPr>
          <p:spPr>
            <a:xfrm>
              <a:off x="9208135" y="2738120"/>
              <a:ext cx="368935" cy="354330"/>
            </a:xfrm>
            <a:custGeom>
              <a:avLst/>
              <a:gdLst>
                <a:gd name="connsiteX0" fmla="*/ 372362 w 372361"/>
                <a:gd name="connsiteY0" fmla="*/ 186181 h 372361"/>
                <a:gd name="connsiteX1" fmla="*/ 186181 w 372361"/>
                <a:gd name="connsiteY1" fmla="*/ 372362 h 372361"/>
                <a:gd name="connsiteX2" fmla="*/ 0 w 372361"/>
                <a:gd name="connsiteY2" fmla="*/ 186181 h 372361"/>
                <a:gd name="connsiteX3" fmla="*/ 186181 w 372361"/>
                <a:gd name="connsiteY3" fmla="*/ 0 h 372361"/>
                <a:gd name="connsiteX4" fmla="*/ 372362 w 372361"/>
                <a:gd name="connsiteY4" fmla="*/ 186181 h 37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361" h="372361">
                  <a:moveTo>
                    <a:pt x="372362" y="186181"/>
                  </a:moveTo>
                  <a:cubicBezTo>
                    <a:pt x="372362" y="289006"/>
                    <a:pt x="289006" y="372362"/>
                    <a:pt x="186181" y="372362"/>
                  </a:cubicBezTo>
                  <a:cubicBezTo>
                    <a:pt x="83356" y="372362"/>
                    <a:pt x="0" y="289006"/>
                    <a:pt x="0" y="186181"/>
                  </a:cubicBezTo>
                  <a:cubicBezTo>
                    <a:pt x="0" y="83356"/>
                    <a:pt x="83356" y="0"/>
                    <a:pt x="186181" y="0"/>
                  </a:cubicBezTo>
                  <a:cubicBezTo>
                    <a:pt x="289006" y="0"/>
                    <a:pt x="372362" y="83356"/>
                    <a:pt x="372362" y="186181"/>
                  </a:cubicBezTo>
                  <a:close/>
                </a:path>
              </a:pathLst>
            </a:custGeom>
            <a:solidFill>
              <a:srgbClr val="FF6584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4B541338-A0BE-4F0A-9CDE-2D0400BF8729}"/>
                </a:ext>
              </a:extLst>
            </p:cNvPr>
            <p:cNvSpPr/>
            <p:nvPr/>
          </p:nvSpPr>
          <p:spPr>
            <a:xfrm rot="16753048">
              <a:off x="9148445" y="2950210"/>
              <a:ext cx="203835" cy="212090"/>
            </a:xfrm>
            <a:custGeom>
              <a:avLst/>
              <a:gdLst>
                <a:gd name="connsiteX0" fmla="*/ 213910 w 214223"/>
                <a:gd name="connsiteY0" fmla="*/ 106842 h 214223"/>
                <a:gd name="connsiteX1" fmla="*/ 106798 w 214223"/>
                <a:gd name="connsiteY1" fmla="*/ 213954 h 214223"/>
                <a:gd name="connsiteX2" fmla="*/ -313 w 214223"/>
                <a:gd name="connsiteY2" fmla="*/ 106842 h 214223"/>
                <a:gd name="connsiteX3" fmla="*/ 106798 w 214223"/>
                <a:gd name="connsiteY3" fmla="*/ -269 h 214223"/>
                <a:gd name="connsiteX4" fmla="*/ 213910 w 214223"/>
                <a:gd name="connsiteY4" fmla="*/ 106842 h 21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23" h="214223">
                  <a:moveTo>
                    <a:pt x="213910" y="106842"/>
                  </a:moveTo>
                  <a:cubicBezTo>
                    <a:pt x="213910" y="165998"/>
                    <a:pt x="165954" y="213954"/>
                    <a:pt x="106798" y="213954"/>
                  </a:cubicBezTo>
                  <a:cubicBezTo>
                    <a:pt x="47642" y="213954"/>
                    <a:pt x="-313" y="165998"/>
                    <a:pt x="-313" y="106842"/>
                  </a:cubicBezTo>
                  <a:cubicBezTo>
                    <a:pt x="-313" y="47686"/>
                    <a:pt x="47642" y="-269"/>
                    <a:pt x="106798" y="-269"/>
                  </a:cubicBezTo>
                  <a:cubicBezTo>
                    <a:pt x="165954" y="-269"/>
                    <a:pt x="213910" y="47686"/>
                    <a:pt x="213910" y="106842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2DC800BA-F5B4-47FF-9E79-A7768A88D1B9}"/>
                </a:ext>
              </a:extLst>
            </p:cNvPr>
            <p:cNvSpPr/>
            <p:nvPr/>
          </p:nvSpPr>
          <p:spPr>
            <a:xfrm>
              <a:off x="9271000" y="3451225"/>
              <a:ext cx="2461895" cy="734060"/>
            </a:xfrm>
            <a:custGeom>
              <a:avLst/>
              <a:gdLst>
                <a:gd name="connsiteX0" fmla="*/ 2485022 w 2485335"/>
                <a:gd name="connsiteY0" fmla="*/ 137697 h 771331"/>
                <a:gd name="connsiteX1" fmla="*/ 18766 w 2485335"/>
                <a:gd name="connsiteY1" fmla="*/ 760344 h 771331"/>
                <a:gd name="connsiteX2" fmla="*/ 8744 w 2485335"/>
                <a:gd name="connsiteY2" fmla="*/ 771062 h 771331"/>
                <a:gd name="connsiteX3" fmla="*/ -314 w 2485335"/>
                <a:gd name="connsiteY3" fmla="*/ 771062 h 771331"/>
                <a:gd name="connsiteX4" fmla="*/ 9172 w 2485335"/>
                <a:gd name="connsiteY4" fmla="*/ 760344 h 771331"/>
                <a:gd name="connsiteX5" fmla="*/ 2485022 w 2485335"/>
                <a:gd name="connsiteY5" fmla="*/ 137697 h 77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5335" h="771331">
                  <a:moveTo>
                    <a:pt x="2485022" y="137697"/>
                  </a:moveTo>
                  <a:cubicBezTo>
                    <a:pt x="1641517" y="-178504"/>
                    <a:pt x="612740" y="129765"/>
                    <a:pt x="18766" y="760344"/>
                  </a:cubicBezTo>
                  <a:cubicBezTo>
                    <a:pt x="15389" y="763881"/>
                    <a:pt x="12013" y="767472"/>
                    <a:pt x="8744" y="771062"/>
                  </a:cubicBezTo>
                  <a:lnTo>
                    <a:pt x="-314" y="771062"/>
                  </a:lnTo>
                  <a:cubicBezTo>
                    <a:pt x="2795" y="767472"/>
                    <a:pt x="6010" y="763881"/>
                    <a:pt x="9172" y="760344"/>
                  </a:cubicBezTo>
                  <a:cubicBezTo>
                    <a:pt x="615473" y="81799"/>
                    <a:pt x="1630584" y="-188633"/>
                    <a:pt x="2485022" y="13769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BF966F7B-43B7-4852-9A0C-A73B107C35B8}"/>
                </a:ext>
              </a:extLst>
            </p:cNvPr>
            <p:cNvSpPr/>
            <p:nvPr/>
          </p:nvSpPr>
          <p:spPr>
            <a:xfrm>
              <a:off x="11732260" y="3582035"/>
              <a:ext cx="228600" cy="99695"/>
            </a:xfrm>
            <a:custGeom>
              <a:avLst/>
              <a:gdLst>
                <a:gd name="connsiteX0" fmla="*/ 230191 w 230504"/>
                <a:gd name="connsiteY0" fmla="*/ 104613 h 104882"/>
                <a:gd name="connsiteX1" fmla="*/ -314 w 230504"/>
                <a:gd name="connsiteY1" fmla="*/ -269 h 104882"/>
                <a:gd name="connsiteX2" fmla="*/ 230191 w 230504"/>
                <a:gd name="connsiteY2" fmla="*/ 104613 h 10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0504" h="104882">
                  <a:moveTo>
                    <a:pt x="230191" y="104613"/>
                  </a:moveTo>
                  <a:cubicBezTo>
                    <a:pt x="155632" y="64852"/>
                    <a:pt x="78645" y="29823"/>
                    <a:pt x="-314" y="-269"/>
                  </a:cubicBezTo>
                  <a:cubicBezTo>
                    <a:pt x="78854" y="29325"/>
                    <a:pt x="155873" y="64370"/>
                    <a:pt x="230191" y="104613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4867830D-9661-4296-BE1C-B9EF9F431C5B}"/>
                </a:ext>
              </a:extLst>
            </p:cNvPr>
            <p:cNvSpPr/>
            <p:nvPr/>
          </p:nvSpPr>
          <p:spPr>
            <a:xfrm>
              <a:off x="11387455" y="3157855"/>
              <a:ext cx="233045" cy="223520"/>
            </a:xfrm>
            <a:custGeom>
              <a:avLst/>
              <a:gdLst>
                <a:gd name="connsiteX0" fmla="*/ 234955 w 234955"/>
                <a:gd name="connsiteY0" fmla="*/ 117478 h 234955"/>
                <a:gd name="connsiteX1" fmla="*/ 117478 w 234955"/>
                <a:gd name="connsiteY1" fmla="*/ 234955 h 234955"/>
                <a:gd name="connsiteX2" fmla="*/ 0 w 234955"/>
                <a:gd name="connsiteY2" fmla="*/ 117478 h 234955"/>
                <a:gd name="connsiteX3" fmla="*/ 117478 w 234955"/>
                <a:gd name="connsiteY3" fmla="*/ 0 h 234955"/>
                <a:gd name="connsiteX4" fmla="*/ 234955 w 234955"/>
                <a:gd name="connsiteY4" fmla="*/ 117478 h 23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55" h="234955">
                  <a:moveTo>
                    <a:pt x="234955" y="117478"/>
                  </a:moveTo>
                  <a:cubicBezTo>
                    <a:pt x="234955" y="182359"/>
                    <a:pt x="182359" y="234955"/>
                    <a:pt x="117478" y="234955"/>
                  </a:cubicBezTo>
                  <a:cubicBezTo>
                    <a:pt x="52596" y="234955"/>
                    <a:pt x="0" y="182359"/>
                    <a:pt x="0" y="117478"/>
                  </a:cubicBezTo>
                  <a:cubicBezTo>
                    <a:pt x="0" y="52597"/>
                    <a:pt x="52596" y="0"/>
                    <a:pt x="117478" y="0"/>
                  </a:cubicBezTo>
                  <a:cubicBezTo>
                    <a:pt x="182359" y="0"/>
                    <a:pt x="234955" y="52597"/>
                    <a:pt x="234955" y="117478"/>
                  </a:cubicBezTo>
                  <a:close/>
                </a:path>
              </a:pathLst>
            </a:custGeom>
            <a:solidFill>
              <a:srgbClr val="6C63FF">
                <a:alpha val="40000"/>
              </a:srgbClr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1A737428-E473-4900-B719-ADF2ABB77838}"/>
                </a:ext>
              </a:extLst>
            </p:cNvPr>
            <p:cNvSpPr/>
            <p:nvPr/>
          </p:nvSpPr>
          <p:spPr>
            <a:xfrm>
              <a:off x="11513820" y="4065905"/>
              <a:ext cx="52705" cy="115570"/>
            </a:xfrm>
            <a:custGeom>
              <a:avLst/>
              <a:gdLst>
                <a:gd name="connsiteX0" fmla="*/ 2428 w 52956"/>
                <a:gd name="connsiteY0" fmla="*/ 66915 h 121528"/>
                <a:gd name="connsiteX1" fmla="*/ 42602 w 52956"/>
                <a:gd name="connsiteY1" fmla="*/ 121259 h 121528"/>
                <a:gd name="connsiteX2" fmla="*/ 49901 w 52956"/>
                <a:gd name="connsiteY2" fmla="*/ 54074 h 121528"/>
                <a:gd name="connsiteX3" fmla="*/ 9727 w 52956"/>
                <a:gd name="connsiteY3" fmla="*/ -269 h 121528"/>
                <a:gd name="connsiteX4" fmla="*/ 2428 w 52956"/>
                <a:gd name="connsiteY4" fmla="*/ 66915 h 121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56" h="121528">
                  <a:moveTo>
                    <a:pt x="2428" y="66915"/>
                  </a:moveTo>
                  <a:cubicBezTo>
                    <a:pt x="11507" y="100475"/>
                    <a:pt x="42602" y="121259"/>
                    <a:pt x="42602" y="121259"/>
                  </a:cubicBezTo>
                  <a:cubicBezTo>
                    <a:pt x="42602" y="121259"/>
                    <a:pt x="58980" y="87634"/>
                    <a:pt x="49901" y="54074"/>
                  </a:cubicBezTo>
                  <a:cubicBezTo>
                    <a:pt x="40822" y="20514"/>
                    <a:pt x="9727" y="-269"/>
                    <a:pt x="9727" y="-269"/>
                  </a:cubicBezTo>
                  <a:cubicBezTo>
                    <a:pt x="9727" y="-269"/>
                    <a:pt x="-6651" y="33361"/>
                    <a:pt x="2428" y="66915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8778CAE8-54D0-4828-BBD5-566501D655DD}"/>
                </a:ext>
              </a:extLst>
            </p:cNvPr>
            <p:cNvSpPr/>
            <p:nvPr/>
          </p:nvSpPr>
          <p:spPr>
            <a:xfrm>
              <a:off x="11468100" y="4098290"/>
              <a:ext cx="89535" cy="83820"/>
            </a:xfrm>
            <a:custGeom>
              <a:avLst/>
              <a:gdLst>
                <a:gd name="connsiteX0" fmla="*/ 61941 w 90208"/>
                <a:gd name="connsiteY0" fmla="*/ 26024 h 87818"/>
                <a:gd name="connsiteX1" fmla="*/ 89895 w 90208"/>
                <a:gd name="connsiteY1" fmla="*/ 87549 h 87818"/>
                <a:gd name="connsiteX2" fmla="*/ 27641 w 90208"/>
                <a:gd name="connsiteY2" fmla="*/ 61261 h 87818"/>
                <a:gd name="connsiteX3" fmla="*/ -314 w 90208"/>
                <a:gd name="connsiteY3" fmla="*/ -269 h 87818"/>
                <a:gd name="connsiteX4" fmla="*/ 61941 w 90208"/>
                <a:gd name="connsiteY4" fmla="*/ 26024 h 8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08" h="87818">
                  <a:moveTo>
                    <a:pt x="61941" y="26024"/>
                  </a:moveTo>
                  <a:cubicBezTo>
                    <a:pt x="86856" y="50275"/>
                    <a:pt x="89895" y="87549"/>
                    <a:pt x="89895" y="87549"/>
                  </a:cubicBezTo>
                  <a:cubicBezTo>
                    <a:pt x="89895" y="87549"/>
                    <a:pt x="52551" y="85512"/>
                    <a:pt x="27641" y="61261"/>
                  </a:cubicBezTo>
                  <a:cubicBezTo>
                    <a:pt x="2731" y="37010"/>
                    <a:pt x="-314" y="-269"/>
                    <a:pt x="-314" y="-269"/>
                  </a:cubicBezTo>
                  <a:cubicBezTo>
                    <a:pt x="-314" y="-269"/>
                    <a:pt x="37030" y="1773"/>
                    <a:pt x="61941" y="26024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874BB850-4FF7-41FA-B427-DEFBC07035A3}"/>
                </a:ext>
              </a:extLst>
            </p:cNvPr>
            <p:cNvSpPr/>
            <p:nvPr/>
          </p:nvSpPr>
          <p:spPr>
            <a:xfrm>
              <a:off x="9036050" y="3685540"/>
              <a:ext cx="2540" cy="52705"/>
            </a:xfrm>
            <a:custGeom>
              <a:avLst/>
              <a:gdLst>
                <a:gd name="connsiteX0" fmla="*/ 2259 w 2572"/>
                <a:gd name="connsiteY0" fmla="*/ 267 h 55094"/>
                <a:gd name="connsiteX1" fmla="*/ 2259 w 2572"/>
                <a:gd name="connsiteY1" fmla="*/ 52038 h 55094"/>
                <a:gd name="connsiteX2" fmla="*/ -314 w 2572"/>
                <a:gd name="connsiteY2" fmla="*/ 54825 h 55094"/>
                <a:gd name="connsiteX3" fmla="*/ -314 w 2572"/>
                <a:gd name="connsiteY3" fmla="*/ -269 h 55094"/>
                <a:gd name="connsiteX4" fmla="*/ 2259 w 2572"/>
                <a:gd name="connsiteY4" fmla="*/ 267 h 5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2" h="55094">
                  <a:moveTo>
                    <a:pt x="2259" y="267"/>
                  </a:moveTo>
                  <a:lnTo>
                    <a:pt x="2259" y="52038"/>
                  </a:lnTo>
                  <a:lnTo>
                    <a:pt x="-314" y="54825"/>
                  </a:lnTo>
                  <a:lnTo>
                    <a:pt x="-314" y="-269"/>
                  </a:lnTo>
                  <a:cubicBezTo>
                    <a:pt x="544" y="-108"/>
                    <a:pt x="1401" y="106"/>
                    <a:pt x="2259" y="267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FFC0418B-96D6-4794-9ABC-3AD56FA8FA22}"/>
                </a:ext>
              </a:extLst>
            </p:cNvPr>
            <p:cNvSpPr/>
            <p:nvPr/>
          </p:nvSpPr>
          <p:spPr>
            <a:xfrm>
              <a:off x="9036050" y="3674745"/>
              <a:ext cx="200660" cy="503555"/>
            </a:xfrm>
            <a:custGeom>
              <a:avLst/>
              <a:gdLst>
                <a:gd name="connsiteX0" fmla="*/ 167219 w 202436"/>
                <a:gd name="connsiteY0" fmla="*/ 524945 h 528912"/>
                <a:gd name="connsiteX1" fmla="*/ 164861 w 202436"/>
                <a:gd name="connsiteY1" fmla="*/ 528643 h 528912"/>
                <a:gd name="connsiteX2" fmla="*/ -314 w 202436"/>
                <a:gd name="connsiteY2" fmla="*/ 528643 h 528912"/>
                <a:gd name="connsiteX3" fmla="*/ -314 w 202436"/>
                <a:gd name="connsiteY3" fmla="*/ 13826 h 528912"/>
                <a:gd name="connsiteX4" fmla="*/ 2259 w 202436"/>
                <a:gd name="connsiteY4" fmla="*/ 11253 h 528912"/>
                <a:gd name="connsiteX5" fmla="*/ 24179 w 202436"/>
                <a:gd name="connsiteY5" fmla="*/ 36174 h 528912"/>
                <a:gd name="connsiteX6" fmla="*/ 24179 w 202436"/>
                <a:gd name="connsiteY6" fmla="*/ -269 h 528912"/>
                <a:gd name="connsiteX7" fmla="*/ 93850 w 202436"/>
                <a:gd name="connsiteY7" fmla="*/ -269 h 528912"/>
                <a:gd name="connsiteX8" fmla="*/ 93850 w 202436"/>
                <a:gd name="connsiteY8" fmla="*/ 115385 h 528912"/>
                <a:gd name="connsiteX9" fmla="*/ 164218 w 202436"/>
                <a:gd name="connsiteY9" fmla="*/ 195293 h 528912"/>
                <a:gd name="connsiteX10" fmla="*/ 164861 w 202436"/>
                <a:gd name="connsiteY10" fmla="*/ 196043 h 528912"/>
                <a:gd name="connsiteX11" fmla="*/ 167326 w 202436"/>
                <a:gd name="connsiteY11" fmla="*/ 204082 h 528912"/>
                <a:gd name="connsiteX12" fmla="*/ 167380 w 202436"/>
                <a:gd name="connsiteY12" fmla="*/ 204189 h 528912"/>
                <a:gd name="connsiteX13" fmla="*/ 193319 w 202436"/>
                <a:gd name="connsiteY13" fmla="*/ 307035 h 528912"/>
                <a:gd name="connsiteX14" fmla="*/ 167219 w 202436"/>
                <a:gd name="connsiteY14" fmla="*/ 524945 h 528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2436" h="528912">
                  <a:moveTo>
                    <a:pt x="167219" y="524945"/>
                  </a:moveTo>
                  <a:cubicBezTo>
                    <a:pt x="166469" y="526178"/>
                    <a:pt x="165665" y="527410"/>
                    <a:pt x="164861" y="528643"/>
                  </a:cubicBezTo>
                  <a:lnTo>
                    <a:pt x="-314" y="528643"/>
                  </a:lnTo>
                  <a:lnTo>
                    <a:pt x="-314" y="13826"/>
                  </a:lnTo>
                  <a:lnTo>
                    <a:pt x="2259" y="11253"/>
                  </a:lnTo>
                  <a:lnTo>
                    <a:pt x="24179" y="36174"/>
                  </a:lnTo>
                  <a:lnTo>
                    <a:pt x="24179" y="-269"/>
                  </a:lnTo>
                  <a:lnTo>
                    <a:pt x="93850" y="-269"/>
                  </a:lnTo>
                  <a:lnTo>
                    <a:pt x="93850" y="115385"/>
                  </a:lnTo>
                  <a:lnTo>
                    <a:pt x="164218" y="195293"/>
                  </a:lnTo>
                  <a:lnTo>
                    <a:pt x="164861" y="196043"/>
                  </a:lnTo>
                  <a:cubicBezTo>
                    <a:pt x="165719" y="198723"/>
                    <a:pt x="166522" y="201402"/>
                    <a:pt x="167326" y="204082"/>
                  </a:cubicBezTo>
                  <a:cubicBezTo>
                    <a:pt x="167332" y="204120"/>
                    <a:pt x="167348" y="204157"/>
                    <a:pt x="167380" y="204189"/>
                  </a:cubicBezTo>
                  <a:cubicBezTo>
                    <a:pt x="177932" y="237958"/>
                    <a:pt x="186593" y="272296"/>
                    <a:pt x="193319" y="307035"/>
                  </a:cubicBezTo>
                  <a:cubicBezTo>
                    <a:pt x="208647" y="388979"/>
                    <a:pt x="206342" y="464117"/>
                    <a:pt x="167219" y="52494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90820960-6D3D-47FE-93D8-F4E931844C7F}"/>
                </a:ext>
              </a:extLst>
            </p:cNvPr>
            <p:cNvSpPr/>
            <p:nvPr/>
          </p:nvSpPr>
          <p:spPr>
            <a:xfrm>
              <a:off x="9050020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3D9252F3-137F-4D28-83DD-D9B905AD0232}"/>
                </a:ext>
              </a:extLst>
            </p:cNvPr>
            <p:cNvSpPr/>
            <p:nvPr/>
          </p:nvSpPr>
          <p:spPr>
            <a:xfrm>
              <a:off x="9050020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0DB7FC09-2E22-47DC-974A-CF50A37F9D1E}"/>
                </a:ext>
              </a:extLst>
            </p:cNvPr>
            <p:cNvSpPr/>
            <p:nvPr/>
          </p:nvSpPr>
          <p:spPr>
            <a:xfrm>
              <a:off x="10424795" y="3640455"/>
              <a:ext cx="732155" cy="334010"/>
            </a:xfrm>
            <a:custGeom>
              <a:avLst/>
              <a:gdLst>
                <a:gd name="connsiteX0" fmla="*/ 21858 w 739094"/>
                <a:gd name="connsiteY0" fmla="*/ 261661 h 350621"/>
                <a:gd name="connsiteX1" fmla="*/ -314 w 739094"/>
                <a:gd name="connsiteY1" fmla="*/ 224708 h 350621"/>
                <a:gd name="connsiteX2" fmla="*/ 206632 w 739094"/>
                <a:gd name="connsiteY2" fmla="*/ 47325 h 350621"/>
                <a:gd name="connsiteX3" fmla="*/ 738781 w 739094"/>
                <a:gd name="connsiteY3" fmla="*/ 47325 h 350621"/>
                <a:gd name="connsiteX4" fmla="*/ 738781 w 739094"/>
                <a:gd name="connsiteY4" fmla="*/ 99059 h 350621"/>
                <a:gd name="connsiteX5" fmla="*/ 546617 w 739094"/>
                <a:gd name="connsiteY5" fmla="*/ 306009 h 350621"/>
                <a:gd name="connsiteX6" fmla="*/ 324885 w 739094"/>
                <a:gd name="connsiteY6" fmla="*/ 350352 h 35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094" h="350621">
                  <a:moveTo>
                    <a:pt x="21858" y="261661"/>
                  </a:moveTo>
                  <a:lnTo>
                    <a:pt x="-314" y="224708"/>
                  </a:lnTo>
                  <a:lnTo>
                    <a:pt x="206632" y="47325"/>
                  </a:lnTo>
                  <a:cubicBezTo>
                    <a:pt x="359624" y="-26317"/>
                    <a:pt x="544044" y="-5068"/>
                    <a:pt x="738781" y="47325"/>
                  </a:cubicBezTo>
                  <a:lnTo>
                    <a:pt x="738781" y="99059"/>
                  </a:lnTo>
                  <a:lnTo>
                    <a:pt x="546617" y="306009"/>
                  </a:lnTo>
                  <a:lnTo>
                    <a:pt x="324885" y="35035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1F35891B-A0AC-45EB-AE5D-4B73BD92656A}"/>
                </a:ext>
              </a:extLst>
            </p:cNvPr>
            <p:cNvSpPr/>
            <p:nvPr/>
          </p:nvSpPr>
          <p:spPr>
            <a:xfrm>
              <a:off x="10915650" y="3674745"/>
              <a:ext cx="402590" cy="503555"/>
            </a:xfrm>
            <a:custGeom>
              <a:avLst/>
              <a:gdLst>
                <a:gd name="connsiteX0" fmla="*/ 335191 w 406499"/>
                <a:gd name="connsiteY0" fmla="*/ 115369 h 528906"/>
                <a:gd name="connsiteX1" fmla="*/ 335191 w 406499"/>
                <a:gd name="connsiteY1" fmla="*/ -269 h 528906"/>
                <a:gd name="connsiteX2" fmla="*/ 265520 w 406499"/>
                <a:gd name="connsiteY2" fmla="*/ -269 h 528906"/>
                <a:gd name="connsiteX3" fmla="*/ 265520 w 406499"/>
                <a:gd name="connsiteY3" fmla="*/ 36196 h 528906"/>
                <a:gd name="connsiteX4" fmla="*/ 243590 w 406499"/>
                <a:gd name="connsiteY4" fmla="*/ 11275 h 528906"/>
                <a:gd name="connsiteX5" fmla="*/ 66206 w 406499"/>
                <a:gd name="connsiteY5" fmla="*/ 188658 h 528906"/>
                <a:gd name="connsiteX6" fmla="*/ 36639 w 406499"/>
                <a:gd name="connsiteY6" fmla="*/ 218220 h 528906"/>
                <a:gd name="connsiteX7" fmla="*/ -314 w 406499"/>
                <a:gd name="connsiteY7" fmla="*/ 366041 h 528906"/>
                <a:gd name="connsiteX8" fmla="*/ 66206 w 406499"/>
                <a:gd name="connsiteY8" fmla="*/ 528637 h 528906"/>
                <a:gd name="connsiteX9" fmla="*/ 406186 w 406499"/>
                <a:gd name="connsiteY9" fmla="*/ 528637 h 528906"/>
                <a:gd name="connsiteX10" fmla="*/ 406186 w 406499"/>
                <a:gd name="connsiteY10" fmla="*/ 196048 h 52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499" h="528906">
                  <a:moveTo>
                    <a:pt x="335191" y="115369"/>
                  </a:moveTo>
                  <a:cubicBezTo>
                    <a:pt x="371940" y="74493"/>
                    <a:pt x="377048" y="35622"/>
                    <a:pt x="335191" y="-269"/>
                  </a:cubicBezTo>
                  <a:lnTo>
                    <a:pt x="265520" y="-269"/>
                  </a:lnTo>
                  <a:lnTo>
                    <a:pt x="265520" y="36196"/>
                  </a:lnTo>
                  <a:lnTo>
                    <a:pt x="243590" y="11275"/>
                  </a:lnTo>
                  <a:lnTo>
                    <a:pt x="66206" y="188658"/>
                  </a:lnTo>
                  <a:lnTo>
                    <a:pt x="36639" y="218220"/>
                  </a:lnTo>
                  <a:lnTo>
                    <a:pt x="-314" y="366041"/>
                  </a:lnTo>
                  <a:lnTo>
                    <a:pt x="66206" y="528637"/>
                  </a:lnTo>
                  <a:lnTo>
                    <a:pt x="406186" y="528637"/>
                  </a:lnTo>
                  <a:lnTo>
                    <a:pt x="406186" y="196048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074B7363-CD4E-417E-93E1-466AB181790F}"/>
                </a:ext>
              </a:extLst>
            </p:cNvPr>
            <p:cNvSpPr/>
            <p:nvPr/>
          </p:nvSpPr>
          <p:spPr>
            <a:xfrm>
              <a:off x="10386695" y="3855085"/>
              <a:ext cx="594995" cy="323850"/>
            </a:xfrm>
            <a:custGeom>
              <a:avLst/>
              <a:gdLst>
                <a:gd name="connsiteX0" fmla="*/ 38514 w 600538"/>
                <a:gd name="connsiteY0" fmla="*/ -269 h 339979"/>
                <a:gd name="connsiteX1" fmla="*/ 600225 w 600538"/>
                <a:gd name="connsiteY1" fmla="*/ -269 h 339979"/>
                <a:gd name="connsiteX2" fmla="*/ 600225 w 600538"/>
                <a:gd name="connsiteY2" fmla="*/ 339710 h 339979"/>
                <a:gd name="connsiteX3" fmla="*/ 38514 w 600538"/>
                <a:gd name="connsiteY3" fmla="*/ 339710 h 339979"/>
                <a:gd name="connsiteX4" fmla="*/ 38514 w 600538"/>
                <a:gd name="connsiteY4" fmla="*/ -269 h 339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0538" h="339979">
                  <a:moveTo>
                    <a:pt x="38514" y="-269"/>
                  </a:moveTo>
                  <a:lnTo>
                    <a:pt x="600225" y="-269"/>
                  </a:lnTo>
                  <a:lnTo>
                    <a:pt x="600225" y="339710"/>
                  </a:lnTo>
                  <a:lnTo>
                    <a:pt x="38514" y="339710"/>
                  </a:lnTo>
                  <a:cubicBezTo>
                    <a:pt x="-29443" y="266191"/>
                    <a:pt x="5859" y="132181"/>
                    <a:pt x="38514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D48781A4-1707-4B9A-81C1-B399A1E45A81}"/>
                </a:ext>
              </a:extLst>
            </p:cNvPr>
            <p:cNvSpPr/>
            <p:nvPr/>
          </p:nvSpPr>
          <p:spPr>
            <a:xfrm>
              <a:off x="10787380" y="3956685"/>
              <a:ext cx="116840" cy="98425"/>
            </a:xfrm>
            <a:custGeom>
              <a:avLst/>
              <a:gdLst>
                <a:gd name="connsiteX0" fmla="*/ 0 w 118254"/>
                <a:gd name="connsiteY0" fmla="*/ 0 h 103473"/>
                <a:gd name="connsiteX1" fmla="*/ 118255 w 118254"/>
                <a:gd name="connsiteY1" fmla="*/ 0 h 103473"/>
                <a:gd name="connsiteX2" fmla="*/ 118255 w 118254"/>
                <a:gd name="connsiteY2" fmla="*/ 103473 h 103473"/>
                <a:gd name="connsiteX3" fmla="*/ 0 w 118254"/>
                <a:gd name="connsiteY3" fmla="*/ 103473 h 10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8254" h="103473">
                  <a:moveTo>
                    <a:pt x="0" y="0"/>
                  </a:moveTo>
                  <a:lnTo>
                    <a:pt x="118255" y="0"/>
                  </a:lnTo>
                  <a:lnTo>
                    <a:pt x="118255" y="103473"/>
                  </a:lnTo>
                  <a:lnTo>
                    <a:pt x="0" y="10347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8F829C31-54F3-453C-B247-126784822F19}"/>
                </a:ext>
              </a:extLst>
            </p:cNvPr>
            <p:cNvSpPr/>
            <p:nvPr/>
          </p:nvSpPr>
          <p:spPr>
            <a:xfrm>
              <a:off x="10637520" y="3953510"/>
              <a:ext cx="102235" cy="225425"/>
            </a:xfrm>
            <a:custGeom>
              <a:avLst/>
              <a:gdLst>
                <a:gd name="connsiteX0" fmla="*/ 0 w 103473"/>
                <a:gd name="connsiteY0" fmla="*/ 0 h 236509"/>
                <a:gd name="connsiteX1" fmla="*/ 103473 w 103473"/>
                <a:gd name="connsiteY1" fmla="*/ 0 h 236509"/>
                <a:gd name="connsiteX2" fmla="*/ 103473 w 103473"/>
                <a:gd name="connsiteY2" fmla="*/ 236509 h 236509"/>
                <a:gd name="connsiteX3" fmla="*/ 0 w 103473"/>
                <a:gd name="connsiteY3" fmla="*/ 236509 h 23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6509">
                  <a:moveTo>
                    <a:pt x="0" y="0"/>
                  </a:moveTo>
                  <a:lnTo>
                    <a:pt x="103473" y="0"/>
                  </a:lnTo>
                  <a:lnTo>
                    <a:pt x="103473" y="236509"/>
                  </a:lnTo>
                  <a:lnTo>
                    <a:pt x="0" y="236509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0AF6FF4D-2589-4CFF-974A-EEE8AF5AB5D0}"/>
                </a:ext>
              </a:extLst>
            </p:cNvPr>
            <p:cNvSpPr/>
            <p:nvPr/>
          </p:nvSpPr>
          <p:spPr>
            <a:xfrm>
              <a:off x="10476230" y="395351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45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45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2464DE78-113D-4F18-BBA1-77DC6A17996B}"/>
                </a:ext>
              </a:extLst>
            </p:cNvPr>
            <p:cNvSpPr/>
            <p:nvPr/>
          </p:nvSpPr>
          <p:spPr>
            <a:xfrm>
              <a:off x="10476230" y="4016375"/>
              <a:ext cx="43815" cy="34925"/>
            </a:xfrm>
            <a:custGeom>
              <a:avLst/>
              <a:gdLst>
                <a:gd name="connsiteX0" fmla="*/ 40645 w 44343"/>
                <a:gd name="connsiteY0" fmla="*/ 0 h 36958"/>
                <a:gd name="connsiteX1" fmla="*/ 0 w 44343"/>
                <a:gd name="connsiteY1" fmla="*/ 0 h 36958"/>
                <a:gd name="connsiteX2" fmla="*/ 0 w 44343"/>
                <a:gd name="connsiteY2" fmla="*/ 36958 h 36958"/>
                <a:gd name="connsiteX3" fmla="*/ 44343 w 44343"/>
                <a:gd name="connsiteY3" fmla="*/ 36958 h 36958"/>
                <a:gd name="connsiteX4" fmla="*/ 44343 w 44343"/>
                <a:gd name="connsiteY4" fmla="*/ 0 h 36958"/>
                <a:gd name="connsiteX5" fmla="*/ 40645 w 44343"/>
                <a:gd name="connsiteY5" fmla="*/ 0 h 3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8">
                  <a:moveTo>
                    <a:pt x="40645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45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93EBF5BF-DE0C-4BA3-8458-093A039CB222}"/>
                </a:ext>
              </a:extLst>
            </p:cNvPr>
            <p:cNvSpPr/>
            <p:nvPr/>
          </p:nvSpPr>
          <p:spPr>
            <a:xfrm>
              <a:off x="10549255" y="395351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2A7D5036-4769-4329-8D7A-81664F343096}"/>
                </a:ext>
              </a:extLst>
            </p:cNvPr>
            <p:cNvSpPr/>
            <p:nvPr/>
          </p:nvSpPr>
          <p:spPr>
            <a:xfrm>
              <a:off x="10549255" y="401637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5870539E-6954-4C26-B427-3ADB4499617F}"/>
                </a:ext>
              </a:extLst>
            </p:cNvPr>
            <p:cNvSpPr/>
            <p:nvPr/>
          </p:nvSpPr>
          <p:spPr>
            <a:xfrm>
              <a:off x="11094720" y="3956685"/>
              <a:ext cx="43815" cy="34925"/>
            </a:xfrm>
            <a:custGeom>
              <a:avLst/>
              <a:gdLst>
                <a:gd name="connsiteX0" fmla="*/ 44349 w 44348"/>
                <a:gd name="connsiteY0" fmla="*/ 36958 h 36957"/>
                <a:gd name="connsiteX1" fmla="*/ 44349 w 44348"/>
                <a:gd name="connsiteY1" fmla="*/ 0 h 36957"/>
                <a:gd name="connsiteX2" fmla="*/ 0 w 44348"/>
                <a:gd name="connsiteY2" fmla="*/ 0 h 36957"/>
                <a:gd name="connsiteX3" fmla="*/ 0 w 44348"/>
                <a:gd name="connsiteY3" fmla="*/ 36958 h 36957"/>
                <a:gd name="connsiteX4" fmla="*/ 40651 w 44348"/>
                <a:gd name="connsiteY4" fmla="*/ 36958 h 36957"/>
                <a:gd name="connsiteX5" fmla="*/ 44349 w 44348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7">
                  <a:moveTo>
                    <a:pt x="44349" y="36958"/>
                  </a:moveTo>
                  <a:lnTo>
                    <a:pt x="44349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9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52253FCD-9E1C-4A78-A7E9-E17DE734AA1A}"/>
                </a:ext>
              </a:extLst>
            </p:cNvPr>
            <p:cNvSpPr/>
            <p:nvPr/>
          </p:nvSpPr>
          <p:spPr>
            <a:xfrm>
              <a:off x="11094720" y="4020185"/>
              <a:ext cx="43815" cy="34925"/>
            </a:xfrm>
            <a:custGeom>
              <a:avLst/>
              <a:gdLst>
                <a:gd name="connsiteX0" fmla="*/ 40651 w 44348"/>
                <a:gd name="connsiteY0" fmla="*/ 0 h 36952"/>
                <a:gd name="connsiteX1" fmla="*/ 0 w 44348"/>
                <a:gd name="connsiteY1" fmla="*/ 0 h 36952"/>
                <a:gd name="connsiteX2" fmla="*/ 0 w 44348"/>
                <a:gd name="connsiteY2" fmla="*/ 36953 h 36952"/>
                <a:gd name="connsiteX3" fmla="*/ 44349 w 44348"/>
                <a:gd name="connsiteY3" fmla="*/ 36953 h 36952"/>
                <a:gd name="connsiteX4" fmla="*/ 44349 w 44348"/>
                <a:gd name="connsiteY4" fmla="*/ 0 h 36952"/>
                <a:gd name="connsiteX5" fmla="*/ 40651 w 44348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8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9" y="36953"/>
                  </a:lnTo>
                  <a:lnTo>
                    <a:pt x="44349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3183AC10-BA41-4E46-B773-927D585FCDAA}"/>
                </a:ext>
              </a:extLst>
            </p:cNvPr>
            <p:cNvSpPr/>
            <p:nvPr/>
          </p:nvSpPr>
          <p:spPr>
            <a:xfrm>
              <a:off x="11167745" y="39566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0C2BA7F3-3F2A-4C83-9F87-C41D96CBEB7F}"/>
                </a:ext>
              </a:extLst>
            </p:cNvPr>
            <p:cNvSpPr/>
            <p:nvPr/>
          </p:nvSpPr>
          <p:spPr>
            <a:xfrm>
              <a:off x="11167745" y="402018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3FA45A4F-A89A-40C8-A01A-5E5823D9083C}"/>
                </a:ext>
              </a:extLst>
            </p:cNvPr>
            <p:cNvSpPr/>
            <p:nvPr/>
          </p:nvSpPr>
          <p:spPr>
            <a:xfrm>
              <a:off x="9419590" y="3094990"/>
              <a:ext cx="724535" cy="372745"/>
            </a:xfrm>
            <a:custGeom>
              <a:avLst/>
              <a:gdLst>
                <a:gd name="connsiteX0" fmla="*/ 36953 w 731698"/>
                <a:gd name="connsiteY0" fmla="*/ 214341 h 391724"/>
                <a:gd name="connsiteX1" fmla="*/ 0 w 731698"/>
                <a:gd name="connsiteY1" fmla="*/ 184774 h 391724"/>
                <a:gd name="connsiteX2" fmla="*/ 206945 w 731698"/>
                <a:gd name="connsiteY2" fmla="*/ 0 h 391724"/>
                <a:gd name="connsiteX3" fmla="*/ 731699 w 731698"/>
                <a:gd name="connsiteY3" fmla="*/ 0 h 391724"/>
                <a:gd name="connsiteX4" fmla="*/ 731699 w 731698"/>
                <a:gd name="connsiteY4" fmla="*/ 162602 h 391724"/>
                <a:gd name="connsiteX5" fmla="*/ 391719 w 731698"/>
                <a:gd name="connsiteY5" fmla="*/ 391724 h 391724"/>
                <a:gd name="connsiteX6" fmla="*/ 36953 w 731698"/>
                <a:gd name="connsiteY6" fmla="*/ 214341 h 391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698" h="391724">
                  <a:moveTo>
                    <a:pt x="36953" y="214341"/>
                  </a:moveTo>
                  <a:lnTo>
                    <a:pt x="0" y="184774"/>
                  </a:lnTo>
                  <a:lnTo>
                    <a:pt x="206945" y="0"/>
                  </a:lnTo>
                  <a:lnTo>
                    <a:pt x="731699" y="0"/>
                  </a:lnTo>
                  <a:lnTo>
                    <a:pt x="731699" y="162602"/>
                  </a:lnTo>
                  <a:lnTo>
                    <a:pt x="391719" y="391724"/>
                  </a:lnTo>
                  <a:lnTo>
                    <a:pt x="36953" y="21434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B4449605-0840-4852-91EE-3C150ABA5E96}"/>
                </a:ext>
              </a:extLst>
            </p:cNvPr>
            <p:cNvSpPr/>
            <p:nvPr/>
          </p:nvSpPr>
          <p:spPr>
            <a:xfrm>
              <a:off x="9808210" y="3094990"/>
              <a:ext cx="570865" cy="1083310"/>
            </a:xfrm>
            <a:custGeom>
              <a:avLst/>
              <a:gdLst>
                <a:gd name="connsiteX0" fmla="*/ 435009 w 576167"/>
                <a:gd name="connsiteY0" fmla="*/ 103380 h 1138203"/>
                <a:gd name="connsiteX1" fmla="*/ 435009 w 576167"/>
                <a:gd name="connsiteY1" fmla="*/ 3423 h 1138203"/>
                <a:gd name="connsiteX2" fmla="*/ 365337 w 576167"/>
                <a:gd name="connsiteY2" fmla="*/ 3423 h 1138203"/>
                <a:gd name="connsiteX3" fmla="*/ 365337 w 576167"/>
                <a:gd name="connsiteY3" fmla="*/ 27905 h 1138203"/>
                <a:gd name="connsiteX4" fmla="*/ 339334 w 576167"/>
                <a:gd name="connsiteY4" fmla="*/ -269 h 1138203"/>
                <a:gd name="connsiteX5" fmla="*/ 169341 w 576167"/>
                <a:gd name="connsiteY5" fmla="*/ 184504 h 1138203"/>
                <a:gd name="connsiteX6" fmla="*/ 102827 w 576167"/>
                <a:gd name="connsiteY6" fmla="*/ 228853 h 1138203"/>
                <a:gd name="connsiteX7" fmla="*/ -314 w 576167"/>
                <a:gd name="connsiteY7" fmla="*/ 982391 h 1138203"/>
                <a:gd name="connsiteX8" fmla="*/ 155230 w 576167"/>
                <a:gd name="connsiteY8" fmla="*/ 1137934 h 1138203"/>
                <a:gd name="connsiteX9" fmla="*/ 516717 w 576167"/>
                <a:gd name="connsiteY9" fmla="*/ 1137934 h 1138203"/>
                <a:gd name="connsiteX10" fmla="*/ 516717 w 576167"/>
                <a:gd name="connsiteY10" fmla="*/ 191895 h 113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167" h="1138203">
                  <a:moveTo>
                    <a:pt x="435009" y="103380"/>
                  </a:moveTo>
                  <a:lnTo>
                    <a:pt x="435009" y="3423"/>
                  </a:lnTo>
                  <a:lnTo>
                    <a:pt x="365337" y="3423"/>
                  </a:lnTo>
                  <a:lnTo>
                    <a:pt x="365337" y="27905"/>
                  </a:lnTo>
                  <a:lnTo>
                    <a:pt x="339334" y="-269"/>
                  </a:lnTo>
                  <a:lnTo>
                    <a:pt x="169341" y="184504"/>
                  </a:lnTo>
                  <a:lnTo>
                    <a:pt x="102827" y="228853"/>
                  </a:lnTo>
                  <a:lnTo>
                    <a:pt x="-314" y="982391"/>
                  </a:lnTo>
                  <a:lnTo>
                    <a:pt x="155230" y="1137934"/>
                  </a:lnTo>
                  <a:lnTo>
                    <a:pt x="516717" y="1137934"/>
                  </a:lnTo>
                  <a:cubicBezTo>
                    <a:pt x="572106" y="859314"/>
                    <a:pt x="616025" y="573093"/>
                    <a:pt x="516717" y="191895"/>
                  </a:cubicBez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59D4FF68-E11B-430E-BE98-1DF911327749}"/>
                </a:ext>
              </a:extLst>
            </p:cNvPr>
            <p:cNvSpPr/>
            <p:nvPr/>
          </p:nvSpPr>
          <p:spPr>
            <a:xfrm>
              <a:off x="9362440" y="3270885"/>
              <a:ext cx="614045" cy="907415"/>
            </a:xfrm>
            <a:custGeom>
              <a:avLst/>
              <a:gdLst>
                <a:gd name="connsiteX0" fmla="*/ 57585 w 619609"/>
                <a:gd name="connsiteY0" fmla="*/ -269 h 953429"/>
                <a:gd name="connsiteX1" fmla="*/ 619296 w 619609"/>
                <a:gd name="connsiteY1" fmla="*/ -269 h 953429"/>
                <a:gd name="connsiteX2" fmla="*/ 619296 w 619609"/>
                <a:gd name="connsiteY2" fmla="*/ 953161 h 953429"/>
                <a:gd name="connsiteX3" fmla="*/ 57585 w 619609"/>
                <a:gd name="connsiteY3" fmla="*/ 953161 h 953429"/>
                <a:gd name="connsiteX4" fmla="*/ 57585 w 619609"/>
                <a:gd name="connsiteY4" fmla="*/ -269 h 95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609" h="953429">
                  <a:moveTo>
                    <a:pt x="57585" y="-269"/>
                  </a:moveTo>
                  <a:lnTo>
                    <a:pt x="619296" y="-269"/>
                  </a:lnTo>
                  <a:lnTo>
                    <a:pt x="619296" y="953161"/>
                  </a:lnTo>
                  <a:lnTo>
                    <a:pt x="57585" y="953161"/>
                  </a:lnTo>
                  <a:cubicBezTo>
                    <a:pt x="-3881" y="582761"/>
                    <a:pt x="-33899" y="239271"/>
                    <a:pt x="57585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7B61E611-3A83-4BFA-BB34-89831BB110BB}"/>
                </a:ext>
              </a:extLst>
            </p:cNvPr>
            <p:cNvSpPr/>
            <p:nvPr/>
          </p:nvSpPr>
          <p:spPr>
            <a:xfrm>
              <a:off x="9635490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56737EA8-E5CF-4371-8173-16CDAD2C7E3B}"/>
                </a:ext>
              </a:extLst>
            </p:cNvPr>
            <p:cNvSpPr/>
            <p:nvPr/>
          </p:nvSpPr>
          <p:spPr>
            <a:xfrm>
              <a:off x="948182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F273ABC0-24B9-4A2A-89DA-A70F534FE4F2}"/>
                </a:ext>
              </a:extLst>
            </p:cNvPr>
            <p:cNvSpPr/>
            <p:nvPr/>
          </p:nvSpPr>
          <p:spPr>
            <a:xfrm>
              <a:off x="9481820" y="4048125"/>
              <a:ext cx="43815" cy="34925"/>
            </a:xfrm>
            <a:custGeom>
              <a:avLst/>
              <a:gdLst>
                <a:gd name="connsiteX0" fmla="*/ 40651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1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1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3D10913C-2D01-4AD8-A570-2B3C3E153525}"/>
                </a:ext>
              </a:extLst>
            </p:cNvPr>
            <p:cNvSpPr/>
            <p:nvPr/>
          </p:nvSpPr>
          <p:spPr>
            <a:xfrm>
              <a:off x="955484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D8EFFA32-3240-4EE4-BF66-36329E0338B7}"/>
                </a:ext>
              </a:extLst>
            </p:cNvPr>
            <p:cNvSpPr/>
            <p:nvPr/>
          </p:nvSpPr>
          <p:spPr>
            <a:xfrm>
              <a:off x="978217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55ED14B8-5073-4CE0-BD5A-57158A238666}"/>
                </a:ext>
              </a:extLst>
            </p:cNvPr>
            <p:cNvSpPr/>
            <p:nvPr/>
          </p:nvSpPr>
          <p:spPr>
            <a:xfrm>
              <a:off x="985520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5E2CBB2A-A69F-427E-B839-1A477514EA8D}"/>
                </a:ext>
              </a:extLst>
            </p:cNvPr>
            <p:cNvSpPr/>
            <p:nvPr/>
          </p:nvSpPr>
          <p:spPr>
            <a:xfrm>
              <a:off x="985520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CAA3D9AA-06E7-44B0-ADA0-059D97625900}"/>
                </a:ext>
              </a:extLst>
            </p:cNvPr>
            <p:cNvSpPr/>
            <p:nvPr/>
          </p:nvSpPr>
          <p:spPr>
            <a:xfrm>
              <a:off x="10089515" y="3281680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1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1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CA46525B-0BCF-418D-B178-044AFF35F36F}"/>
                </a:ext>
              </a:extLst>
            </p:cNvPr>
            <p:cNvSpPr/>
            <p:nvPr/>
          </p:nvSpPr>
          <p:spPr>
            <a:xfrm>
              <a:off x="10089515" y="3344545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ACF33343-3A68-473F-98D2-6C5716F7D1F1}"/>
                </a:ext>
              </a:extLst>
            </p:cNvPr>
            <p:cNvSpPr/>
            <p:nvPr/>
          </p:nvSpPr>
          <p:spPr>
            <a:xfrm>
              <a:off x="10162540" y="32816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B7304BD4-E887-4B48-A47D-8A492F7BDB5A}"/>
                </a:ext>
              </a:extLst>
            </p:cNvPr>
            <p:cNvSpPr/>
            <p:nvPr/>
          </p:nvSpPr>
          <p:spPr>
            <a:xfrm>
              <a:off x="10162540" y="334454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F2B88610-A6B2-4EBA-8892-C118563E8B7C}"/>
                </a:ext>
              </a:extLst>
            </p:cNvPr>
            <p:cNvSpPr/>
            <p:nvPr/>
          </p:nvSpPr>
          <p:spPr>
            <a:xfrm>
              <a:off x="10089515" y="34785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BB2FAB04-7447-45D9-BABE-EAA12F4C4629}"/>
                </a:ext>
              </a:extLst>
            </p:cNvPr>
            <p:cNvSpPr/>
            <p:nvPr/>
          </p:nvSpPr>
          <p:spPr>
            <a:xfrm>
              <a:off x="10089515" y="35420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3EE77BE6-9535-4D04-BC79-95CF4A681071}"/>
                </a:ext>
              </a:extLst>
            </p:cNvPr>
            <p:cNvSpPr/>
            <p:nvPr/>
          </p:nvSpPr>
          <p:spPr>
            <a:xfrm>
              <a:off x="10162540" y="34785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4D847192-4CD9-46F9-8694-FEDBC5EABF47}"/>
                </a:ext>
              </a:extLst>
            </p:cNvPr>
            <p:cNvSpPr/>
            <p:nvPr/>
          </p:nvSpPr>
          <p:spPr>
            <a:xfrm>
              <a:off x="10162540" y="354139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495A96A7-B3E3-4DFA-80E3-0084B61125BE}"/>
                </a:ext>
              </a:extLst>
            </p:cNvPr>
            <p:cNvSpPr/>
            <p:nvPr/>
          </p:nvSpPr>
          <p:spPr>
            <a:xfrm>
              <a:off x="10089515" y="367538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0F880789-1C12-40A4-B30D-6944AE6F99E8}"/>
                </a:ext>
              </a:extLst>
            </p:cNvPr>
            <p:cNvSpPr/>
            <p:nvPr/>
          </p:nvSpPr>
          <p:spPr>
            <a:xfrm>
              <a:off x="10089515" y="373888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331FF64A-193D-4CE2-BB28-156139C415ED}"/>
                </a:ext>
              </a:extLst>
            </p:cNvPr>
            <p:cNvSpPr/>
            <p:nvPr/>
          </p:nvSpPr>
          <p:spPr>
            <a:xfrm>
              <a:off x="10162540" y="36753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172230A8-B5E1-4471-ADEE-04C9872FA11A}"/>
                </a:ext>
              </a:extLst>
            </p:cNvPr>
            <p:cNvSpPr/>
            <p:nvPr/>
          </p:nvSpPr>
          <p:spPr>
            <a:xfrm>
              <a:off x="10162540" y="373888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4CE03375-FD49-48B0-A603-200851107231}"/>
                </a:ext>
              </a:extLst>
            </p:cNvPr>
            <p:cNvSpPr/>
            <p:nvPr/>
          </p:nvSpPr>
          <p:spPr>
            <a:xfrm>
              <a:off x="10089515" y="3872230"/>
              <a:ext cx="43815" cy="34925"/>
            </a:xfrm>
            <a:custGeom>
              <a:avLst/>
              <a:gdLst>
                <a:gd name="connsiteX0" fmla="*/ 44343 w 44343"/>
                <a:gd name="connsiteY0" fmla="*/ 36958 h 36957"/>
                <a:gd name="connsiteX1" fmla="*/ 44343 w 44343"/>
                <a:gd name="connsiteY1" fmla="*/ 0 h 36957"/>
                <a:gd name="connsiteX2" fmla="*/ 0 w 44343"/>
                <a:gd name="connsiteY2" fmla="*/ 0 h 36957"/>
                <a:gd name="connsiteX3" fmla="*/ 0 w 44343"/>
                <a:gd name="connsiteY3" fmla="*/ 36958 h 36957"/>
                <a:gd name="connsiteX4" fmla="*/ 40651 w 44343"/>
                <a:gd name="connsiteY4" fmla="*/ 36958 h 36957"/>
                <a:gd name="connsiteX5" fmla="*/ 44343 w 44343"/>
                <a:gd name="connsiteY5" fmla="*/ 36958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4343" y="36958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8"/>
                  </a:lnTo>
                  <a:lnTo>
                    <a:pt x="40651" y="36958"/>
                  </a:lnTo>
                  <a:lnTo>
                    <a:pt x="44343" y="36958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82A802DA-688C-49FA-965D-7C80AA2E9461}"/>
                </a:ext>
              </a:extLst>
            </p:cNvPr>
            <p:cNvSpPr/>
            <p:nvPr/>
          </p:nvSpPr>
          <p:spPr>
            <a:xfrm>
              <a:off x="10089515" y="3935730"/>
              <a:ext cx="43815" cy="34925"/>
            </a:xfrm>
            <a:custGeom>
              <a:avLst/>
              <a:gdLst>
                <a:gd name="connsiteX0" fmla="*/ 40651 w 44343"/>
                <a:gd name="connsiteY0" fmla="*/ 0 h 36952"/>
                <a:gd name="connsiteX1" fmla="*/ 0 w 44343"/>
                <a:gd name="connsiteY1" fmla="*/ 0 h 36952"/>
                <a:gd name="connsiteX2" fmla="*/ 0 w 44343"/>
                <a:gd name="connsiteY2" fmla="*/ 36953 h 36952"/>
                <a:gd name="connsiteX3" fmla="*/ 44343 w 44343"/>
                <a:gd name="connsiteY3" fmla="*/ 36953 h 36952"/>
                <a:gd name="connsiteX4" fmla="*/ 44343 w 44343"/>
                <a:gd name="connsiteY4" fmla="*/ 0 h 36952"/>
                <a:gd name="connsiteX5" fmla="*/ 40651 w 44343"/>
                <a:gd name="connsiteY5" fmla="*/ 0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0651" y="0"/>
                  </a:moveTo>
                  <a:lnTo>
                    <a:pt x="0" y="0"/>
                  </a:lnTo>
                  <a:lnTo>
                    <a:pt x="0" y="36953"/>
                  </a:lnTo>
                  <a:lnTo>
                    <a:pt x="44343" y="36953"/>
                  </a:lnTo>
                  <a:lnTo>
                    <a:pt x="44343" y="0"/>
                  </a:lnTo>
                  <a:lnTo>
                    <a:pt x="40651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AFCD285E-CF8F-4248-94AB-EB37302D8FA5}"/>
                </a:ext>
              </a:extLst>
            </p:cNvPr>
            <p:cNvSpPr/>
            <p:nvPr/>
          </p:nvSpPr>
          <p:spPr>
            <a:xfrm>
              <a:off x="10162540" y="38722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BD04327F-DE21-46E8-957F-85C9477D5BED}"/>
                </a:ext>
              </a:extLst>
            </p:cNvPr>
            <p:cNvSpPr/>
            <p:nvPr/>
          </p:nvSpPr>
          <p:spPr>
            <a:xfrm>
              <a:off x="10162540" y="3935730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5 w 44345"/>
                <a:gd name="connsiteY1" fmla="*/ 0 h 36954"/>
                <a:gd name="connsiteX2" fmla="*/ 44345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5" y="0"/>
                  </a:lnTo>
                  <a:lnTo>
                    <a:pt x="44345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D8D35C8C-3784-4744-A4F9-588B40B123D2}"/>
                </a:ext>
              </a:extLst>
            </p:cNvPr>
            <p:cNvSpPr/>
            <p:nvPr/>
          </p:nvSpPr>
          <p:spPr>
            <a:xfrm>
              <a:off x="9481820" y="331660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90961" y="50505"/>
                    <a:pt x="147674" y="5322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9C2D8F44-AEB3-489F-8E03-54BC22C00585}"/>
                </a:ext>
              </a:extLst>
            </p:cNvPr>
            <p:cNvSpPr/>
            <p:nvPr/>
          </p:nvSpPr>
          <p:spPr>
            <a:xfrm>
              <a:off x="9481820" y="348551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3482" y="39148"/>
                    <a:pt x="276373" y="3914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0EF59F25-F866-4AF3-8648-A578C6B0FD26}"/>
                </a:ext>
              </a:extLst>
            </p:cNvPr>
            <p:cNvSpPr/>
            <p:nvPr/>
          </p:nvSpPr>
          <p:spPr>
            <a:xfrm>
              <a:off x="9481820" y="365442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lnTo>
                    <a:pt x="428363" y="-269"/>
                  </a:lnTo>
                  <a:lnTo>
                    <a:pt x="428363" y="88422"/>
                  </a:lnTo>
                  <a:cubicBezTo>
                    <a:pt x="282273" y="41774"/>
                    <a:pt x="139227" y="39572"/>
                    <a:pt x="-314" y="88422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99B5A67B-1393-4EE5-AD50-4C20E363A0BE}"/>
                </a:ext>
              </a:extLst>
            </p:cNvPr>
            <p:cNvSpPr/>
            <p:nvPr/>
          </p:nvSpPr>
          <p:spPr>
            <a:xfrm>
              <a:off x="9481820" y="3823335"/>
              <a:ext cx="424815" cy="84455"/>
            </a:xfrm>
            <a:custGeom>
              <a:avLst/>
              <a:gdLst>
                <a:gd name="connsiteX0" fmla="*/ -314 w 428676"/>
                <a:gd name="connsiteY0" fmla="*/ -269 h 88691"/>
                <a:gd name="connsiteX1" fmla="*/ 428363 w 428676"/>
                <a:gd name="connsiteY1" fmla="*/ -269 h 88691"/>
                <a:gd name="connsiteX2" fmla="*/ 428363 w 428676"/>
                <a:gd name="connsiteY2" fmla="*/ 88422 h 88691"/>
                <a:gd name="connsiteX3" fmla="*/ -314 w 428676"/>
                <a:gd name="connsiteY3" fmla="*/ 88422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676" h="88691">
                  <a:moveTo>
                    <a:pt x="-314" y="-269"/>
                  </a:moveTo>
                  <a:cubicBezTo>
                    <a:pt x="139495" y="53608"/>
                    <a:pt x="282514" y="51368"/>
                    <a:pt x="428363" y="-269"/>
                  </a:cubicBezTo>
                  <a:lnTo>
                    <a:pt x="428363" y="88422"/>
                  </a:lnTo>
                  <a:lnTo>
                    <a:pt x="-314" y="88422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C436CAC5-547E-4B57-8A56-C59F68D8E876}"/>
                </a:ext>
              </a:extLst>
            </p:cNvPr>
            <p:cNvSpPr/>
            <p:nvPr/>
          </p:nvSpPr>
          <p:spPr>
            <a:xfrm>
              <a:off x="11558905" y="3676650"/>
              <a:ext cx="503555" cy="172720"/>
            </a:xfrm>
            <a:custGeom>
              <a:avLst/>
              <a:gdLst>
                <a:gd name="connsiteX0" fmla="*/ 206610 w 508118"/>
                <a:gd name="connsiteY0" fmla="*/ -269 h 181483"/>
                <a:gd name="connsiteX1" fmla="*/ 507805 w 508118"/>
                <a:gd name="connsiteY1" fmla="*/ -269 h 181483"/>
                <a:gd name="connsiteX2" fmla="*/ 507805 w 508118"/>
                <a:gd name="connsiteY2" fmla="*/ 144861 h 181483"/>
                <a:gd name="connsiteX3" fmla="*/ 480901 w 508118"/>
                <a:gd name="connsiteY3" fmla="*/ 153281 h 181483"/>
                <a:gd name="connsiteX4" fmla="*/ 391400 w 508118"/>
                <a:gd name="connsiteY4" fmla="*/ 181214 h 181483"/>
                <a:gd name="connsiteX5" fmla="*/ 250986 w 508118"/>
                <a:gd name="connsiteY5" fmla="*/ 148688 h 181483"/>
                <a:gd name="connsiteX6" fmla="*/ 110732 w 508118"/>
                <a:gd name="connsiteY6" fmla="*/ 116184 h 181483"/>
                <a:gd name="connsiteX7" fmla="*/ 36666 w 508118"/>
                <a:gd name="connsiteY7" fmla="*/ 99028 h 181483"/>
                <a:gd name="connsiteX8" fmla="*/ -314 w 508118"/>
                <a:gd name="connsiteY8" fmla="*/ 85346 h 181483"/>
                <a:gd name="connsiteX9" fmla="*/ 206610 w 508118"/>
                <a:gd name="connsiteY9" fmla="*/ -269 h 18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8118" h="181483">
                  <a:moveTo>
                    <a:pt x="206610" y="-269"/>
                  </a:moveTo>
                  <a:lnTo>
                    <a:pt x="507805" y="-269"/>
                  </a:lnTo>
                  <a:lnTo>
                    <a:pt x="507805" y="144861"/>
                  </a:lnTo>
                  <a:lnTo>
                    <a:pt x="480901" y="153281"/>
                  </a:lnTo>
                  <a:lnTo>
                    <a:pt x="391400" y="181214"/>
                  </a:lnTo>
                  <a:lnTo>
                    <a:pt x="250986" y="148688"/>
                  </a:lnTo>
                  <a:lnTo>
                    <a:pt x="110732" y="116184"/>
                  </a:lnTo>
                  <a:lnTo>
                    <a:pt x="36666" y="99028"/>
                  </a:lnTo>
                  <a:lnTo>
                    <a:pt x="-314" y="85346"/>
                  </a:lnTo>
                  <a:cubicBezTo>
                    <a:pt x="30449" y="43136"/>
                    <a:pt x="86400" y="9935"/>
                    <a:pt x="206610" y="-269"/>
                  </a:cubicBez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821EC4B6-DAD9-42A2-AA20-1C6CFF22D813}"/>
                </a:ext>
              </a:extLst>
            </p:cNvPr>
            <p:cNvSpPr/>
            <p:nvPr/>
          </p:nvSpPr>
          <p:spPr>
            <a:xfrm>
              <a:off x="11501755" y="3757930"/>
              <a:ext cx="560705" cy="420370"/>
            </a:xfrm>
            <a:custGeom>
              <a:avLst/>
              <a:gdLst>
                <a:gd name="connsiteX0" fmla="*/ 565639 w 565952"/>
                <a:gd name="connsiteY0" fmla="*/ -269 h 441721"/>
                <a:gd name="connsiteX1" fmla="*/ 565639 w 565952"/>
                <a:gd name="connsiteY1" fmla="*/ 441452 h 441721"/>
                <a:gd name="connsiteX2" fmla="*/ 57521 w 565952"/>
                <a:gd name="connsiteY2" fmla="*/ 441452 h 441721"/>
                <a:gd name="connsiteX3" fmla="*/ 57093 w 565952"/>
                <a:gd name="connsiteY3" fmla="*/ 440653 h 441721"/>
                <a:gd name="connsiteX4" fmla="*/ 57093 w 565952"/>
                <a:gd name="connsiteY4" fmla="*/ 440632 h 441721"/>
                <a:gd name="connsiteX5" fmla="*/ 56664 w 565952"/>
                <a:gd name="connsiteY5" fmla="*/ 439737 h 441721"/>
                <a:gd name="connsiteX6" fmla="*/ 35334 w 565952"/>
                <a:gd name="connsiteY6" fmla="*/ 391964 h 441721"/>
                <a:gd name="connsiteX7" fmla="*/ 57521 w 565952"/>
                <a:gd name="connsiteY7" fmla="*/ -269 h 4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5952" h="441721">
                  <a:moveTo>
                    <a:pt x="565639" y="-269"/>
                  </a:moveTo>
                  <a:lnTo>
                    <a:pt x="565639" y="441452"/>
                  </a:lnTo>
                  <a:lnTo>
                    <a:pt x="57521" y="441452"/>
                  </a:lnTo>
                  <a:cubicBezTo>
                    <a:pt x="57360" y="441179"/>
                    <a:pt x="57253" y="440927"/>
                    <a:pt x="57093" y="440653"/>
                  </a:cubicBezTo>
                  <a:lnTo>
                    <a:pt x="57093" y="440632"/>
                  </a:lnTo>
                  <a:cubicBezTo>
                    <a:pt x="56969" y="440321"/>
                    <a:pt x="56830" y="440026"/>
                    <a:pt x="56664" y="439737"/>
                  </a:cubicBezTo>
                  <a:cubicBezTo>
                    <a:pt x="48732" y="423771"/>
                    <a:pt x="41620" y="407849"/>
                    <a:pt x="35334" y="391964"/>
                  </a:cubicBezTo>
                  <a:cubicBezTo>
                    <a:pt x="-17992" y="257562"/>
                    <a:pt x="-12204" y="126709"/>
                    <a:pt x="57521" y="-269"/>
                  </a:cubicBezTo>
                  <a:close/>
                </a:path>
              </a:pathLst>
            </a:custGeom>
            <a:solidFill>
              <a:srgbClr val="F2F2F2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4945369B-A743-4A27-9093-3B6DA916B9BE}"/>
                </a:ext>
              </a:extLst>
            </p:cNvPr>
            <p:cNvSpPr/>
            <p:nvPr/>
          </p:nvSpPr>
          <p:spPr>
            <a:xfrm>
              <a:off x="11774805" y="3956685"/>
              <a:ext cx="102235" cy="221615"/>
            </a:xfrm>
            <a:custGeom>
              <a:avLst/>
              <a:gdLst>
                <a:gd name="connsiteX0" fmla="*/ 0 w 103473"/>
                <a:gd name="connsiteY0" fmla="*/ 0 h 232814"/>
                <a:gd name="connsiteX1" fmla="*/ 103473 w 103473"/>
                <a:gd name="connsiteY1" fmla="*/ 0 h 232814"/>
                <a:gd name="connsiteX2" fmla="*/ 103473 w 103473"/>
                <a:gd name="connsiteY2" fmla="*/ 232814 h 232814"/>
                <a:gd name="connsiteX3" fmla="*/ 0 w 103473"/>
                <a:gd name="connsiteY3" fmla="*/ 232814 h 2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473" h="232814">
                  <a:moveTo>
                    <a:pt x="0" y="0"/>
                  </a:moveTo>
                  <a:lnTo>
                    <a:pt x="103473" y="0"/>
                  </a:lnTo>
                  <a:lnTo>
                    <a:pt x="103473" y="232814"/>
                  </a:lnTo>
                  <a:lnTo>
                    <a:pt x="0" y="232814"/>
                  </a:lnTo>
                  <a:close/>
                </a:path>
              </a:pathLst>
            </a:custGeom>
            <a:solidFill>
              <a:srgbClr val="CCCCCC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8DDC8540-CCD6-4A42-90CD-C64EC4038E92}"/>
                </a:ext>
              </a:extLst>
            </p:cNvPr>
            <p:cNvSpPr/>
            <p:nvPr/>
          </p:nvSpPr>
          <p:spPr>
            <a:xfrm>
              <a:off x="11621135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DF94019A-EAAE-4EE2-BE26-66BEEBF9B42F}"/>
                </a:ext>
              </a:extLst>
            </p:cNvPr>
            <p:cNvSpPr/>
            <p:nvPr/>
          </p:nvSpPr>
          <p:spPr>
            <a:xfrm>
              <a:off x="11621135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6BFB1048-DF79-40A2-92E8-951D77089606}"/>
                </a:ext>
              </a:extLst>
            </p:cNvPr>
            <p:cNvSpPr/>
            <p:nvPr/>
          </p:nvSpPr>
          <p:spPr>
            <a:xfrm>
              <a:off x="11694160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AB067930-12D5-44BF-98CF-DADDE00A49E8}"/>
                </a:ext>
              </a:extLst>
            </p:cNvPr>
            <p:cNvSpPr/>
            <p:nvPr/>
          </p:nvSpPr>
          <p:spPr>
            <a:xfrm>
              <a:off x="11694160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8744A48D-6989-4C8B-BC14-3CDC50FED75B}"/>
                </a:ext>
              </a:extLst>
            </p:cNvPr>
            <p:cNvSpPr/>
            <p:nvPr/>
          </p:nvSpPr>
          <p:spPr>
            <a:xfrm>
              <a:off x="11921490" y="3984625"/>
              <a:ext cx="43815" cy="34925"/>
            </a:xfrm>
            <a:custGeom>
              <a:avLst/>
              <a:gdLst>
                <a:gd name="connsiteX0" fmla="*/ 44343 w 44343"/>
                <a:gd name="connsiteY0" fmla="*/ 36953 h 36952"/>
                <a:gd name="connsiteX1" fmla="*/ 44343 w 44343"/>
                <a:gd name="connsiteY1" fmla="*/ 0 h 36952"/>
                <a:gd name="connsiteX2" fmla="*/ 0 w 44343"/>
                <a:gd name="connsiteY2" fmla="*/ 0 h 36952"/>
                <a:gd name="connsiteX3" fmla="*/ 0 w 44343"/>
                <a:gd name="connsiteY3" fmla="*/ 36953 h 36952"/>
                <a:gd name="connsiteX4" fmla="*/ 40650 w 44343"/>
                <a:gd name="connsiteY4" fmla="*/ 36953 h 36952"/>
                <a:gd name="connsiteX5" fmla="*/ 44343 w 44343"/>
                <a:gd name="connsiteY5" fmla="*/ 36953 h 36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2">
                  <a:moveTo>
                    <a:pt x="44343" y="36953"/>
                  </a:moveTo>
                  <a:lnTo>
                    <a:pt x="44343" y="0"/>
                  </a:lnTo>
                  <a:lnTo>
                    <a:pt x="0" y="0"/>
                  </a:lnTo>
                  <a:lnTo>
                    <a:pt x="0" y="36953"/>
                  </a:lnTo>
                  <a:lnTo>
                    <a:pt x="40650" y="36953"/>
                  </a:lnTo>
                  <a:lnTo>
                    <a:pt x="44343" y="36953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A0DFEDCF-DA1E-493B-A0EE-81037A7C430A}"/>
                </a:ext>
              </a:extLst>
            </p:cNvPr>
            <p:cNvSpPr/>
            <p:nvPr/>
          </p:nvSpPr>
          <p:spPr>
            <a:xfrm>
              <a:off x="11921490" y="4048125"/>
              <a:ext cx="43815" cy="34925"/>
            </a:xfrm>
            <a:custGeom>
              <a:avLst/>
              <a:gdLst>
                <a:gd name="connsiteX0" fmla="*/ 40650 w 44343"/>
                <a:gd name="connsiteY0" fmla="*/ 0 h 36957"/>
                <a:gd name="connsiteX1" fmla="*/ 0 w 44343"/>
                <a:gd name="connsiteY1" fmla="*/ 0 h 36957"/>
                <a:gd name="connsiteX2" fmla="*/ 0 w 44343"/>
                <a:gd name="connsiteY2" fmla="*/ 36958 h 36957"/>
                <a:gd name="connsiteX3" fmla="*/ 44343 w 44343"/>
                <a:gd name="connsiteY3" fmla="*/ 36958 h 36957"/>
                <a:gd name="connsiteX4" fmla="*/ 44343 w 44343"/>
                <a:gd name="connsiteY4" fmla="*/ 0 h 36957"/>
                <a:gd name="connsiteX5" fmla="*/ 40650 w 44343"/>
                <a:gd name="connsiteY5" fmla="*/ 0 h 3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343" h="36957">
                  <a:moveTo>
                    <a:pt x="40650" y="0"/>
                  </a:moveTo>
                  <a:lnTo>
                    <a:pt x="0" y="0"/>
                  </a:lnTo>
                  <a:lnTo>
                    <a:pt x="0" y="36958"/>
                  </a:lnTo>
                  <a:lnTo>
                    <a:pt x="44343" y="36958"/>
                  </a:lnTo>
                  <a:lnTo>
                    <a:pt x="44343" y="0"/>
                  </a:lnTo>
                  <a:lnTo>
                    <a:pt x="40650" y="0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2868A23A-8696-4DE1-9570-27C4F5CCADA0}"/>
                </a:ext>
              </a:extLst>
            </p:cNvPr>
            <p:cNvSpPr/>
            <p:nvPr/>
          </p:nvSpPr>
          <p:spPr>
            <a:xfrm>
              <a:off x="11994515" y="39846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3936D764-C20D-4FC9-95ED-99B10D45E3DC}"/>
                </a:ext>
              </a:extLst>
            </p:cNvPr>
            <p:cNvSpPr/>
            <p:nvPr/>
          </p:nvSpPr>
          <p:spPr>
            <a:xfrm>
              <a:off x="11994515" y="4048125"/>
              <a:ext cx="43815" cy="34925"/>
            </a:xfrm>
            <a:custGeom>
              <a:avLst/>
              <a:gdLst>
                <a:gd name="connsiteX0" fmla="*/ 0 w 44345"/>
                <a:gd name="connsiteY0" fmla="*/ 0 h 36954"/>
                <a:gd name="connsiteX1" fmla="*/ 44346 w 44345"/>
                <a:gd name="connsiteY1" fmla="*/ 0 h 36954"/>
                <a:gd name="connsiteX2" fmla="*/ 44346 w 44345"/>
                <a:gd name="connsiteY2" fmla="*/ 36955 h 36954"/>
                <a:gd name="connsiteX3" fmla="*/ 0 w 44345"/>
                <a:gd name="connsiteY3" fmla="*/ 36955 h 3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45" h="36954">
                  <a:moveTo>
                    <a:pt x="0" y="0"/>
                  </a:moveTo>
                  <a:lnTo>
                    <a:pt x="44346" y="0"/>
                  </a:lnTo>
                  <a:lnTo>
                    <a:pt x="44346" y="36955"/>
                  </a:lnTo>
                  <a:lnTo>
                    <a:pt x="0" y="3695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7FB9156F-1A97-455E-A2ED-669608C76B2B}"/>
                </a:ext>
              </a:extLst>
            </p:cNvPr>
            <p:cNvSpPr/>
            <p:nvPr/>
          </p:nvSpPr>
          <p:spPr>
            <a:xfrm>
              <a:off x="11668760" y="351345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BC3E728B-447D-4924-8778-84E991F5466E}"/>
                </a:ext>
              </a:extLst>
            </p:cNvPr>
            <p:cNvSpPr/>
            <p:nvPr/>
          </p:nvSpPr>
          <p:spPr>
            <a:xfrm>
              <a:off x="9758045" y="2901315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29DB3CDE-4ECD-45FA-8B6E-CA1393854B75}"/>
                </a:ext>
              </a:extLst>
            </p:cNvPr>
            <p:cNvSpPr/>
            <p:nvPr/>
          </p:nvSpPr>
          <p:spPr>
            <a:xfrm>
              <a:off x="10766425" y="3467100"/>
              <a:ext cx="297815" cy="225425"/>
            </a:xfrm>
            <a:custGeom>
              <a:avLst/>
              <a:gdLst>
                <a:gd name="connsiteX0" fmla="*/ -314 w 300588"/>
                <a:gd name="connsiteY0" fmla="*/ -269 h 236893"/>
                <a:gd name="connsiteX1" fmla="*/ 63382 w 300588"/>
                <a:gd name="connsiteY1" fmla="*/ -269 h 236893"/>
                <a:gd name="connsiteX2" fmla="*/ 300275 w 300588"/>
                <a:gd name="connsiteY2" fmla="*/ 236624 h 236893"/>
                <a:gd name="connsiteX3" fmla="*/ 300275 w 300588"/>
                <a:gd name="connsiteY3" fmla="*/ 236624 h 236893"/>
                <a:gd name="connsiteX4" fmla="*/ -314 w 300588"/>
                <a:gd name="connsiteY4" fmla="*/ 236624 h 23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588" h="236893">
                  <a:moveTo>
                    <a:pt x="-314" y="-269"/>
                  </a:moveTo>
                  <a:lnTo>
                    <a:pt x="63382" y="-269"/>
                  </a:lnTo>
                  <a:cubicBezTo>
                    <a:pt x="194214" y="-269"/>
                    <a:pt x="300275" y="105792"/>
                    <a:pt x="300275" y="236624"/>
                  </a:cubicBezTo>
                  <a:lnTo>
                    <a:pt x="300275" y="236624"/>
                  </a:lnTo>
                  <a:lnTo>
                    <a:pt x="-314" y="236624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DA7A4EE2-07CA-4C6C-A381-03CEBFBC4E60}"/>
                </a:ext>
              </a:extLst>
            </p:cNvPr>
            <p:cNvSpPr/>
            <p:nvPr/>
          </p:nvSpPr>
          <p:spPr>
            <a:xfrm>
              <a:off x="11668760" y="3823335"/>
              <a:ext cx="297815" cy="84455"/>
            </a:xfrm>
            <a:custGeom>
              <a:avLst/>
              <a:gdLst>
                <a:gd name="connsiteX0" fmla="*/ 0 w 300590"/>
                <a:gd name="connsiteY0" fmla="*/ 0 h 88691"/>
                <a:gd name="connsiteX1" fmla="*/ 300591 w 300590"/>
                <a:gd name="connsiteY1" fmla="*/ 0 h 88691"/>
                <a:gd name="connsiteX2" fmla="*/ 300591 w 300590"/>
                <a:gd name="connsiteY2" fmla="*/ 88691 h 88691"/>
                <a:gd name="connsiteX3" fmla="*/ 0 w 300590"/>
                <a:gd name="connsiteY3" fmla="*/ 88691 h 8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590" h="88691">
                  <a:moveTo>
                    <a:pt x="0" y="0"/>
                  </a:moveTo>
                  <a:lnTo>
                    <a:pt x="300591" y="0"/>
                  </a:lnTo>
                  <a:lnTo>
                    <a:pt x="300591" y="88691"/>
                  </a:lnTo>
                  <a:lnTo>
                    <a:pt x="0" y="88691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6A210F89-ED4D-4657-8F50-D404B205C400}"/>
                </a:ext>
              </a:extLst>
            </p:cNvPr>
            <p:cNvSpPr/>
            <p:nvPr/>
          </p:nvSpPr>
          <p:spPr>
            <a:xfrm>
              <a:off x="9036050" y="4175125"/>
              <a:ext cx="3025775" cy="10160"/>
            </a:xfrm>
            <a:custGeom>
              <a:avLst/>
              <a:gdLst>
                <a:gd name="connsiteX0" fmla="*/ 0 w 3054818"/>
                <a:gd name="connsiteY0" fmla="*/ 0 h 10718"/>
                <a:gd name="connsiteX1" fmla="*/ 3054818 w 3054818"/>
                <a:gd name="connsiteY1" fmla="*/ 0 h 10718"/>
                <a:gd name="connsiteX2" fmla="*/ 3054818 w 3054818"/>
                <a:gd name="connsiteY2" fmla="*/ 10719 h 10718"/>
                <a:gd name="connsiteX3" fmla="*/ 0 w 3054818"/>
                <a:gd name="connsiteY3" fmla="*/ 10719 h 10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4818" h="10718">
                  <a:moveTo>
                    <a:pt x="0" y="0"/>
                  </a:moveTo>
                  <a:lnTo>
                    <a:pt x="3054818" y="0"/>
                  </a:lnTo>
                  <a:lnTo>
                    <a:pt x="3054818" y="10719"/>
                  </a:lnTo>
                  <a:lnTo>
                    <a:pt x="0" y="10719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C4FEC323-A257-4272-BA3A-B335F5CDD838}"/>
                </a:ext>
              </a:extLst>
            </p:cNvPr>
            <p:cNvSpPr/>
            <p:nvPr/>
          </p:nvSpPr>
          <p:spPr>
            <a:xfrm>
              <a:off x="930465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7AFDEEE4-0E6B-4440-B189-231C1DE2FA91}"/>
                </a:ext>
              </a:extLst>
            </p:cNvPr>
            <p:cNvSpPr/>
            <p:nvPr/>
          </p:nvSpPr>
          <p:spPr>
            <a:xfrm>
              <a:off x="9202420" y="3568700"/>
              <a:ext cx="210820" cy="510540"/>
            </a:xfrm>
            <a:custGeom>
              <a:avLst/>
              <a:gdLst>
                <a:gd name="connsiteX0" fmla="*/ 212834 w 213150"/>
                <a:gd name="connsiteY0" fmla="*/ 267311 h 536131"/>
                <a:gd name="connsiteX1" fmla="*/ 109356 w 213150"/>
                <a:gd name="connsiteY1" fmla="*/ 535862 h 536131"/>
                <a:gd name="connsiteX2" fmla="*/ 3407 w 213150"/>
                <a:gd name="connsiteY2" fmla="*/ 268276 h 536131"/>
                <a:gd name="connsiteX3" fmla="*/ 106885 w 213150"/>
                <a:gd name="connsiteY3" fmla="*/ -269 h 536131"/>
                <a:gd name="connsiteX4" fmla="*/ 212834 w 213150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50" h="536131">
                  <a:moveTo>
                    <a:pt x="212834" y="267311"/>
                  </a:moveTo>
                  <a:cubicBezTo>
                    <a:pt x="213514" y="415363"/>
                    <a:pt x="109356" y="535862"/>
                    <a:pt x="109356" y="535862"/>
                  </a:cubicBezTo>
                  <a:cubicBezTo>
                    <a:pt x="109356" y="535862"/>
                    <a:pt x="-24038" y="413760"/>
                    <a:pt x="3407" y="268276"/>
                  </a:cubicBezTo>
                  <a:cubicBezTo>
                    <a:pt x="31002" y="121966"/>
                    <a:pt x="117020" y="352"/>
                    <a:pt x="106885" y="-269"/>
                  </a:cubicBezTo>
                  <a:cubicBezTo>
                    <a:pt x="106885" y="-269"/>
                    <a:pt x="212148" y="119265"/>
                    <a:pt x="212834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1E74FF04-BC41-4EE1-AB27-A6F90B8BF181}"/>
                </a:ext>
              </a:extLst>
            </p:cNvPr>
            <p:cNvSpPr/>
            <p:nvPr/>
          </p:nvSpPr>
          <p:spPr>
            <a:xfrm>
              <a:off x="10366375" y="3771900"/>
              <a:ext cx="10795" cy="403225"/>
            </a:xfrm>
            <a:custGeom>
              <a:avLst/>
              <a:gdLst>
                <a:gd name="connsiteX0" fmla="*/ 0 w 10718"/>
                <a:gd name="connsiteY0" fmla="*/ 0 h 423387"/>
                <a:gd name="connsiteX1" fmla="*/ 10719 w 10718"/>
                <a:gd name="connsiteY1" fmla="*/ 0 h 423387"/>
                <a:gd name="connsiteX2" fmla="*/ 10719 w 10718"/>
                <a:gd name="connsiteY2" fmla="*/ 423387 h 423387"/>
                <a:gd name="connsiteX3" fmla="*/ 0 w 10718"/>
                <a:gd name="connsiteY3" fmla="*/ 423387 h 42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8" h="423387">
                  <a:moveTo>
                    <a:pt x="0" y="0"/>
                  </a:moveTo>
                  <a:lnTo>
                    <a:pt x="10719" y="0"/>
                  </a:lnTo>
                  <a:lnTo>
                    <a:pt x="10719" y="423387"/>
                  </a:lnTo>
                  <a:lnTo>
                    <a:pt x="0" y="42338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085EC264-3CBC-4E37-B4D6-55341660F402}"/>
                </a:ext>
              </a:extLst>
            </p:cNvPr>
            <p:cNvSpPr/>
            <p:nvPr/>
          </p:nvSpPr>
          <p:spPr>
            <a:xfrm>
              <a:off x="10267950" y="3568700"/>
              <a:ext cx="208280" cy="510540"/>
            </a:xfrm>
            <a:custGeom>
              <a:avLst/>
              <a:gdLst>
                <a:gd name="connsiteX0" fmla="*/ 209116 w 210014"/>
                <a:gd name="connsiteY0" fmla="*/ 267311 h 536131"/>
                <a:gd name="connsiteX1" fmla="*/ 105638 w 210014"/>
                <a:gd name="connsiteY1" fmla="*/ 535862 h 536131"/>
                <a:gd name="connsiteX2" fmla="*/ -310 w 210014"/>
                <a:gd name="connsiteY2" fmla="*/ 268276 h 536131"/>
                <a:gd name="connsiteX3" fmla="*/ 103168 w 210014"/>
                <a:gd name="connsiteY3" fmla="*/ -269 h 536131"/>
                <a:gd name="connsiteX4" fmla="*/ 209116 w 210014"/>
                <a:gd name="connsiteY4" fmla="*/ 267311 h 536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014" h="536131">
                  <a:moveTo>
                    <a:pt x="209116" y="267311"/>
                  </a:moveTo>
                  <a:cubicBezTo>
                    <a:pt x="218774" y="415047"/>
                    <a:pt x="105638" y="535862"/>
                    <a:pt x="105638" y="535862"/>
                  </a:cubicBezTo>
                  <a:cubicBezTo>
                    <a:pt x="105638" y="535862"/>
                    <a:pt x="370" y="416327"/>
                    <a:pt x="-310" y="268276"/>
                  </a:cubicBezTo>
                  <a:cubicBezTo>
                    <a:pt x="-996" y="120230"/>
                    <a:pt x="103168" y="-269"/>
                    <a:pt x="103168" y="-269"/>
                  </a:cubicBezTo>
                  <a:cubicBezTo>
                    <a:pt x="93012" y="40312"/>
                    <a:pt x="201297" y="147777"/>
                    <a:pt x="209116" y="267311"/>
                  </a:cubicBezTo>
                  <a:close/>
                </a:path>
              </a:pathLst>
            </a:custGeom>
            <a:solidFill>
              <a:srgbClr val="6C63FF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28F5D58B-D222-4AA7-AEA2-E4A0B7001926}"/>
                </a:ext>
              </a:extLst>
            </p:cNvPr>
            <p:cNvSpPr/>
            <p:nvPr/>
          </p:nvSpPr>
          <p:spPr>
            <a:xfrm>
              <a:off x="9687560" y="309499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7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7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D712B89E-CEC2-4E3D-97F9-8D96BB30B572}"/>
                </a:ext>
              </a:extLst>
            </p:cNvPr>
            <p:cNvSpPr/>
            <p:nvPr/>
          </p:nvSpPr>
          <p:spPr>
            <a:xfrm>
              <a:off x="9020810" y="3681730"/>
              <a:ext cx="206375" cy="184785"/>
            </a:xfrm>
            <a:custGeom>
              <a:avLst/>
              <a:gdLst>
                <a:gd name="connsiteX0" fmla="*/ 207789 w 208102"/>
                <a:gd name="connsiteY0" fmla="*/ 162761 h 194222"/>
                <a:gd name="connsiteX1" fmla="*/ 182708 w 208102"/>
                <a:gd name="connsiteY1" fmla="*/ 185432 h 194222"/>
                <a:gd name="connsiteX2" fmla="*/ 179653 w 208102"/>
                <a:gd name="connsiteY2" fmla="*/ 188165 h 194222"/>
                <a:gd name="connsiteX3" fmla="*/ 173275 w 208102"/>
                <a:gd name="connsiteY3" fmla="*/ 193953 h 194222"/>
                <a:gd name="connsiteX4" fmla="*/ 15121 w 208102"/>
                <a:gd name="connsiteY4" fmla="*/ 190416 h 194222"/>
                <a:gd name="connsiteX5" fmla="*/ 15121 w 208102"/>
                <a:gd name="connsiteY5" fmla="*/ 3589 h 194222"/>
                <a:gd name="connsiteX6" fmla="*/ -314 w 208102"/>
                <a:gd name="connsiteY6" fmla="*/ 374 h 194222"/>
                <a:gd name="connsiteX7" fmla="*/ 12495 w 208102"/>
                <a:gd name="connsiteY7" fmla="*/ -269 h 194222"/>
                <a:gd name="connsiteX8" fmla="*/ 15121 w 208102"/>
                <a:gd name="connsiteY8" fmla="*/ 1928 h 194222"/>
                <a:gd name="connsiteX9" fmla="*/ 39614 w 208102"/>
                <a:gd name="connsiteY9" fmla="*/ 22347 h 194222"/>
                <a:gd name="connsiteX10" fmla="*/ 109285 w 208102"/>
                <a:gd name="connsiteY10" fmla="*/ 80549 h 194222"/>
                <a:gd name="connsiteX11" fmla="*/ 187102 w 208102"/>
                <a:gd name="connsiteY11" fmla="*/ 145505 h 194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8102" h="194222">
                  <a:moveTo>
                    <a:pt x="207789" y="162761"/>
                  </a:moveTo>
                  <a:lnTo>
                    <a:pt x="182708" y="185432"/>
                  </a:lnTo>
                  <a:lnTo>
                    <a:pt x="179653" y="188165"/>
                  </a:lnTo>
                  <a:lnTo>
                    <a:pt x="173275" y="193953"/>
                  </a:lnTo>
                  <a:lnTo>
                    <a:pt x="15121" y="190416"/>
                  </a:lnTo>
                  <a:lnTo>
                    <a:pt x="15121" y="3589"/>
                  </a:lnTo>
                  <a:cubicBezTo>
                    <a:pt x="9976" y="2464"/>
                    <a:pt x="4831" y="1392"/>
                    <a:pt x="-314" y="374"/>
                  </a:cubicBezTo>
                  <a:lnTo>
                    <a:pt x="12495" y="-269"/>
                  </a:lnTo>
                  <a:lnTo>
                    <a:pt x="15121" y="1928"/>
                  </a:lnTo>
                  <a:lnTo>
                    <a:pt x="39614" y="22347"/>
                  </a:lnTo>
                  <a:lnTo>
                    <a:pt x="109285" y="80549"/>
                  </a:lnTo>
                  <a:lnTo>
                    <a:pt x="187102" y="145505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5B56CDF2-20E4-4522-A06D-19E999EE3628}"/>
                </a:ext>
              </a:extLst>
            </p:cNvPr>
            <p:cNvSpPr/>
            <p:nvPr/>
          </p:nvSpPr>
          <p:spPr>
            <a:xfrm>
              <a:off x="10695940" y="3681730"/>
              <a:ext cx="654685" cy="184785"/>
            </a:xfrm>
            <a:custGeom>
              <a:avLst/>
              <a:gdLst>
                <a:gd name="connsiteX0" fmla="*/ 0 w 660896"/>
                <a:gd name="connsiteY0" fmla="*/ 22777 h 194200"/>
                <a:gd name="connsiteX1" fmla="*/ 465586 w 660896"/>
                <a:gd name="connsiteY1" fmla="*/ 0 h 194200"/>
                <a:gd name="connsiteX2" fmla="*/ 660896 w 660896"/>
                <a:gd name="connsiteY2" fmla="*/ 163025 h 194200"/>
                <a:gd name="connsiteX3" fmla="*/ 626366 w 660896"/>
                <a:gd name="connsiteY3" fmla="*/ 194201 h 194200"/>
                <a:gd name="connsiteX4" fmla="*/ 317085 w 660896"/>
                <a:gd name="connsiteY4" fmla="*/ 187239 h 194200"/>
                <a:gd name="connsiteX5" fmla="*/ 0 w 660896"/>
                <a:gd name="connsiteY5" fmla="*/ 22777 h 19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896" h="194200">
                  <a:moveTo>
                    <a:pt x="0" y="22777"/>
                  </a:moveTo>
                  <a:lnTo>
                    <a:pt x="465586" y="0"/>
                  </a:lnTo>
                  <a:lnTo>
                    <a:pt x="660896" y="163025"/>
                  </a:lnTo>
                  <a:lnTo>
                    <a:pt x="626366" y="194201"/>
                  </a:lnTo>
                  <a:lnTo>
                    <a:pt x="317085" y="187239"/>
                  </a:lnTo>
                  <a:lnTo>
                    <a:pt x="0" y="22777"/>
                  </a:lnTo>
                  <a:close/>
                </a:path>
              </a:pathLst>
            </a:custGeom>
            <a:solidFill>
              <a:srgbClr val="3F3D56"/>
            </a:solidFill>
            <a:ln w="53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92" name="그래픽 291">
            <a:extLst>
              <a:ext uri="{FF2B5EF4-FFF2-40B4-BE49-F238E27FC236}">
                <a16:creationId xmlns:a16="http://schemas.microsoft.com/office/drawing/2014/main" id="{0EA42603-BB24-4731-9907-6B974EA81D3C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19470" y="2447290"/>
            <a:ext cx="2919730" cy="1759585"/>
          </a:xfrm>
          <a:prstGeom prst="rect">
            <a:avLst/>
          </a:prstGeom>
        </p:spPr>
      </p:pic>
      <p:sp>
        <p:nvSpPr>
          <p:cNvPr id="293" name="TextBox 292">
            <a:extLst>
              <a:ext uri="{FF2B5EF4-FFF2-40B4-BE49-F238E27FC236}">
                <a16:creationId xmlns:a16="http://schemas.microsoft.com/office/drawing/2014/main" id="{EB8193ED-6F22-48E0-A9C0-9CF07CDC4826}"/>
              </a:ext>
            </a:extLst>
          </p:cNvPr>
          <p:cNvSpPr txBox="1"/>
          <p:nvPr/>
        </p:nvSpPr>
        <p:spPr>
          <a:xfrm>
            <a:off x="6125210" y="5048885"/>
            <a:ext cx="2491105" cy="48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해당 지역의 날씨로 추천엔진을 이용해 음식 카테고리 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2D2E7D8F-975D-4214-BC0F-C2D4FF61B48E}"/>
              </a:ext>
            </a:extLst>
          </p:cNvPr>
          <p:cNvSpPr txBox="1"/>
          <p:nvPr/>
        </p:nvSpPr>
        <p:spPr>
          <a:xfrm>
            <a:off x="6384290" y="4267835"/>
            <a:ext cx="1932305" cy="67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3</a:t>
            </a:r>
            <a:r>
              <a:rPr lang="en-US" altLang="ko-KR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. </a:t>
            </a:r>
            <a:r>
              <a: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음식 카테고리 추천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8DB2C42-5B85-41D0-99B2-2002B3EAA560}"/>
              </a:ext>
            </a:extLst>
          </p:cNvPr>
          <p:cNvSpPr txBox="1"/>
          <p:nvPr/>
        </p:nvSpPr>
        <p:spPr>
          <a:xfrm>
            <a:off x="9436100" y="4876165"/>
            <a:ext cx="2122805" cy="69024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해당 카테고리의 음식점 목록을 거리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감성점수</a:t>
            </a:r>
            <a:r>
              <a:rPr lang="en-US" altLang="ko-KR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, </a:t>
            </a:r>
            <a:r>
              <a:rPr lang="ko-KR" altLang="en-US" sz="12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rPr>
              <a:t>리뷰개수로 랭킹을 정해 추천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6855F52-EE33-4A45-8E57-B864EEB0E419}"/>
              </a:ext>
            </a:extLst>
          </p:cNvPr>
          <p:cNvSpPr txBox="1"/>
          <p:nvPr/>
        </p:nvSpPr>
        <p:spPr>
          <a:xfrm>
            <a:off x="9571355" y="4302760"/>
            <a:ext cx="1889760" cy="41338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110000"/>
              </a:lnSpc>
              <a:buFontTx/>
              <a:buNone/>
              <a:defRPr/>
            </a:pPr>
            <a:r>
              <a:rPr lang="en-US" altLang="ko-KR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4. </a:t>
            </a:r>
            <a:r>
              <a:rPr lang="ko-KR" altLang="en-US" sz="19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5349C7"/>
                </a:solidFill>
                <a:latin typeface="세방고딕 Bold" charset="0"/>
                <a:ea typeface="세방고딕 Bold" charset="0"/>
              </a:rPr>
              <a:t>음식점 추천</a:t>
            </a:r>
          </a:p>
        </p:txBody>
      </p:sp>
      <p:cxnSp>
        <p:nvCxnSpPr>
          <p:cNvPr id="300" name="직선 연결선 299"/>
          <p:cNvCxnSpPr/>
          <p:nvPr/>
        </p:nvCxnSpPr>
        <p:spPr>
          <a:xfrm>
            <a:off x="8940165" y="2150745"/>
            <a:ext cx="635" cy="3783965"/>
          </a:xfrm>
          <a:prstGeom prst="line">
            <a:avLst/>
          </a:prstGeom>
          <a:ln w="19050" cap="flat" cmpd="sng"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화살표: 오른쪽 302">
            <a:extLst>
              <a:ext uri="{FF2B5EF4-FFF2-40B4-BE49-F238E27FC236}">
                <a16:creationId xmlns:a16="http://schemas.microsoft.com/office/drawing/2014/main" id="{F462550B-7516-4F48-8DBC-C068CAACE33C}"/>
              </a:ext>
            </a:extLst>
          </p:cNvPr>
          <p:cNvSpPr/>
          <p:nvPr/>
        </p:nvSpPr>
        <p:spPr>
          <a:xfrm>
            <a:off x="246951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화살표: 오른쪽 304">
            <a:extLst>
              <a:ext uri="{FF2B5EF4-FFF2-40B4-BE49-F238E27FC236}">
                <a16:creationId xmlns:a16="http://schemas.microsoft.com/office/drawing/2014/main" id="{A1C7DAB0-A7D1-415F-AA4C-0669F2F1008C}"/>
              </a:ext>
            </a:extLst>
          </p:cNvPr>
          <p:cNvSpPr/>
          <p:nvPr/>
        </p:nvSpPr>
        <p:spPr>
          <a:xfrm>
            <a:off x="5493385" y="463486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화살표: 오른쪽 305">
            <a:extLst>
              <a:ext uri="{FF2B5EF4-FFF2-40B4-BE49-F238E27FC236}">
                <a16:creationId xmlns:a16="http://schemas.microsoft.com/office/drawing/2014/main" id="{28E7E554-AB9B-4EE4-BFAB-16EC1D61621A}"/>
              </a:ext>
            </a:extLst>
          </p:cNvPr>
          <p:cNvSpPr/>
          <p:nvPr/>
        </p:nvSpPr>
        <p:spPr>
          <a:xfrm>
            <a:off x="8629015" y="4652645"/>
            <a:ext cx="674370" cy="2724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7" name="도형 1"/>
          <p:cNvCxnSpPr/>
          <p:nvPr/>
        </p:nvCxnSpPr>
        <p:spPr>
          <a:xfrm>
            <a:off x="5777230" y="2150110"/>
            <a:ext cx="635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8" name="도형 2"/>
          <p:cNvCxnSpPr/>
          <p:nvPr/>
        </p:nvCxnSpPr>
        <p:spPr>
          <a:xfrm>
            <a:off x="2769235" y="2156460"/>
            <a:ext cx="1270" cy="378396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485" y="5744210"/>
            <a:ext cx="1184910" cy="1043305"/>
          </a:xfrm>
          <a:prstGeom prst="rect">
            <a:avLst/>
          </a:prstGeom>
        </p:spPr>
      </p:pic>
      <p:pic>
        <p:nvPicPr>
          <p:cNvPr id="100" name="그래픽 9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78" b="36588"/>
          <a:stretch>
            <a:fillRect/>
          </a:stretch>
        </p:blipFill>
        <p:spPr>
          <a:xfrm rot="16200000">
            <a:off x="8597265" y="2850515"/>
            <a:ext cx="4767580" cy="2422525"/>
          </a:xfrm>
          <a:prstGeom prst="rect">
            <a:avLst/>
          </a:prstGeom>
          <a:noFill/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671955"/>
            <a:ext cx="12192635" cy="401955"/>
          </a:xfrm>
          <a:prstGeom prst="rect">
            <a:avLst/>
          </a:prstGeom>
          <a:noFill/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655" y="1273175"/>
            <a:ext cx="10526395" cy="369570"/>
            <a:chOff x="541655" y="1273175"/>
            <a:chExt cx="10526395" cy="369570"/>
          </a:xfrm>
        </p:grpSpPr>
        <p:sp>
          <p:nvSpPr>
            <p:cNvPr id="24" name="TextBox 23"/>
            <p:cNvSpPr txBox="1">
              <a:spLocks/>
            </p:cNvSpPr>
            <p:nvPr/>
          </p:nvSpPr>
          <p:spPr>
            <a:xfrm>
              <a:off x="743585" y="1273175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1-5 </a:t>
              </a:r>
              <a:r>
                <a:rPr lang="ko-KR" altLang="en-US" sz="1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수행 절차 및 방법</a:t>
              </a:r>
            </a:p>
          </p:txBody>
        </p:sp>
        <p:sp>
          <p:nvSpPr>
            <p:cNvPr id="45" name="그래픽 43"/>
            <p:cNvSpPr>
              <a:spLocks/>
            </p:cNvSpPr>
            <p:nvPr/>
          </p:nvSpPr>
          <p:spPr>
            <a:xfrm>
              <a:off x="541655" y="1382395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7" name="_x278651016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/>
        </p:nvGraphicFramePr>
        <p:xfrm>
          <a:off x="294640" y="1758950"/>
          <a:ext cx="11218545" cy="49676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9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구분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98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기간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200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활동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98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ko-KR" altLang="en-US" sz="1600" b="1" i="0" kern="120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비고</a:t>
                      </a:r>
                    </a:p>
                  </a:txBody>
                  <a:tcPr marL="89535" marR="89535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3378C8">
                        <a:alpha val="47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사전 기획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아이디어 선정</a:t>
                      </a: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화면 구현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5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7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수집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11/26(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11/2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8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latinLnBrk="1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데이터 전처리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11/28(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12/3(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수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업체 자문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모델링 및 서비스 구축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12/4(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목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</a:t>
                      </a:r>
                      <a:r>
                        <a:rPr kumimoji="0" lang="ko-KR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2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팀별 중간보고 실시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마무리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15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12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/</a:t>
                      </a:r>
                      <a:r>
                        <a:rPr kumimoji="0" lang="ko-KR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19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 dirty="0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 fontAlgn="ctr" latinLnBrk="0">
                        <a:lnSpc>
                          <a:spcPct val="120000"/>
                        </a:lnSpc>
                        <a:spcBef>
                          <a:spcPct val="600"/>
                        </a:spcBef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최적화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, 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오류 수정</a:t>
                      </a: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ct val="60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개발기간</a:t>
                      </a:r>
                    </a:p>
                  </a:txBody>
                  <a:tcPr marL="84455" marR="84455" marT="41910" marB="41910" anchor="ctr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11/24(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월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 ~ 12/19(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금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  <a:p>
                      <a:pPr marL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(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총 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4</a:t>
                      </a:r>
                      <a:r>
                        <a:rPr kumimoji="0" lang="ko-KR" altLang="en-US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주</a:t>
                      </a:r>
                      <a:r>
                        <a:rPr kumimoji="0" lang="en-US" altLang="ko-KR" sz="1400" b="0" i="0" strike="noStrike" kern="1200" cap="none">
                          <a:ln w="9525" cap="flat" cmpd="sng" algn="ctr">
                            <a:solidFill>
                              <a:schemeClr val="bg1">
                                <a:alpha val="0"/>
                              </a:scheme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charset="0"/>
                          <a:ea typeface="세방고딕 Regular" charset="0"/>
                          <a:cs typeface="+mn-cs"/>
                        </a:rPr>
                        <a:t>)</a:t>
                      </a: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33020" marR="3810" marT="3810" marB="0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EAF1F9">
                        <a:alpha val="2472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>
                          <a:alpha val="100000"/>
                        </a:srgb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kumimoji="0" lang="ko-KR" altLang="en-US" sz="1400" b="0" i="0" strike="noStrike" kern="1200" cap="none" dirty="0">
                        <a:ln w="9525" cap="flat" cmpd="sng" algn="ctr">
                          <a:solidFill>
                            <a:schemeClr val="bg1">
                              <a:alpha val="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charset="0"/>
                        <a:ea typeface="세방고딕 Regular" charset="0"/>
                        <a:cs typeface="+mn-cs"/>
                      </a:endParaRPr>
                    </a:p>
                  </a:txBody>
                  <a:tcPr marL="89535" marR="89535" anchor="ctr">
                    <a:lnL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chemeClr val="bg1">
                        <a:alpha val="6005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44800"/>
          <a:stretch/>
        </p:blipFill>
        <p:spPr>
          <a:xfrm rot="16200000">
            <a:off x="11243945" y="5770880"/>
            <a:ext cx="935355" cy="960120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705" y="5478145"/>
            <a:ext cx="125095" cy="125095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245610" y="2294255"/>
            <a:ext cx="2553335" cy="327025"/>
            <a:chOff x="4245610" y="2294255"/>
            <a:chExt cx="2553335" cy="32702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245610" y="2294255"/>
              <a:ext cx="2553335" cy="327025"/>
              <a:chOff x="4245610" y="2294255"/>
              <a:chExt cx="2553335" cy="327025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245610" y="2294255"/>
                <a:ext cx="2456815" cy="327025"/>
                <a:chOff x="4245610" y="2294255"/>
                <a:chExt cx="2456815" cy="327025"/>
              </a:xfrm>
            </p:grpSpPr>
            <p:sp>
              <p:nvSpPr>
                <p:cNvPr id="42" name="사각형: 둥근 모서리 41"/>
                <p:cNvSpPr>
                  <a:spLocks/>
                </p:cNvSpPr>
                <p:nvPr/>
              </p:nvSpPr>
              <p:spPr>
                <a:xfrm>
                  <a:off x="4245610" y="2294255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43" name="타원 42"/>
                <p:cNvSpPr>
                  <a:spLocks/>
                </p:cNvSpPr>
                <p:nvPr/>
              </p:nvSpPr>
              <p:spPr>
                <a:xfrm>
                  <a:off x="4245610" y="229425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4598670" y="2326640"/>
                <a:ext cx="220091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프로젝트 기획 및 주제 선정</a:t>
                </a:r>
              </a:p>
            </p:txBody>
          </p:sp>
        </p:grpSp>
        <p:pic>
          <p:nvPicPr>
            <p:cNvPr id="106" name="그래픽 105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180" y="237236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066915" y="2298065"/>
            <a:ext cx="1445895" cy="327025"/>
            <a:chOff x="7066915" y="2298065"/>
            <a:chExt cx="1445895" cy="327025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066915" y="2298065"/>
              <a:ext cx="1445895" cy="327025"/>
              <a:chOff x="7066915" y="2298065"/>
              <a:chExt cx="1445895" cy="327025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7066915" y="2298065"/>
                <a:ext cx="1445895" cy="327025"/>
                <a:chOff x="7066915" y="2298065"/>
                <a:chExt cx="1445895" cy="327025"/>
              </a:xfrm>
            </p:grpSpPr>
            <p:sp>
              <p:nvSpPr>
                <p:cNvPr id="52" name="사각형: 둥근 모서리 51"/>
                <p:cNvSpPr>
                  <a:spLocks/>
                </p:cNvSpPr>
                <p:nvPr/>
              </p:nvSpPr>
              <p:spPr>
                <a:xfrm>
                  <a:off x="7066915" y="2298065"/>
                  <a:ext cx="144653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53" name="타원 52"/>
                <p:cNvSpPr>
                  <a:spLocks/>
                </p:cNvSpPr>
                <p:nvPr/>
              </p:nvSpPr>
              <p:spPr>
                <a:xfrm>
                  <a:off x="7066915" y="229806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51" name="TextBox 50"/>
              <p:cNvSpPr txBox="1">
                <a:spLocks/>
              </p:cNvSpPr>
              <p:nvPr/>
            </p:nvSpPr>
            <p:spPr>
              <a:xfrm>
                <a:off x="7419975" y="2330450"/>
                <a:ext cx="1028065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기획안 작성</a:t>
                </a:r>
              </a:p>
            </p:txBody>
          </p:sp>
        </p:grpSp>
        <p:pic>
          <p:nvPicPr>
            <p:cNvPr id="107" name="그래픽 106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3595" y="237680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6290945" y="2940050"/>
            <a:ext cx="2474595" cy="327025"/>
            <a:chOff x="6290945" y="2940050"/>
            <a:chExt cx="2474595" cy="327025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6290945" y="2940050"/>
              <a:ext cx="2474595" cy="327025"/>
              <a:chOff x="6290945" y="2940050"/>
              <a:chExt cx="2474595" cy="327025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6290945" y="2940050"/>
                <a:ext cx="2456815" cy="327025"/>
                <a:chOff x="6290945" y="2940050"/>
                <a:chExt cx="2456815" cy="327025"/>
              </a:xfrm>
            </p:grpSpPr>
            <p:sp>
              <p:nvSpPr>
                <p:cNvPr id="61" name="사각형: 둥근 모서리 60"/>
                <p:cNvSpPr>
                  <a:spLocks/>
                </p:cNvSpPr>
                <p:nvPr/>
              </p:nvSpPr>
              <p:spPr>
                <a:xfrm>
                  <a:off x="6290945" y="294005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2" name="타원 61"/>
                <p:cNvSpPr>
                  <a:spLocks/>
                </p:cNvSpPr>
                <p:nvPr/>
              </p:nvSpPr>
              <p:spPr>
                <a:xfrm>
                  <a:off x="629094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0" name="TextBox 59"/>
              <p:cNvSpPr txBox="1">
                <a:spLocks/>
              </p:cNvSpPr>
              <p:nvPr/>
            </p:nvSpPr>
            <p:spPr>
              <a:xfrm>
                <a:off x="6644005" y="2972435"/>
                <a:ext cx="212217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 spc="-2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및 수집 절차 정의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08" name="그래픽 107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515" y="301815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4253865" y="4240530"/>
            <a:ext cx="2109470" cy="327025"/>
            <a:chOff x="4253865" y="4240530"/>
            <a:chExt cx="2109470" cy="327025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4253865" y="4240530"/>
              <a:ext cx="2109470" cy="327025"/>
              <a:chOff x="4253865" y="4240530"/>
              <a:chExt cx="2109470" cy="327025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253865" y="4240530"/>
                <a:ext cx="2109470" cy="327025"/>
                <a:chOff x="4253865" y="4240530"/>
                <a:chExt cx="2109470" cy="327025"/>
              </a:xfrm>
            </p:grpSpPr>
            <p:sp>
              <p:nvSpPr>
                <p:cNvPr id="67" name="사각형: 둥근 모서리 66"/>
                <p:cNvSpPr>
                  <a:spLocks/>
                </p:cNvSpPr>
                <p:nvPr/>
              </p:nvSpPr>
              <p:spPr>
                <a:xfrm>
                  <a:off x="4253865" y="4240530"/>
                  <a:ext cx="211010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68" name="타원 67"/>
                <p:cNvSpPr>
                  <a:spLocks/>
                </p:cNvSpPr>
                <p:nvPr/>
              </p:nvSpPr>
              <p:spPr>
                <a:xfrm>
                  <a:off x="4253865" y="424053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66" name="TextBox 65"/>
              <p:cNvSpPr txBox="1">
                <a:spLocks/>
              </p:cNvSpPr>
              <p:nvPr/>
            </p:nvSpPr>
            <p:spPr>
              <a:xfrm>
                <a:off x="4606925" y="4272915"/>
                <a:ext cx="173482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데이터 정제 및 분석</a:t>
                </a:r>
              </a:p>
            </p:txBody>
          </p:sp>
        </p:grpSp>
        <p:pic>
          <p:nvPicPr>
            <p:cNvPr id="109" name="그래픽 108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910" y="431863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246880" y="3587115"/>
            <a:ext cx="2324735" cy="493395"/>
            <a:chOff x="4246880" y="3587115"/>
            <a:chExt cx="2324735" cy="493395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246880" y="3587115"/>
              <a:ext cx="2324735" cy="493395"/>
              <a:chOff x="4246880" y="3587115"/>
              <a:chExt cx="2324735" cy="493395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246880" y="3587115"/>
                <a:ext cx="2124075" cy="327025"/>
                <a:chOff x="4246880" y="3587115"/>
                <a:chExt cx="2124075" cy="327025"/>
              </a:xfrm>
            </p:grpSpPr>
            <p:sp>
              <p:nvSpPr>
                <p:cNvPr id="73" name="사각형: 둥근 모서리 72"/>
                <p:cNvSpPr>
                  <a:spLocks/>
                </p:cNvSpPr>
                <p:nvPr/>
              </p:nvSpPr>
              <p:spPr>
                <a:xfrm>
                  <a:off x="4246880" y="3587115"/>
                  <a:ext cx="212471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74" name="타원 73"/>
                <p:cNvSpPr>
                  <a:spLocks/>
                </p:cNvSpPr>
                <p:nvPr/>
              </p:nvSpPr>
              <p:spPr>
                <a:xfrm>
                  <a:off x="4246880" y="3587115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2" name="TextBox 71"/>
              <p:cNvSpPr txBox="1">
                <a:spLocks/>
              </p:cNvSpPr>
              <p:nvPr/>
            </p:nvSpPr>
            <p:spPr>
              <a:xfrm>
                <a:off x="4599940" y="3619500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기상, 상권 데이터 수집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0" name="그래픽 109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366077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252595" y="4851400"/>
            <a:ext cx="2324735" cy="327025"/>
            <a:chOff x="4252595" y="4851400"/>
            <a:chExt cx="2324735" cy="327025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252595" y="4851400"/>
              <a:ext cx="2324735" cy="327025"/>
              <a:chOff x="4252595" y="4851400"/>
              <a:chExt cx="2324735" cy="327025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252595" y="4851400"/>
                <a:ext cx="1341755" cy="327025"/>
                <a:chOff x="4252595" y="4851400"/>
                <a:chExt cx="1341755" cy="327025"/>
              </a:xfrm>
            </p:grpSpPr>
            <p:sp>
              <p:nvSpPr>
                <p:cNvPr id="79" name="사각형: 둥근 모서리 78"/>
                <p:cNvSpPr>
                  <a:spLocks/>
                </p:cNvSpPr>
                <p:nvPr/>
              </p:nvSpPr>
              <p:spPr>
                <a:xfrm>
                  <a:off x="4252595" y="4851400"/>
                  <a:ext cx="134239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0" name="타원 79"/>
                <p:cNvSpPr>
                  <a:spLocks/>
                </p:cNvSpPr>
                <p:nvPr/>
              </p:nvSpPr>
              <p:spPr>
                <a:xfrm>
                  <a:off x="4252595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78" name="TextBox 77"/>
              <p:cNvSpPr txBox="1">
                <a:spLocks/>
              </p:cNvSpPr>
              <p:nvPr/>
            </p:nvSpPr>
            <p:spPr>
              <a:xfrm>
                <a:off x="4605655" y="4884420"/>
                <a:ext cx="197231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모델 구현</a:t>
                </a:r>
              </a:p>
            </p:txBody>
          </p:sp>
        </p:grpSp>
        <p:pic>
          <p:nvPicPr>
            <p:cNvPr id="116" name="그래픽 115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8165" y="492252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246880" y="5516880"/>
            <a:ext cx="2474595" cy="327025"/>
            <a:chOff x="4246880" y="5516880"/>
            <a:chExt cx="2474595" cy="327025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246880" y="5516880"/>
              <a:ext cx="2474595" cy="327025"/>
              <a:chOff x="4246880" y="5516880"/>
              <a:chExt cx="2474595" cy="327025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246880" y="5516880"/>
                <a:ext cx="2456815" cy="327025"/>
                <a:chOff x="4246880" y="5516880"/>
                <a:chExt cx="2456815" cy="327025"/>
              </a:xfrm>
            </p:grpSpPr>
            <p:sp>
              <p:nvSpPr>
                <p:cNvPr id="85" name="사각형: 둥근 모서리 84"/>
                <p:cNvSpPr>
                  <a:spLocks/>
                </p:cNvSpPr>
                <p:nvPr/>
              </p:nvSpPr>
              <p:spPr>
                <a:xfrm>
                  <a:off x="4246880" y="551688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86" name="타원 85"/>
                <p:cNvSpPr>
                  <a:spLocks/>
                </p:cNvSpPr>
                <p:nvPr/>
              </p:nvSpPr>
              <p:spPr>
                <a:xfrm>
                  <a:off x="4246880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84" name="TextBox 83"/>
              <p:cNvSpPr txBox="1">
                <a:spLocks/>
              </p:cNvSpPr>
              <p:nvPr/>
            </p:nvSpPr>
            <p:spPr>
              <a:xfrm>
                <a:off x="4599940" y="554926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추천 엔진 최적화</a:t>
                </a:r>
              </a:p>
            </p:txBody>
          </p:sp>
        </p:grpSp>
        <p:pic>
          <p:nvPicPr>
            <p:cNvPr id="117" name="그래픽 116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245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056755" y="5516880"/>
            <a:ext cx="1845945" cy="327025"/>
            <a:chOff x="7056755" y="5516880"/>
            <a:chExt cx="1845945" cy="327025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056755" y="5516880"/>
              <a:ext cx="1845945" cy="327025"/>
              <a:chOff x="7056755" y="5516880"/>
              <a:chExt cx="1845945" cy="327025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7056755" y="5516880"/>
                <a:ext cx="1706880" cy="327025"/>
                <a:chOff x="7056755" y="5516880"/>
                <a:chExt cx="1706880" cy="327025"/>
              </a:xfrm>
            </p:grpSpPr>
            <p:sp>
              <p:nvSpPr>
                <p:cNvPr id="91" name="사각형: 둥근 모서리 90"/>
                <p:cNvSpPr>
                  <a:spLocks/>
                </p:cNvSpPr>
                <p:nvPr/>
              </p:nvSpPr>
              <p:spPr>
                <a:xfrm>
                  <a:off x="7056755" y="551688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2" name="타원 91"/>
                <p:cNvSpPr>
                  <a:spLocks/>
                </p:cNvSpPr>
                <p:nvPr/>
              </p:nvSpPr>
              <p:spPr>
                <a:xfrm>
                  <a:off x="7056755" y="551688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0" name="TextBox 89"/>
              <p:cNvSpPr txBox="1">
                <a:spLocks/>
              </p:cNvSpPr>
              <p:nvPr/>
            </p:nvSpPr>
            <p:spPr>
              <a:xfrm>
                <a:off x="7409815" y="5549265"/>
                <a:ext cx="149352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ko-KR" sz="1200" spc="-3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테스트 및 점검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18" name="그래픽 117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2800" y="5594985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05E0AFF-FD55-4F2F-B8EF-6A49EF49427D}"/>
              </a:ext>
            </a:extLst>
          </p:cNvPr>
          <p:cNvGrpSpPr/>
          <p:nvPr/>
        </p:nvGrpSpPr>
        <p:grpSpPr>
          <a:xfrm>
            <a:off x="4250055" y="2940050"/>
            <a:ext cx="1812925" cy="327025"/>
            <a:chOff x="4250055" y="2940050"/>
            <a:chExt cx="1812925" cy="327025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B729665-2402-4976-908F-269A87997924}"/>
                </a:ext>
              </a:extLst>
            </p:cNvPr>
            <p:cNvGrpSpPr/>
            <p:nvPr/>
          </p:nvGrpSpPr>
          <p:grpSpPr>
            <a:xfrm>
              <a:off x="4250055" y="2940050"/>
              <a:ext cx="1812925" cy="327025"/>
              <a:chOff x="4250055" y="2940050"/>
              <a:chExt cx="1812925" cy="327025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8F7794D7-16E0-4FB8-96C0-DFAB03B48202}"/>
                  </a:ext>
                </a:extLst>
              </p:cNvPr>
              <p:cNvGrpSpPr/>
              <p:nvPr/>
            </p:nvGrpSpPr>
            <p:grpSpPr>
              <a:xfrm>
                <a:off x="4250055" y="2940050"/>
                <a:ext cx="1706880" cy="327025"/>
                <a:chOff x="4250055" y="2940050"/>
                <a:chExt cx="1706880" cy="327025"/>
              </a:xfrm>
            </p:grpSpPr>
            <p:sp>
              <p:nvSpPr>
                <p:cNvPr id="96" name="사각형: 둥근 모서리 95"/>
                <p:cNvSpPr>
                  <a:spLocks/>
                </p:cNvSpPr>
                <p:nvPr/>
              </p:nvSpPr>
              <p:spPr>
                <a:xfrm>
                  <a:off x="4250055" y="2940050"/>
                  <a:ext cx="1707515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97" name="타원 96"/>
                <p:cNvSpPr>
                  <a:spLocks/>
                </p:cNvSpPr>
                <p:nvPr/>
              </p:nvSpPr>
              <p:spPr>
                <a:xfrm>
                  <a:off x="4250055" y="29400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95" name="TextBox 94"/>
              <p:cNvSpPr txBox="1">
                <a:spLocks/>
              </p:cNvSpPr>
              <p:nvPr/>
            </p:nvSpPr>
            <p:spPr>
              <a:xfrm>
                <a:off x="4603115" y="2972435"/>
                <a:ext cx="1460500" cy="27749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웹 디자인</a:t>
                </a:r>
                <a:r>
                  <a:rPr lang="en-US" altLang="ko-KR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(HTML)</a:t>
                </a: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93" name="그래픽 92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6100" y="301879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7A4C581-97FC-4661-917D-4B41E0C0D2D8}"/>
              </a:ext>
            </a:extLst>
          </p:cNvPr>
          <p:cNvGrpSpPr/>
          <p:nvPr/>
        </p:nvGrpSpPr>
        <p:grpSpPr>
          <a:xfrm>
            <a:off x="6322060" y="4851400"/>
            <a:ext cx="2474595" cy="327025"/>
            <a:chOff x="6322060" y="4851400"/>
            <a:chExt cx="2474595" cy="32702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D7BC3F7-8949-450F-92C5-74477AC8BD62}"/>
                </a:ext>
              </a:extLst>
            </p:cNvPr>
            <p:cNvGrpSpPr/>
            <p:nvPr/>
          </p:nvGrpSpPr>
          <p:grpSpPr>
            <a:xfrm>
              <a:off x="6322060" y="4851400"/>
              <a:ext cx="2474595" cy="327025"/>
              <a:chOff x="6322060" y="4851400"/>
              <a:chExt cx="2474595" cy="327025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1B54FEE5-856A-407F-B809-C865AC19674C}"/>
                  </a:ext>
                </a:extLst>
              </p:cNvPr>
              <p:cNvGrpSpPr/>
              <p:nvPr/>
            </p:nvGrpSpPr>
            <p:grpSpPr>
              <a:xfrm>
                <a:off x="6322060" y="4851400"/>
                <a:ext cx="2456815" cy="327025"/>
                <a:chOff x="6322060" y="4851400"/>
                <a:chExt cx="2456815" cy="327025"/>
              </a:xfrm>
            </p:grpSpPr>
            <p:sp>
              <p:nvSpPr>
                <p:cNvPr id="112" name="사각형: 둥근 모서리 111"/>
                <p:cNvSpPr>
                  <a:spLocks/>
                </p:cNvSpPr>
                <p:nvPr/>
              </p:nvSpPr>
              <p:spPr>
                <a:xfrm>
                  <a:off x="6322060" y="4851400"/>
                  <a:ext cx="24574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13" name="타원 112"/>
                <p:cNvSpPr>
                  <a:spLocks/>
                </p:cNvSpPr>
                <p:nvPr/>
              </p:nvSpPr>
              <p:spPr>
                <a:xfrm>
                  <a:off x="6322060" y="485140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11" name="TextBox 110"/>
              <p:cNvSpPr txBox="1">
                <a:spLocks/>
              </p:cNvSpPr>
              <p:nvPr/>
            </p:nvSpPr>
            <p:spPr>
              <a:xfrm>
                <a:off x="6675120" y="4883785"/>
                <a:ext cx="2122170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fontAlgn="ctr" latinLnBrk="0">
                  <a:spcBef>
                    <a:spcPts val="600"/>
                  </a:spcBef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 서버 및 DB 구축</a:t>
                </a:r>
              </a:p>
            </p:txBody>
          </p:sp>
        </p:grpSp>
        <p:pic>
          <p:nvPicPr>
            <p:cNvPr id="103" name="그래픽 102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7630" y="4930140"/>
              <a:ext cx="150495" cy="180975"/>
            </a:xfrm>
            <a:prstGeom prst="rect">
              <a:avLst/>
            </a:prstGeom>
            <a:noFill/>
          </p:spPr>
        </p:pic>
      </p:grpSp>
      <p:grpSp>
        <p:nvGrpSpPr>
          <p:cNvPr id="120" name="그룹 11"/>
          <p:cNvGrpSpPr/>
          <p:nvPr/>
        </p:nvGrpSpPr>
        <p:grpSpPr>
          <a:xfrm>
            <a:off x="6739255" y="3587750"/>
            <a:ext cx="2325370" cy="494030"/>
            <a:chOff x="6739255" y="3587750"/>
            <a:chExt cx="2325370" cy="494030"/>
          </a:xfrm>
        </p:grpSpPr>
        <p:grpSp>
          <p:nvGrpSpPr>
            <p:cNvPr id="121" name="그룹 9"/>
            <p:cNvGrpSpPr/>
            <p:nvPr/>
          </p:nvGrpSpPr>
          <p:grpSpPr>
            <a:xfrm>
              <a:off x="6739255" y="3587750"/>
              <a:ext cx="2325370" cy="494030"/>
              <a:chOff x="6739255" y="3587750"/>
              <a:chExt cx="2325370" cy="494030"/>
            </a:xfrm>
          </p:grpSpPr>
          <p:grpSp>
            <p:nvGrpSpPr>
              <p:cNvPr id="122" name="그룹 7"/>
              <p:cNvGrpSpPr/>
              <p:nvPr/>
            </p:nvGrpSpPr>
            <p:grpSpPr>
              <a:xfrm>
                <a:off x="6739255" y="3587750"/>
                <a:ext cx="1898650" cy="327660"/>
                <a:chOff x="6739255" y="3587750"/>
                <a:chExt cx="1898650" cy="327660"/>
              </a:xfrm>
            </p:grpSpPr>
            <p:sp>
              <p:nvSpPr>
                <p:cNvPr id="123" name="도형 5"/>
                <p:cNvSpPr>
                  <a:spLocks/>
                </p:cNvSpPr>
                <p:nvPr/>
              </p:nvSpPr>
              <p:spPr>
                <a:xfrm>
                  <a:off x="6739255" y="3587750"/>
                  <a:ext cx="1898650" cy="3276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 sz="1600">
                    <a:latin typeface="세방고딕 Regular" charset="0"/>
                    <a:ea typeface="세방고딕 Regular" charset="0"/>
                  </a:endParaRPr>
                </a:p>
              </p:txBody>
            </p:sp>
            <p:sp>
              <p:nvSpPr>
                <p:cNvPr id="124" name="도형 6"/>
                <p:cNvSpPr>
                  <a:spLocks/>
                </p:cNvSpPr>
                <p:nvPr/>
              </p:nvSpPr>
              <p:spPr>
                <a:xfrm>
                  <a:off x="6739255" y="3587750"/>
                  <a:ext cx="335915" cy="327660"/>
                </a:xfrm>
                <a:prstGeom prst="ellipse">
                  <a:avLst/>
                </a:prstGeom>
                <a:solidFill>
                  <a:srgbClr val="3378C8"/>
                </a:solidFill>
                <a:ln w="0">
                  <a:noFill/>
                  <a:prstDash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ctr">
                  <a:noAutofit/>
                </a:bodyPr>
                <a:lstStyle/>
                <a:p>
                  <a:pPr marL="0" indent="0" algn="ctr" latinLnBrk="0">
                    <a:buFontTx/>
                    <a:buNone/>
                  </a:pPr>
                  <a:endParaRPr lang="ko-KR" altLang="en-US">
                    <a:latin typeface="세방고딕 Regular" charset="0"/>
                    <a:ea typeface="세방고딕 Regular" charset="0"/>
                  </a:endParaRPr>
                </a:p>
              </p:txBody>
            </p:sp>
          </p:grpSp>
          <p:sp>
            <p:nvSpPr>
              <p:cNvPr id="125" name="텍스트 상자 8"/>
              <p:cNvSpPr txBox="1">
                <a:spLocks/>
              </p:cNvSpPr>
              <p:nvPr/>
            </p:nvSpPr>
            <p:spPr>
              <a:xfrm>
                <a:off x="7092315" y="3620135"/>
                <a:ext cx="1972310" cy="46164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  <a:defRPr/>
                </a:pPr>
                <a:r>
                  <a:rPr lang="ko-KR" altLang="en-US" sz="1200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charset="0"/>
                    <a:ea typeface="세방고딕 Regular" charset="0"/>
                  </a:rPr>
                  <a:t>네이버 리뷰 크롤링</a:t>
                </a:r>
              </a:p>
              <a:p>
                <a:pPr marL="0" indent="0" latinLnBrk="0">
                  <a:buFontTx/>
                  <a:buNone/>
                  <a:defRPr/>
                </a:pPr>
                <a:endParaRPr lang="ko-KR" altLang="en-US" sz="12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charset="0"/>
                  <a:ea typeface="세방고딕 Regular" charset="0"/>
                </a:endParaRPr>
              </a:p>
            </p:txBody>
          </p:sp>
        </p:grpSp>
        <p:pic>
          <p:nvPicPr>
            <p:cNvPr id="126" name="그림 10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4825" y="3661410"/>
              <a:ext cx="150495" cy="18097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850"/>
            <a:chOff x="375920" y="333375"/>
            <a:chExt cx="5949315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749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32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850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/>
          <p:cNvPicPr>
            <a:picLocks noChangeAspect="1"/>
          </p:cNvPicPr>
          <p:nvPr/>
        </p:nvPicPr>
        <p:blipFill rotWithShape="1">
          <a:blip r:embed="rId5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917065"/>
            <a:ext cx="12192635" cy="234315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541655" y="1430020"/>
            <a:ext cx="10527030" cy="370205"/>
            <a:chOff x="541655" y="143002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743585" y="143002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541655" y="153924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687705" y="1329055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데이터 구성</a:t>
            </a: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aphicFrame>
        <p:nvGraphicFramePr>
          <p:cNvPr id="15" name="표 16">
            <a:extLst>
              <a:ext uri="{FF2B5EF4-FFF2-40B4-BE49-F238E27FC236}">
                <a16:creationId xmlns:a16="http://schemas.microsoft.com/office/drawing/2014/main" id="{523CB92F-E11D-4389-A2A5-FDA813379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887741"/>
              </p:ext>
            </p:extLst>
          </p:nvPr>
        </p:nvGraphicFramePr>
        <p:xfrm>
          <a:off x="263352" y="2528900"/>
          <a:ext cx="11660739" cy="3976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9463">
                  <a:extLst>
                    <a:ext uri="{9D8B030D-6E8A-4147-A177-3AD203B41FA5}">
                      <a16:colId xmlns:a16="http://schemas.microsoft.com/office/drawing/2014/main" val="4160449000"/>
                    </a:ext>
                  </a:extLst>
                </a:gridCol>
                <a:gridCol w="3086576">
                  <a:extLst>
                    <a:ext uri="{9D8B030D-6E8A-4147-A177-3AD203B41FA5}">
                      <a16:colId xmlns:a16="http://schemas.microsoft.com/office/drawing/2014/main" val="1129780896"/>
                    </a:ext>
                  </a:extLst>
                </a:gridCol>
                <a:gridCol w="2812350">
                  <a:extLst>
                    <a:ext uri="{9D8B030D-6E8A-4147-A177-3AD203B41FA5}">
                      <a16:colId xmlns:a16="http://schemas.microsoft.com/office/drawing/2014/main" val="3971269362"/>
                    </a:ext>
                  </a:extLst>
                </a:gridCol>
                <a:gridCol w="2812350">
                  <a:extLst>
                    <a:ext uri="{9D8B030D-6E8A-4147-A177-3AD203B41FA5}">
                      <a16:colId xmlns:a16="http://schemas.microsoft.com/office/drawing/2014/main" val="909818671"/>
                    </a:ext>
                  </a:extLst>
                </a:gridCol>
              </a:tblGrid>
              <a:tr h="7953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수집방법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711909"/>
                  </a:ext>
                </a:extLst>
              </a:tr>
              <a:tr h="7953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위치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 </a:t>
                      </a:r>
                      <a:r>
                        <a:rPr lang="ko-KR" altLang="en-US" dirty="0" err="1"/>
                        <a:t>위〮경도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Geolocation API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날씨 호출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67260"/>
                  </a:ext>
                </a:extLst>
              </a:tr>
              <a:tr h="7953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날씨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시간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기온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습도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풍속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구름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기상청 종관기상관측</a:t>
                      </a:r>
                      <a:r>
                        <a:rPr lang="en-US" altLang="ko-KR" dirty="0"/>
                        <a:t>(ASOS) </a:t>
                      </a:r>
                      <a:r>
                        <a:rPr lang="ko-KR" altLang="en-US" dirty="0"/>
                        <a:t>자료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음식 추천 모델 학습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카테고리 추천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59982"/>
                  </a:ext>
                </a:extLst>
              </a:tr>
              <a:tr h="7953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음식점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가게이름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위〮경도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주소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pPr latinLnBrk="1"/>
                      <a:r>
                        <a:rPr lang="ko-KR" altLang="en-US" dirty="0"/>
                        <a:t>업종분류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공공데이터포털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소상공인 상가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상권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카테고리 추출</a:t>
                      </a:r>
                      <a:r>
                        <a:rPr lang="en-US" altLang="ko-KR" dirty="0"/>
                        <a:t>,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음식점 추천 및 위치 표시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031185"/>
                  </a:ext>
                </a:extLst>
              </a:tr>
              <a:tr h="7953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리뷰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상세리뷰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작성일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리뷰 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네이버 </a:t>
                      </a:r>
                      <a:r>
                        <a:rPr lang="ko-KR" altLang="en-US" dirty="0" err="1"/>
                        <a:t>플레이스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크롤링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음식점 추천 점수 도출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542800"/>
                  </a:ext>
                </a:extLst>
              </a:tr>
            </a:tbl>
          </a:graphicData>
        </a:graphic>
      </p:graphicFrame>
      <p:grpSp>
        <p:nvGrpSpPr>
          <p:cNvPr id="21" name="Group 5">
            <a:extLst>
              <a:ext uri="{FF2B5EF4-FFF2-40B4-BE49-F238E27FC236}">
                <a16:creationId xmlns:a16="http://schemas.microsoft.com/office/drawing/2014/main" id="{EDF273A4-8C63-4A4B-8A1F-115D609CFE01}"/>
              </a:ext>
            </a:extLst>
          </p:cNvPr>
          <p:cNvGrpSpPr/>
          <p:nvPr/>
        </p:nvGrpSpPr>
        <p:grpSpPr>
          <a:xfrm>
            <a:off x="473710" y="2005330"/>
            <a:ext cx="11410950" cy="379730"/>
            <a:chOff x="473710" y="2005330"/>
            <a:chExt cx="11410950" cy="379730"/>
          </a:xfrm>
        </p:grpSpPr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E82D5E83-9540-4510-9723-ACCD20395588}"/>
                </a:ext>
              </a:extLst>
            </p:cNvPr>
            <p:cNvSpPr>
              <a:spLocks/>
            </p:cNvSpPr>
            <p:nvPr/>
          </p:nvSpPr>
          <p:spPr>
            <a:xfrm>
              <a:off x="473710" y="2005330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4" name="Rect 0">
              <a:extLst>
                <a:ext uri="{FF2B5EF4-FFF2-40B4-BE49-F238E27FC236}">
                  <a16:creationId xmlns:a16="http://schemas.microsoft.com/office/drawing/2014/main" id="{2CF6E5F0-440B-4C4F-8307-569014A40C6F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2044065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사용 데이터 목록</a:t>
              </a:r>
            </a:p>
          </p:txBody>
        </p:sp>
        <p:grpSp>
          <p:nvGrpSpPr>
            <p:cNvPr id="25" name="Group 5">
              <a:extLst>
                <a:ext uri="{FF2B5EF4-FFF2-40B4-BE49-F238E27FC236}">
                  <a16:creationId xmlns:a16="http://schemas.microsoft.com/office/drawing/2014/main" id="{E76155EA-8982-40C0-B492-8B53B537062B}"/>
                </a:ext>
              </a:extLst>
            </p:cNvPr>
            <p:cNvGrpSpPr/>
            <p:nvPr/>
          </p:nvGrpSpPr>
          <p:grpSpPr>
            <a:xfrm>
              <a:off x="711200" y="2063115"/>
              <a:ext cx="283845" cy="276860"/>
              <a:chOff x="711200" y="2063115"/>
              <a:chExt cx="283845" cy="276860"/>
            </a:xfrm>
          </p:grpSpPr>
          <p:sp>
            <p:nvSpPr>
              <p:cNvPr id="26" name="Rect 0">
                <a:extLst>
                  <a:ext uri="{FF2B5EF4-FFF2-40B4-BE49-F238E27FC236}">
                    <a16:creationId xmlns:a16="http://schemas.microsoft.com/office/drawing/2014/main" id="{F551F352-1CA7-4E9B-B11C-53040CB3BE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2066925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27" name="Rect 0">
                <a:extLst>
                  <a:ext uri="{FF2B5EF4-FFF2-40B4-BE49-F238E27FC236}">
                    <a16:creationId xmlns:a16="http://schemas.microsoft.com/office/drawing/2014/main" id="{E4EE8157-C4BE-481E-A97D-8FC68480B2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2063115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672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865"/>
            <a:chOff x="375920" y="333375"/>
            <a:chExt cx="5949315" cy="120586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4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날씨 데이터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기상청 종관기상관측 자료 활용</a:t>
              </a: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EA28A671-4EFB-40B1-9B30-63752030101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85"/>
          <a:stretch/>
        </p:blipFill>
        <p:spPr>
          <a:xfrm>
            <a:off x="539115" y="2574925"/>
            <a:ext cx="5276850" cy="372491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D1F6023-90B7-4836-891B-9591E094819F}"/>
              </a:ext>
            </a:extLst>
          </p:cNvPr>
          <p:cNvSpPr txBox="1"/>
          <p:nvPr/>
        </p:nvSpPr>
        <p:spPr>
          <a:xfrm>
            <a:off x="6300470" y="3074035"/>
            <a:ext cx="4716780" cy="203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추천엔진을 학습시키기 위한 기상청의 관측자료 수집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필요없는</a:t>
            </a:r>
            <a:r>
              <a:rPr lang="ko-KR" altLang="en-US" dirty="0"/>
              <a:t> 피처 제거 후 데이터 특성 파악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Ex) </a:t>
            </a:r>
            <a:r>
              <a:rPr lang="ko-KR" altLang="en-US" dirty="0"/>
              <a:t>습도와</a:t>
            </a:r>
            <a:r>
              <a:rPr lang="en-US" altLang="ko-KR" dirty="0"/>
              <a:t> </a:t>
            </a:r>
            <a:r>
              <a:rPr lang="ko-KR" altLang="en-US" dirty="0"/>
              <a:t>기온이 활동성이 높고 강수와 </a:t>
            </a:r>
            <a:r>
              <a:rPr lang="ko-KR" altLang="en-US" dirty="0" err="1"/>
              <a:t>적설등은</a:t>
            </a:r>
            <a:r>
              <a:rPr lang="ko-KR" altLang="en-US" dirty="0"/>
              <a:t> 상대적으로 변동이 적음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865"/>
            <a:chOff x="375920" y="333375"/>
            <a:chExt cx="5949315" cy="120586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4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 rot="0">
              <a:off x="473710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 rot="0">
              <a:off x="994410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리뷰 데이터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(1/3) </a:t>
              </a:r>
              <a:r>
                <a:rPr lang="en-US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수집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 rot="0">
                <a:off x="760730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 rot="0">
                <a:off x="711200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F645A1-1783-4FE2-A331-096FD145B909}"/>
              </a:ext>
            </a:extLst>
          </p:cNvPr>
          <p:cNvSpPr txBox="1"/>
          <p:nvPr/>
        </p:nvSpPr>
        <p:spPr>
          <a:xfrm>
            <a:off x="760730" y="2537460"/>
            <a:ext cx="11017885" cy="286067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285750" indent="-285750" latinLnBrk="0">
              <a:lnSpc>
                <a:spcPct val="200000"/>
              </a:lnSpc>
            </a:pPr>
            <a:r>
              <a:rPr lang="ko-KR" altLang="en-US"/>
              <a:t>용도 </a:t>
            </a:r>
            <a:r>
              <a:rPr lang="en-US" altLang="ko-KR"/>
              <a:t>: </a:t>
            </a:r>
            <a:r>
              <a:rPr lang="ko-KR" altLang="en-US"/>
              <a:t>음식점 추천시의 품질을 높이기 위해 리뷰 데이터를 긍</a:t>
            </a:r>
            <a:r>
              <a:rPr lang="en-US" altLang="ko-KR"/>
              <a:t>/</a:t>
            </a:r>
            <a:r>
              <a:rPr lang="ko-KR" altLang="en-US"/>
              <a:t>부정 라벨링하여 활용</a:t>
            </a:r>
            <a:endParaRPr lang="ko-KR" altLang="en-US"/>
          </a:p>
          <a:p>
            <a:pPr marL="285750" indent="-285750" latinLnBrk="0">
              <a:lnSpc>
                <a:spcPct val="200000"/>
              </a:lnSpc>
              <a:buFont typeface="Wingdings"/>
              <a:buChar char="l"/>
            </a:pPr>
            <a:r>
              <a:rPr lang="ko-KR" altLang="en-US"/>
              <a:t>수집 대상 </a:t>
            </a:r>
            <a:r>
              <a:rPr lang="en-US" altLang="ko-KR"/>
              <a:t>: </a:t>
            </a:r>
            <a:r>
              <a:rPr lang="ko-KR" altLang="en-US"/>
              <a:t>네이버 플레이스</a:t>
            </a:r>
            <a:endParaRPr lang="ko-KR" altLang="en-US"/>
          </a:p>
          <a:p>
            <a:pPr marL="285750" indent="-285750" latinLnBrk="0">
              <a:lnSpc>
                <a:spcPct val="200000"/>
              </a:lnSpc>
              <a:buFont typeface="Wingdings"/>
              <a:buChar char="l"/>
            </a:pPr>
            <a:r>
              <a:rPr lang="ko-KR" altLang="en-US"/>
              <a:t>수집 방법 </a:t>
            </a:r>
            <a:r>
              <a:rPr lang="en-US" altLang="ko-KR"/>
              <a:t>: </a:t>
            </a:r>
            <a:r>
              <a:rPr lang="ko-KR" altLang="en-US"/>
              <a:t>셀리니움을 이용하여 수집</a:t>
            </a:r>
            <a:endParaRPr lang="ko-KR" altLang="en-US"/>
          </a:p>
          <a:p>
            <a:pPr marL="285750" indent="-285750" latinLnBrk="0">
              <a:lnSpc>
                <a:spcPct val="200000"/>
              </a:lnSpc>
              <a:buFont typeface="Wingdings"/>
              <a:buChar char="l"/>
            </a:pPr>
            <a:r>
              <a:rPr lang="ko-KR" altLang="en-US"/>
              <a:t>수집 결과 </a:t>
            </a:r>
            <a:r>
              <a:rPr lang="en-US" altLang="ko-KR"/>
              <a:t>: 5</a:t>
            </a:r>
            <a:r>
              <a:rPr lang="ko-KR" altLang="en-US"/>
              <a:t>만건</a:t>
            </a:r>
            <a:endParaRPr lang="ko-KR" altLang="en-US"/>
          </a:p>
          <a:p>
            <a:pPr marL="285750" indent="-285750" latinLnBrk="0">
              <a:lnSpc>
                <a:spcPct val="200000"/>
              </a:lnSpc>
              <a:buFont typeface="Wingdings"/>
              <a:buChar char="l"/>
            </a:pPr>
            <a:r>
              <a:rPr lang="ko-KR" altLang="en-US"/>
              <a:t>수집 데이터 </a:t>
            </a:r>
            <a:r>
              <a:rPr lang="en-US" altLang="ko-KR"/>
              <a:t>: </a:t>
            </a:r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9FFF394-C997-4153-B35A-5EB8FF70672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12" b="11261"/>
          <a:stretch/>
        </p:blipFill>
        <p:spPr>
          <a:xfrm>
            <a:off x="2588260" y="4941570"/>
            <a:ext cx="7955280" cy="1635125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43257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865"/>
            <a:chOff x="375920" y="333375"/>
            <a:chExt cx="5949315" cy="120586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4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 rot="0">
              <a:off x="473710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 rot="0">
              <a:off x="994410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리뷰 데이터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(2/3) </a:t>
              </a:r>
              <a:r>
                <a:rPr lang="en-US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수집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 rot="0">
                <a:off x="760730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 rot="0">
                <a:off x="711200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A447974-24F6-4D83-910C-3126F374C2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85" y="2592070"/>
            <a:ext cx="5053330" cy="369316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24B32F5-FB76-4F7F-B817-6A269A8AC864}"/>
              </a:ext>
            </a:extLst>
          </p:cNvPr>
          <p:cNvSpPr txBox="1"/>
          <p:nvPr/>
        </p:nvSpPr>
        <p:spPr>
          <a:xfrm>
            <a:off x="6197600" y="2658110"/>
            <a:ext cx="4716780" cy="3693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수집한 상가목록에서 음식점 명을 추출해 네이버 </a:t>
            </a:r>
            <a:r>
              <a:rPr lang="ko-KR" altLang="en-US" dirty="0" err="1"/>
              <a:t>플레이스</a:t>
            </a:r>
            <a:r>
              <a:rPr lang="ko-KR" altLang="en-US" dirty="0"/>
              <a:t> 약 </a:t>
            </a:r>
            <a:r>
              <a:rPr lang="en-US" altLang="ko-KR" dirty="0"/>
              <a:t>5</a:t>
            </a:r>
            <a:r>
              <a:rPr lang="ko-KR" altLang="en-US" dirty="0" err="1"/>
              <a:t>만건의</a:t>
            </a:r>
            <a:r>
              <a:rPr lang="ko-KR" altLang="en-US" dirty="0"/>
              <a:t> 리뷰  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진행 중 </a:t>
            </a:r>
            <a:r>
              <a:rPr lang="en-US" altLang="ko-KR" dirty="0"/>
              <a:t>iframe</a:t>
            </a:r>
            <a:r>
              <a:rPr lang="ko-KR" altLang="en-US" dirty="0"/>
              <a:t>간의 전환이나 봇 감지에 대응하는 부분이 특히 어려웠다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time.sleep</a:t>
            </a:r>
            <a:r>
              <a:rPr lang="en-US" altLang="ko-KR" dirty="0"/>
              <a:t>() </a:t>
            </a:r>
            <a:r>
              <a:rPr lang="ko-KR" altLang="en-US" dirty="0"/>
              <a:t>이나 </a:t>
            </a:r>
            <a:r>
              <a:rPr lang="en-US" altLang="ko-KR" dirty="0" err="1"/>
              <a:t>WebDriverWait</a:t>
            </a:r>
            <a:r>
              <a:rPr lang="en-US" altLang="ko-KR" dirty="0"/>
              <a:t>()</a:t>
            </a:r>
            <a:r>
              <a:rPr lang="ko-KR" altLang="en-US" dirty="0"/>
              <a:t>으로 대기시간을 많이 주어 대응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이후 </a:t>
            </a:r>
            <a:r>
              <a:rPr lang="ko-KR" altLang="en-US" dirty="0" err="1"/>
              <a:t>가게별</a:t>
            </a:r>
            <a:r>
              <a:rPr lang="ko-KR" altLang="en-US" dirty="0"/>
              <a:t> 리뷰 수와 위치정보</a:t>
            </a:r>
            <a:r>
              <a:rPr lang="en-US" altLang="ko-KR" dirty="0"/>
              <a:t>, </a:t>
            </a:r>
            <a:r>
              <a:rPr lang="ko-KR" altLang="en-US" dirty="0"/>
              <a:t>리뷰  긍정도를 이용해 음식점을 추천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31790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865"/>
            <a:chOff x="375920" y="333375"/>
            <a:chExt cx="5949315" cy="120586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4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pic>
        <p:nvPicPr>
          <p:cNvPr id="9" name="Picture "/>
          <p:cNvPicPr>
            <a:picLocks noChangeAspect="1"/>
          </p:cNvPicPr>
          <p:nvPr/>
        </p:nvPicPr>
        <p:blipFill rotWithShape="1">
          <a:blip r:embed="rId4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46" name="Group 5"/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47" name="Rect 0"/>
            <p:cNvSpPr>
              <a:spLocks/>
            </p:cNvSpPr>
            <p:nvPr/>
          </p:nvSpPr>
          <p:spPr>
            <a:xfrm rot="0">
              <a:off x="473710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8" name="Rect 0"/>
            <p:cNvSpPr txBox="1">
              <a:spLocks/>
            </p:cNvSpPr>
            <p:nvPr/>
          </p:nvSpPr>
          <p:spPr>
            <a:xfrm rot="0">
              <a:off x="994410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리뷰 데이터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(3/3) </a:t>
              </a:r>
              <a:r>
                <a:rPr lang="en-US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전처리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49" name="Group 5"/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50" name="Rect 0"/>
              <p:cNvSpPr>
                <a:spLocks/>
              </p:cNvSpPr>
              <p:nvPr/>
            </p:nvSpPr>
            <p:spPr>
              <a:xfrm rot="0">
                <a:off x="760730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51" name="Rect 0"/>
              <p:cNvSpPr txBox="1">
                <a:spLocks/>
              </p:cNvSpPr>
              <p:nvPr/>
            </p:nvSpPr>
            <p:spPr>
              <a:xfrm rot="0">
                <a:off x="711200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9F891-917E-4916-8236-95093A9DAF6A}"/>
              </a:ext>
            </a:extLst>
          </p:cNvPr>
          <p:cNvSpPr txBox="1"/>
          <p:nvPr/>
        </p:nvSpPr>
        <p:spPr>
          <a:xfrm>
            <a:off x="715645" y="2456815"/>
            <a:ext cx="11017250" cy="166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b="1" dirty="0"/>
              <a:t>처리절차 </a:t>
            </a:r>
            <a:r>
              <a:rPr lang="en-US" altLang="ko-KR" b="1" dirty="0"/>
              <a:t>: </a:t>
            </a:r>
            <a:r>
              <a:rPr lang="en-US" altLang="ko-KR" b="1" dirty="0" err="1"/>
              <a:t>konlpy</a:t>
            </a:r>
            <a:r>
              <a:rPr lang="ko-KR" altLang="en-US" b="1" dirty="0"/>
              <a:t> 형태소 분석 </a:t>
            </a:r>
            <a:r>
              <a:rPr lang="en-US" altLang="ko-KR" b="1" dirty="0"/>
              <a:t>&gt; </a:t>
            </a:r>
            <a:r>
              <a:rPr lang="ko-KR" altLang="en-US" b="1" dirty="0"/>
              <a:t>토큰화 </a:t>
            </a:r>
            <a:r>
              <a:rPr lang="en-US" altLang="ko-KR" b="1" dirty="0"/>
              <a:t>&gt; </a:t>
            </a:r>
            <a:r>
              <a:rPr lang="ko-KR" altLang="en-US" b="1" dirty="0" err="1"/>
              <a:t>불용어</a:t>
            </a:r>
            <a:r>
              <a:rPr lang="ko-KR" altLang="en-US" b="1" dirty="0"/>
              <a:t> 제거</a:t>
            </a:r>
            <a:r>
              <a:rPr lang="en-US" altLang="ko-KR" b="1" dirty="0"/>
              <a:t> &gt; TF-IDF </a:t>
            </a:r>
            <a:r>
              <a:rPr lang="ko-KR" altLang="en-US" b="1" dirty="0"/>
              <a:t>추출 </a:t>
            </a:r>
            <a:r>
              <a:rPr lang="en-US" altLang="ko-KR" b="1" dirty="0"/>
              <a:t>&gt; </a:t>
            </a:r>
            <a:r>
              <a:rPr lang="ko-KR" altLang="en-US" b="1" dirty="0" err="1"/>
              <a:t>긍</a:t>
            </a:r>
            <a:r>
              <a:rPr lang="en-US" altLang="ko-KR" b="1" dirty="0"/>
              <a:t>/</a:t>
            </a:r>
            <a:r>
              <a:rPr lang="ko-KR" altLang="en-US" b="1" dirty="0"/>
              <a:t>부정 판단</a:t>
            </a:r>
            <a:endParaRPr lang="en-US" altLang="ko-KR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b="1" dirty="0" err="1"/>
              <a:t>라벨링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단어 추출 후 </a:t>
            </a:r>
            <a:r>
              <a:rPr lang="en-US" altLang="ko-KR" b="1" dirty="0"/>
              <a:t>TF-IDF </a:t>
            </a:r>
            <a:r>
              <a:rPr lang="ko-KR" altLang="en-US" b="1" dirty="0"/>
              <a:t>벡터화</a:t>
            </a:r>
            <a:r>
              <a:rPr lang="en-US" altLang="ko-KR" b="1" dirty="0"/>
              <a:t>, Logistic Regression</a:t>
            </a:r>
            <a:r>
              <a:rPr lang="ko-KR" altLang="en-US" b="1" dirty="0"/>
              <a:t>기반 감성모델을 반복 </a:t>
            </a:r>
            <a:r>
              <a:rPr lang="ko-KR" altLang="en-US" b="1" dirty="0" err="1"/>
              <a:t>재학습</a:t>
            </a:r>
            <a:endParaRPr lang="en-US" altLang="ko-KR" b="1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ko-KR" altLang="en-US" b="1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93255F5A-EB27-4C6A-A17F-42570E92A8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4040" y="4064000"/>
            <a:ext cx="8986520" cy="2201545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8359A7-F5B2-4AF4-AEA0-34F17D6D1720}"/>
              </a:ext>
            </a:extLst>
          </p:cNvPr>
          <p:cNvSpPr/>
          <p:nvPr/>
        </p:nvSpPr>
        <p:spPr>
          <a:xfrm>
            <a:off x="8544560" y="3987800"/>
            <a:ext cx="1440180" cy="24422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200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865"/>
            <a:chOff x="375920" y="333375"/>
            <a:chExt cx="5949315" cy="120586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4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31" name="Picture 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/>
            <p:cNvSpPr>
              <a:spLocks/>
            </p:cNvSpPr>
            <p:nvPr/>
          </p:nvSpPr>
          <p:spPr>
            <a:xfrm rot="0">
              <a:off x="473710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/>
            <p:cNvSpPr txBox="1">
              <a:spLocks/>
            </p:cNvSpPr>
            <p:nvPr/>
          </p:nvSpPr>
          <p:spPr>
            <a:xfrm rot="0">
              <a:off x="994410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 </a:t>
              </a:r>
              <a:r>
                <a:rPr lang="en-US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(1/2)</a:t>
              </a:r>
              <a:r>
                <a:rPr lang="ko-KR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en-US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–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특성 추출 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/>
              <p:cNvSpPr>
                <a:spLocks/>
              </p:cNvSpPr>
              <p:nvPr/>
            </p:nvSpPr>
            <p:spPr>
              <a:xfrm rot="0">
                <a:off x="760730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/>
              <p:cNvSpPr txBox="1">
                <a:spLocks/>
              </p:cNvSpPr>
              <p:nvPr/>
            </p:nvSpPr>
            <p:spPr>
              <a:xfrm rot="0">
                <a:off x="711200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B45816FF-588C-4773-A784-E1D3CEB3A0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5" y="2580005"/>
            <a:ext cx="7880985" cy="382714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FC0C485-06A1-453A-B34A-85C0B2E039D0}"/>
              </a:ext>
            </a:extLst>
          </p:cNvPr>
          <p:cNvSpPr txBox="1"/>
          <p:nvPr/>
        </p:nvSpPr>
        <p:spPr>
          <a:xfrm>
            <a:off x="8548370" y="2675255"/>
            <a:ext cx="3524250" cy="1111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/>
              <a:t>데이터 특성 파악 후 불필요한 피처 제거</a:t>
            </a:r>
            <a:endParaRPr lang="en-US" altLang="ko-KR" b="1" dirty="0"/>
          </a:p>
        </p:txBody>
      </p:sp>
      <p:pic>
        <p:nvPicPr>
          <p:cNvPr id="40" name="Picture ">
            <a:extLst>
              <a:ext uri="{FF2B5EF4-FFF2-40B4-BE49-F238E27FC236}">
                <a16:creationId xmlns:a16="http://schemas.microsoft.com/office/drawing/2014/main" id="{EF425C6A-E2D1-416B-9E8E-625850D83E6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0796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32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 </a:t>
            </a:r>
            <a:r>
              <a:rPr lang="ko-KR" altLang="en-US" sz="2600" dirty="0" err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전처리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및 분석</a:t>
            </a:r>
          </a:p>
        </p:txBody>
      </p:sp>
      <p:pic>
        <p:nvPicPr>
          <p:cNvPr id="31" name="Picture 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/>
            <p:cNvSpPr>
              <a:spLocks/>
            </p:cNvSpPr>
            <p:nvPr/>
          </p:nvSpPr>
          <p:spPr>
            <a:xfrm rot="0">
              <a:off x="473710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/>
            <p:cNvSpPr txBox="1">
              <a:spLocks/>
            </p:cNvSpPr>
            <p:nvPr/>
          </p:nvSpPr>
          <p:spPr>
            <a:xfrm rot="0">
              <a:off x="994410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소상공인 진흥공단 상가(상권)정보 </a:t>
              </a:r>
              <a:r>
                <a:rPr lang="en-US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(2/2)</a:t>
              </a:r>
              <a:r>
                <a:rPr lang="ko-KR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en-US" altLang="ko-KR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–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특성 추출 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/>
              <p:cNvSpPr>
                <a:spLocks/>
              </p:cNvSpPr>
              <p:nvPr/>
            </p:nvSpPr>
            <p:spPr>
              <a:xfrm rot="0">
                <a:off x="760730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/>
              <p:cNvSpPr txBox="1">
                <a:spLocks/>
              </p:cNvSpPr>
              <p:nvPr/>
            </p:nvSpPr>
            <p:spPr>
              <a:xfrm rot="0">
                <a:off x="711200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74C36C8A-B029-4044-81D0-02FD8C72A60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43"/>
          <a:stretch/>
        </p:blipFill>
        <p:spPr>
          <a:xfrm>
            <a:off x="2891790" y="3107690"/>
            <a:ext cx="5287645" cy="321500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2F70F13-E309-42CA-AF57-9025467EFA3E}"/>
              </a:ext>
            </a:extLst>
          </p:cNvPr>
          <p:cNvSpPr txBox="1"/>
          <p:nvPr/>
        </p:nvSpPr>
        <p:spPr>
          <a:xfrm>
            <a:off x="8519795" y="2557145"/>
            <a:ext cx="3365500" cy="230695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lnSpc>
                <a:spcPct val="200000"/>
              </a:lnSpc>
              <a:buFont typeface="+mj-lt"/>
              <a:buAutoNum type="arabicPeriod"/>
            </a:pPr>
            <a:r>
              <a:rPr lang="ko-KR" altLang="en-US" b="1"/>
              <a:t>계절성이 없는 음식 </a:t>
            </a:r>
            <a:r>
              <a:rPr lang="en-US" altLang="ko-KR" b="1"/>
              <a:t/>
            </a:r>
            <a:br>
              <a:rPr lang="en-US" altLang="ko-KR" b="1"/>
            </a:br>
            <a:r>
              <a:rPr lang="en-US" altLang="ko-KR" b="1"/>
              <a:t> </a:t>
            </a:r>
            <a:r>
              <a:rPr lang="ko-KR" altLang="en-US" b="1"/>
              <a:t>카테고리는 제거</a:t>
            </a:r>
            <a:endParaRPr lang="ko-KR" altLang="en-US" b="1"/>
          </a:p>
          <a:p>
            <a:pPr marL="342900" indent="-342900" latinLnBrk="0">
              <a:lnSpc>
                <a:spcPct val="200000"/>
              </a:lnSpc>
              <a:buFont typeface="+mj-lt"/>
              <a:buAutoNum type="arabicPeriod"/>
            </a:pPr>
            <a:r>
              <a:rPr lang="ko-KR" altLang="en-US" b="1"/>
              <a:t>이후 카테고리는 검색 임베딩에 활용</a:t>
            </a:r>
            <a:endParaRPr lang="ko-KR" altLang="en-US" b="1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DCA71417-7AAA-4AC8-97BD-5129FBFFA1D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10" y="2413635"/>
            <a:ext cx="4476750" cy="217360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5" name="화살표: 굽음 14">
            <a:extLst>
              <a:ext uri="{FF2B5EF4-FFF2-40B4-BE49-F238E27FC236}">
                <a16:creationId xmlns:a16="http://schemas.microsoft.com/office/drawing/2014/main" id="{1053F569-0BF2-41DF-82AA-FD439BE76D45}"/>
              </a:ext>
            </a:extLst>
          </p:cNvPr>
          <p:cNvSpPr/>
          <p:nvPr/>
        </p:nvSpPr>
        <p:spPr>
          <a:xfrm flipV="1">
            <a:off x="1734820" y="4662170"/>
            <a:ext cx="864235" cy="601980"/>
          </a:xfrm>
          <a:prstGeom prst="ben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1" name="Picture ">
            <a:extLst>
              <a:ext uri="{FF2B5EF4-FFF2-40B4-BE49-F238E27FC236}">
                <a16:creationId xmlns:a16="http://schemas.microsoft.com/office/drawing/2014/main" id="{21122297-53C4-4996-8119-A9811DE1D50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6305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865"/>
            <a:chOff x="375920" y="333375"/>
            <a:chExt cx="5949315" cy="120586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4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데이터베이스 설계</a:t>
            </a:r>
          </a:p>
        </p:txBody>
      </p:sp>
      <p:pic>
        <p:nvPicPr>
          <p:cNvPr id="31" name="Picture 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ERD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설계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DB2C066F-9010-4429-ADCA-96C3631C06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0" y="2464435"/>
            <a:ext cx="6102985" cy="390461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C0A5784-ECCE-4F65-9983-8AB674047CD4}"/>
              </a:ext>
            </a:extLst>
          </p:cNvPr>
          <p:cNvSpPr txBox="1"/>
          <p:nvPr/>
        </p:nvSpPr>
        <p:spPr>
          <a:xfrm>
            <a:off x="7319010" y="2458720"/>
            <a:ext cx="3960495" cy="382968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/>
              <a:t>수집한 상가목록</a:t>
            </a:r>
            <a:r>
              <a:rPr lang="en-US" altLang="ko-KR" b="1"/>
              <a:t>, </a:t>
            </a:r>
            <a:r>
              <a:rPr lang="ko-KR" altLang="en-US" b="1"/>
              <a:t>리뷰목록과 서비스하며 얻게 될 추천로그</a:t>
            </a:r>
            <a:r>
              <a:rPr lang="en-US" altLang="ko-KR" b="1"/>
              <a:t>, </a:t>
            </a:r>
            <a:r>
              <a:rPr lang="ko-KR" altLang="en-US" b="1"/>
              <a:t>사용자 입력 등 필요한 정보</a:t>
            </a:r>
            <a:endParaRPr lang="ko-KR" altLang="en-US" b="1"/>
          </a:p>
          <a:p>
            <a:pPr marL="342900" indent="-342900" latinLnBrk="0">
              <a:lnSpc>
                <a:spcPct val="150000"/>
              </a:lnSpc>
              <a:buClr>
                <a:srgbClr val="000000"/>
              </a:buClr>
              <a:buFont typeface="+mj-lt"/>
              <a:buAutoNum type="arabicPeriod"/>
            </a:pPr>
            <a:endParaRPr lang="ko-KR" altLang="en-US" sz="1800" b="1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세방고딕 Regular" charset="0"/>
              <a:ea typeface="세방고딕 Regular" charset="0"/>
            </a:endParaRPr>
          </a:p>
          <a:p>
            <a:pPr marL="342900" indent="-342900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latin typeface="세방고딕 Regular" charset="0"/>
                <a:ea typeface="세방고딕 Regular" charset="0"/>
              </a:rPr>
              <a:t>로그와 히스토리를 </a:t>
            </a:r>
            <a:r>
              <a:rPr lang="en-US" altLang="ko-KR" b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latin typeface="세방고딕 Regular" charset="0"/>
                <a:ea typeface="세방고딕 Regular" charset="0"/>
              </a:rPr>
              <a:t>DB</a:t>
            </a:r>
            <a:r>
              <a:rPr lang="ko-KR" altLang="en-US" b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latin typeface="세방고딕 Regular" charset="0"/>
                <a:ea typeface="세방고딕 Regular" charset="0"/>
              </a:rPr>
              <a:t>에 보관하여 추천엔진을 모니터링</a:t>
            </a:r>
            <a:endParaRPr lang="ko-KR" altLang="en-US" b="1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세방고딕 Regular" charset="0"/>
              <a:ea typeface="세방고딕 Regular" charset="0"/>
            </a:endParaRPr>
          </a:p>
          <a:p>
            <a:pPr marL="342900" indent="-342900" latinLnBrk="0">
              <a:lnSpc>
                <a:spcPct val="150000"/>
              </a:lnSpc>
              <a:buFont typeface="+mj-lt"/>
              <a:buAutoNum type="arabicPeriod"/>
            </a:pPr>
            <a:endParaRPr lang="ko-KR" altLang="en-US" b="1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세방고딕 Regular" charset="0"/>
              <a:ea typeface="세방고딕 Regular" charset="0"/>
            </a:endParaRPr>
          </a:p>
          <a:p>
            <a:pPr marL="342900" indent="-342900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latin typeface="세방고딕 Regular" charset="0"/>
                <a:ea typeface="세방고딕 Regular" charset="0"/>
              </a:rPr>
              <a:t>로그에서 이용자의 식별은 불필요하다고 판단, FK 제거</a:t>
            </a:r>
            <a:endParaRPr lang="ko-KR" altLang="en-US" b="1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latin typeface="세방고딕 Regular" charset="0"/>
              <a:ea typeface="세방고딕 Regular" charset="0"/>
            </a:endParaRPr>
          </a:p>
        </p:txBody>
      </p:sp>
      <p:pic>
        <p:nvPicPr>
          <p:cNvPr id="41" name="Picture 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43097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1205865"/>
            <a:chOff x="375920" y="333375"/>
            <a:chExt cx="5949315" cy="120586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9544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marL="0" indent="0" latinLnBrk="0">
                <a:buFontTx/>
                <a:buNone/>
                <a:defRPr/>
              </a:pPr>
              <a:endParaRPr lang="ko-KR" altLang="en-US" sz="28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요구분석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(1/2)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1" name="Picture 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유즈케이스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설계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41" name="Picture 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27" name="그림 3">
            <a:extLst>
              <a:ext uri="{FF2B5EF4-FFF2-40B4-BE49-F238E27FC236}">
                <a16:creationId xmlns:a16="http://schemas.microsoft.com/office/drawing/2014/main" id="{FF6062F7-1D14-490A-AAFB-9FE694F827D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" y="2858770"/>
            <a:ext cx="10345420" cy="3221355"/>
          </a:xfrm>
          <a:prstGeom prst="rect">
            <a:avLst/>
          </a:prstGeom>
          <a:noFill/>
          <a:ln w="15875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8977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요구분석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(2/2)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1" name="Picture 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시퀀스 다이어그램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–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사용자 접속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28839E5D-782C-4179-BE7B-6463CC7F5A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845" y="2539365"/>
            <a:ext cx="6729730" cy="4002405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93407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">
            <a:extLst>
              <a:ext uri="{FF2B5EF4-FFF2-40B4-BE49-F238E27FC236}">
                <a16:creationId xmlns:a16="http://schemas.microsoft.com/office/drawing/2014/main" id="{C6D1C64A-4221-419F-BD97-430822552A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latinLnBrk="0"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데이터 구성 및 처리과정</a:t>
              </a:r>
              <a:endParaRPr lang="en-US" altLang="ko-KR" sz="28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02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grpSp>
        <p:nvGrpSpPr>
          <p:cNvPr id="10" name="Group 5"/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11" name="Rect 0"/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12" name="Rect 0"/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sp>
        <p:nvSpPr>
          <p:cNvPr id="52" name="Rect 0"/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2-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4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요구분석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(2/2)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1" name="Picture ">
            <a:extLst>
              <a:ext uri="{FF2B5EF4-FFF2-40B4-BE49-F238E27FC236}">
                <a16:creationId xmlns:a16="http://schemas.microsoft.com/office/drawing/2014/main" id="{3D6A34D3-73F9-41F6-BE24-6628C520FE6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32" name="Group 5">
            <a:extLst>
              <a:ext uri="{FF2B5EF4-FFF2-40B4-BE49-F238E27FC236}">
                <a16:creationId xmlns:a16="http://schemas.microsoft.com/office/drawing/2014/main" id="{878B9EF8-DC36-4E51-9C57-7BAC22333BE4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33" name="Rect 0">
              <a:extLst>
                <a:ext uri="{FF2B5EF4-FFF2-40B4-BE49-F238E27FC236}">
                  <a16:creationId xmlns:a16="http://schemas.microsoft.com/office/drawing/2014/main" id="{23A64007-E46A-4525-938E-FB035D3B1CBA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34" name="Rect 0">
              <a:extLst>
                <a:ext uri="{FF2B5EF4-FFF2-40B4-BE49-F238E27FC236}">
                  <a16:creationId xmlns:a16="http://schemas.microsoft.com/office/drawing/2014/main" id="{12F34DC8-E3FD-456D-A1CE-1E57FC382F59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시퀀스 다이어그램 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-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음식추천</a:t>
              </a:r>
            </a:p>
          </p:txBody>
        </p:sp>
        <p:grpSp>
          <p:nvGrpSpPr>
            <p:cNvPr id="35" name="Group 5">
              <a:extLst>
                <a:ext uri="{FF2B5EF4-FFF2-40B4-BE49-F238E27FC236}">
                  <a16:creationId xmlns:a16="http://schemas.microsoft.com/office/drawing/2014/main" id="{3C2C7ACE-8025-4F73-BC31-6BBB0457F858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6" name="Rect 0">
                <a:extLst>
                  <a:ext uri="{FF2B5EF4-FFF2-40B4-BE49-F238E27FC236}">
                    <a16:creationId xmlns:a16="http://schemas.microsoft.com/office/drawing/2014/main" id="{9C694AD1-BC44-48EE-92A2-8F91719218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7" name="Rect 0">
                <a:extLst>
                  <a:ext uri="{FF2B5EF4-FFF2-40B4-BE49-F238E27FC236}">
                    <a16:creationId xmlns:a16="http://schemas.microsoft.com/office/drawing/2014/main" id="{7507E55C-31F9-45FB-9138-C25649990A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DD260EB2-BBA4-438C-BD88-2BDEE5E15E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645" y="2620645"/>
            <a:ext cx="6431280" cy="3652520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516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화면 설계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(1/4)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메인화면</a:t>
              </a:r>
              <a:endParaRPr lang="ko-KR" altLang="en-US" sz="1400" b="1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843A9EB-DDED-4769-AEB6-598D2660B9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465" y="2636520"/>
            <a:ext cx="4719955" cy="3602355"/>
          </a:xfrm>
          <a:prstGeom prst="rect">
            <a:avLst/>
          </a:prstGeom>
          <a:ln w="15875">
            <a:solidFill>
              <a:schemeClr val="bg1">
                <a:lumMod val="50000"/>
              </a:schemeClr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590265F-993D-4C9E-A1BA-DF1E944749D6}"/>
              </a:ext>
            </a:extLst>
          </p:cNvPr>
          <p:cNvSpPr txBox="1"/>
          <p:nvPr/>
        </p:nvSpPr>
        <p:spPr>
          <a:xfrm>
            <a:off x="7017385" y="2667635"/>
            <a:ext cx="4717415" cy="203009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지도와 기본 </a:t>
            </a:r>
            <a:r>
              <a:rPr lang="en-US" altLang="ko-KR" b="1"/>
              <a:t>UI</a:t>
            </a:r>
            <a:r>
              <a:rPr lang="ko-KR" altLang="en-US" b="1"/>
              <a:t> 렌더링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화면을 먼저 확보하여 초기 UX안정성 향상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이후 모든 기능은 JS의 fetch()를 사용하여 </a:t>
            </a:r>
            <a:r>
              <a:rPr lang="ko-KR" altLang="en-US" b="1"/>
              <a:t>병렬로 </a:t>
            </a:r>
            <a:r>
              <a:rPr lang="ko-KR" altLang="en-US" b="1"/>
              <a:t>비동기 처리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632255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화면 설계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(2/4)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/>
            <p:cNvSpPr>
              <a:spLocks/>
            </p:cNvSpPr>
            <p:nvPr/>
          </p:nvSpPr>
          <p:spPr>
            <a:xfrm rot="0">
              <a:off x="473710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/>
            <p:cNvSpPr txBox="1">
              <a:spLocks/>
            </p:cNvSpPr>
            <p:nvPr/>
          </p:nvSpPr>
          <p:spPr>
            <a:xfrm rot="0">
              <a:off x="994410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날씨 표시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/>
              <p:cNvSpPr>
                <a:spLocks/>
              </p:cNvSpPr>
              <p:nvPr/>
            </p:nvSpPr>
            <p:spPr>
              <a:xfrm rot="0">
                <a:off x="760730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/>
              <p:cNvSpPr txBox="1">
                <a:spLocks/>
              </p:cNvSpPr>
              <p:nvPr/>
            </p:nvSpPr>
            <p:spPr>
              <a:xfrm rot="0">
                <a:off x="711200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 descr="C:/Users/HIDDLE/AppData/Roaming/PolarisOffice/ETemp/18688_13401808/image42.png"/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798955"/>
            <a:ext cx="12193270" cy="343535"/>
          </a:xfrm>
          <a:prstGeom prst="rect"/>
          <a:noFill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5BFFB042-AD0E-49B9-8118-6C50F86DA86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1"/>
          <a:stretch/>
        </p:blipFill>
        <p:spPr>
          <a:xfrm>
            <a:off x="1820545" y="2667635"/>
            <a:ext cx="2761615" cy="35172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7" name="TextBox 36"/>
          <p:cNvSpPr txBox="1">
            <a:spLocks/>
          </p:cNvSpPr>
          <p:nvPr/>
        </p:nvSpPr>
        <p:spPr>
          <a:xfrm rot="0">
            <a:off x="5447665" y="2672715"/>
            <a:ext cx="5254625" cy="28606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en-US" altLang="ko-KR" b="1"/>
              <a:t>LCC DFS</a:t>
            </a:r>
            <a:r>
              <a:rPr lang="ko-KR" altLang="en-US" b="1"/>
              <a:t>좌표</a:t>
            </a:r>
            <a:r>
              <a:rPr lang="ko-KR" altLang="en-US" b="1"/>
              <a:t> 변환모듈로 </a:t>
            </a:r>
            <a:r>
              <a:rPr lang="ko-KR" altLang="en-US" b="1"/>
              <a:t>기상청에 날씨 요청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ko-KR" b="1"/>
              <a:t>정보를 매번 요청하면 기상청의 날씨 발표 로직상 결측값이 오는 경우 발생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ko-KR" b="1"/>
              <a:t>이전 ~ 이후 날씨까지 요청해 오류 보완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ko-KR" b="1"/>
              <a:t>API 호출 후 정보를 캐싱해 불필요한 호출을 줄였음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321297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화면 설계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(3/4)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음식 추천</a:t>
              </a: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D9DFA52-142C-47E5-B870-DC6BA18C0D62}"/>
              </a:ext>
            </a:extLst>
          </p:cNvPr>
          <p:cNvSpPr txBox="1"/>
          <p:nvPr/>
        </p:nvSpPr>
        <p:spPr>
          <a:xfrm>
            <a:off x="6419850" y="2597150"/>
            <a:ext cx="4717415" cy="286067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사전 학습시킨 추천엔진에 전달해 날씨에 맞는 음식 카테고리를 추천 받는다</a:t>
            </a:r>
            <a:r>
              <a:rPr lang="en-US" altLang="ko-KR" b="1"/>
              <a:t>.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브라우저에서 얻은 기타정보와 추천 목록을 로그로 남기고 클라이언트에 돌려준다</a:t>
            </a:r>
            <a:r>
              <a:rPr lang="en-US" altLang="ko-KR" b="1"/>
              <a:t>.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ko-KR" b="1"/>
              <a:t>피드백을 반영해 1순위 음식의 </a:t>
            </a:r>
            <a:endParaRPr lang="ko-KR" altLang="en-US" b="1"/>
          </a:p>
          <a:p>
            <a:pPr marL="342900" indent="-342900" latinLnBrk="0">
              <a:buFontTx/>
              <a:buNone/>
            </a:pPr>
            <a:r>
              <a:rPr lang="ko-KR" altLang="ko-KR" b="1"/>
              <a:t>    가게 목록을 추천하도록 수정</a:t>
            </a:r>
            <a:endParaRPr lang="ko-KR" altLang="en-US" b="1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BA5CC59-9B4C-4C8C-A5C0-D1220E4F58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" y="2627630"/>
            <a:ext cx="5257165" cy="33127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8598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3-1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화면 설계 </a:t>
            </a: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(4/4)</a:t>
            </a:r>
            <a:endParaRPr lang="ko-KR" altLang="en-US" sz="2600" dirty="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 err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플로팅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메뉴</a:t>
              </a: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D9DFA52-142C-47E5-B870-DC6BA18C0D62}"/>
              </a:ext>
            </a:extLst>
          </p:cNvPr>
          <p:cNvSpPr txBox="1"/>
          <p:nvPr/>
        </p:nvSpPr>
        <p:spPr>
          <a:xfrm>
            <a:off x="6275705" y="2629535"/>
            <a:ext cx="4716780" cy="175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추천 목록 외 사용자가 원하는 음식을 </a:t>
            </a:r>
            <a:r>
              <a:rPr lang="en-US" altLang="ko-KR" b="1" dirty="0"/>
              <a:t>  </a:t>
            </a:r>
            <a:r>
              <a:rPr lang="ko-KR" altLang="en-US" b="1" dirty="0"/>
              <a:t>선택 가능한 </a:t>
            </a:r>
            <a:r>
              <a:rPr lang="ko-KR" altLang="en-US" b="1" dirty="0" err="1"/>
              <a:t>플로팅</a:t>
            </a:r>
            <a:r>
              <a:rPr lang="ko-KR" altLang="en-US" b="1" dirty="0"/>
              <a:t> 메뉴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사용자 위치 주변에서 선택한 음식점   목록을 추천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ko-KR" altLang="en-US" b="1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B1D507D-3492-4084-B8A6-90AB22D08238}"/>
              </a:ext>
            </a:extLst>
          </p:cNvPr>
          <p:cNvGrpSpPr/>
          <p:nvPr/>
        </p:nvGrpSpPr>
        <p:grpSpPr>
          <a:xfrm>
            <a:off x="635635" y="2653665"/>
            <a:ext cx="5067935" cy="2915285"/>
            <a:chOff x="635635" y="2653665"/>
            <a:chExt cx="5067935" cy="291528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96C9075-E441-48E0-A498-AAC47980D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635" y="2653665"/>
              <a:ext cx="5067935" cy="2915285"/>
            </a:xfrm>
            <a:prstGeom prst="rect">
              <a:avLst/>
            </a:prstGeom>
            <a:ln w="3175" cap="sq">
              <a:solidFill>
                <a:srgbClr val="000000"/>
              </a:solidFill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2AEB3F9-6117-4439-B57F-8CA0292777F5}"/>
                </a:ext>
              </a:extLst>
            </p:cNvPr>
            <p:cNvSpPr/>
            <p:nvPr/>
          </p:nvSpPr>
          <p:spPr>
            <a:xfrm>
              <a:off x="3287395" y="2710180"/>
              <a:ext cx="2416175" cy="2788920"/>
            </a:xfrm>
            <a:prstGeom prst="rect">
              <a:avLst/>
            </a:prstGeom>
            <a:noFill/>
            <a:ln w="38100">
              <a:solidFill>
                <a:srgbClr val="E6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592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5010" cy="49212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3-2 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엔진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설계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(1/</a:t>
            </a:r>
            <a:r>
              <a:rPr lang="ko-KR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) </a:t>
            </a:r>
            <a:endParaRPr lang="ko-KR" altLang="en-US" sz="260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날씨</a:t>
              </a:r>
              <a:r>
                <a:rPr lang="en-US" altLang="ko-KR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 </a:t>
              </a: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기반 카테고리 추천 엔진</a:t>
              </a: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  <p:sp>
        <p:nvSpPr>
          <p:cNvPr id="29" name="TextBox 28"/>
          <p:cNvSpPr txBox="1">
            <a:spLocks/>
          </p:cNvSpPr>
          <p:nvPr/>
        </p:nvSpPr>
        <p:spPr>
          <a:xfrm rot="0">
            <a:off x="6322060" y="3199765"/>
            <a:ext cx="4966970" cy="2308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현재 날씨와 가장 가까운 군집을 찾아 추천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입력</a:t>
            </a:r>
            <a:r>
              <a:rPr lang="en-US" altLang="ko-KR" b="1"/>
              <a:t>: </a:t>
            </a:r>
            <a:r>
              <a:rPr lang="ko-KR" altLang="en-US" b="1"/>
              <a:t>계절</a:t>
            </a:r>
            <a:r>
              <a:rPr lang="en-US" altLang="ko-KR" b="1"/>
              <a:t>,</a:t>
            </a:r>
            <a:r>
              <a:rPr lang="ko-KR" altLang="en-US" b="1"/>
              <a:t> 시간</a:t>
            </a:r>
            <a:r>
              <a:rPr lang="en-US" altLang="ko-KR" b="1"/>
              <a:t>, </a:t>
            </a:r>
            <a:r>
              <a:rPr lang="ko-KR" altLang="en-US" b="1"/>
              <a:t>기온</a:t>
            </a:r>
            <a:r>
              <a:rPr lang="en-US" altLang="ko-KR" b="1"/>
              <a:t>, </a:t>
            </a:r>
            <a:r>
              <a:rPr lang="ko-KR" altLang="en-US" b="1"/>
              <a:t>강수량</a:t>
            </a:r>
            <a:r>
              <a:rPr lang="en-US" altLang="ko-KR" b="1"/>
              <a:t>, </a:t>
            </a:r>
            <a:r>
              <a:rPr lang="ko-KR" altLang="en-US" b="1"/>
              <a:t>풍속</a:t>
            </a:r>
            <a:r>
              <a:rPr lang="en-US" altLang="ko-KR" b="1"/>
              <a:t>, </a:t>
            </a:r>
            <a:r>
              <a:rPr lang="ko-KR" altLang="en-US" b="1"/>
              <a:t>습도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모델</a:t>
            </a:r>
            <a:r>
              <a:rPr lang="en-US" altLang="ko-KR" b="1"/>
              <a:t>: K-Means </a:t>
            </a:r>
            <a:r>
              <a:rPr lang="ko-KR" altLang="en-US" b="1"/>
              <a:t>군집화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출력</a:t>
            </a:r>
            <a:r>
              <a:rPr lang="en-US" altLang="ko-KR" b="1"/>
              <a:t>: </a:t>
            </a:r>
            <a:r>
              <a:rPr lang="ko-KR" altLang="en-US" b="1"/>
              <a:t>상황에 적합한 음식 카테고리 </a:t>
            </a:r>
            <a:r>
              <a:rPr lang="en-US" altLang="ko-KR" b="1"/>
              <a:t>TOP-N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819026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18688_13401808/image4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0" y="0"/>
            <a:ext cx="12193270" cy="6859270"/>
          </a:xfrm>
          <a:prstGeom prst="rect"/>
          <a:noFill/>
        </p:spPr>
      </p:pic>
      <p:pic>
        <p:nvPicPr>
          <p:cNvPr id="3" name="Picture " descr="C:/Users/HIDDLE/AppData/Roaming/PolarisOffice/ETemp/18688_13401808/image9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78" b="11486"/>
          <a:stretch>
            <a:fillRect/>
          </a:stretch>
        </p:blipFill>
        <p:spPr>
          <a:xfrm rot="0">
            <a:off x="7589520" y="4695190"/>
            <a:ext cx="4603750" cy="2164080"/>
          </a:xfrm>
          <a:prstGeom prst="rect"/>
          <a:noFill/>
        </p:spPr>
      </p:pic>
      <p:sp>
        <p:nvSpPr>
          <p:cNvPr id="4" name="Rect 0"/>
          <p:cNvSpPr>
            <a:spLocks/>
          </p:cNvSpPr>
          <p:nvPr/>
        </p:nvSpPr>
        <p:spPr>
          <a:xfrm rot="0" flipH="1" flipV="1">
            <a:off x="173990" y="70485"/>
            <a:ext cx="12019280" cy="122237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867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 rot="0">
            <a:off x="375920" y="333375"/>
            <a:ext cx="5949950" cy="831850"/>
            <a:chOff x="375920" y="333375"/>
            <a:chExt cx="5949950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 rot="0">
              <a:off x="1461770" y="366395"/>
              <a:ext cx="2253615" cy="27749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8670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8670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 rot="0">
              <a:off x="1461770" y="584835"/>
              <a:ext cx="4864100" cy="5232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  <a:endParaRPr lang="ko-KR" altLang="en-US" sz="28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 rot="0">
              <a:off x="375920" y="333375"/>
              <a:ext cx="1268095" cy="831850"/>
            </a:xfrm>
            <a:prstGeom prst="rect"/>
            <a:noFill/>
          </p:spPr>
          <p:txBody>
            <a:bodyPr wrap="square" lIns="91440" tIns="0" rIns="91440" bIns="0" numCol="1" vert="horz" anchor="t">
              <a:spAutoFit/>
            </a:bodyPr>
            <a:lstStyle/>
            <a:p>
              <a:pPr marL="0" indent="0" fontAlgn="auto" eaLnBrk="1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 rot="0">
            <a:off x="0" y="0"/>
            <a:ext cx="12193270" cy="115570"/>
          </a:xfrm>
          <a:prstGeom prst="rect"/>
          <a:solidFill>
            <a:srgbClr val="FFD85C"/>
          </a:solidFill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 rot="0">
            <a:off x="0" y="0"/>
            <a:ext cx="1337945" cy="115570"/>
          </a:xfrm>
          <a:prstGeom prst="rect"/>
          <a:solidFill>
            <a:srgbClr val="3378C8"/>
          </a:solidFill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18688_13401808/image98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40180" cy="487045"/>
          </a:xfrm>
          <a:prstGeom prst="rect"/>
          <a:noFill/>
        </p:spPr>
      </p:pic>
      <p:grpSp>
        <p:nvGrpSpPr>
          <p:cNvPr id="56" name="Group 5"/>
          <p:cNvGrpSpPr/>
          <p:nvPr/>
        </p:nvGrpSpPr>
        <p:grpSpPr>
          <a:xfrm rot="0">
            <a:off x="10667365" y="6576695"/>
            <a:ext cx="1076960" cy="151765"/>
            <a:chOff x="10667365" y="6576695"/>
            <a:chExt cx="1076960" cy="151765"/>
          </a:xfrm>
        </p:grpSpPr>
        <p:pic>
          <p:nvPicPr>
            <p:cNvPr id="57" name="Picture " descr="C:/Users/HIDDLE/AppData/Roaming/PolarisOffice/ETemp/18688_13401808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 rot="0">
              <a:off x="11269345" y="6576695"/>
              <a:ext cx="474980" cy="151765"/>
            </a:xfrm>
            <a:prstGeom prst="rect"/>
            <a:noFill/>
          </p:spPr>
        </p:pic>
        <p:pic>
          <p:nvPicPr>
            <p:cNvPr id="58" name="Picture " descr="C:/Users/HIDDLE/AppData/Roaming/PolarisOffice/ETemp/18688_13401808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667365" y="6576695"/>
              <a:ext cx="478790" cy="143510"/>
            </a:xfrm>
            <a:prstGeom prst="rect"/>
            <a:noFill/>
          </p:spPr>
        </p:pic>
      </p:grpSp>
      <p:grpSp>
        <p:nvGrpSpPr>
          <p:cNvPr id="21" name="Group 5"/>
          <p:cNvGrpSpPr/>
          <p:nvPr/>
        </p:nvGrpSpPr>
        <p:grpSpPr>
          <a:xfrm rot="0">
            <a:off x="488315" y="1358900"/>
            <a:ext cx="10527665" cy="370840"/>
            <a:chOff x="488315" y="1358900"/>
            <a:chExt cx="10527665" cy="370840"/>
          </a:xfrm>
        </p:grpSpPr>
        <p:sp>
          <p:nvSpPr>
            <p:cNvPr id="22" name="Rect 0"/>
            <p:cNvSpPr txBox="1">
              <a:spLocks/>
            </p:cNvSpPr>
            <p:nvPr/>
          </p:nvSpPr>
          <p:spPr>
            <a:xfrm rot="0">
              <a:off x="690245" y="1358900"/>
              <a:ext cx="10325735" cy="3708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 rot="0">
              <a:off x="488315" y="1468120"/>
              <a:ext cx="102235" cy="114935"/>
            </a:xfrm>
            <a:custGeom>
              <a:gdLst>
                <a:gd fmla="*/ 428021 w 450216" name="TX0"/>
                <a:gd fmla="*/ 214932 h 506847" name="TY0"/>
                <a:gd fmla="*/ 66705 w 450216" name="TX1"/>
                <a:gd fmla="*/ 6045 h 506847" name="TY1"/>
                <a:gd fmla="*/ 0 w 450216" name="TX2"/>
                <a:gd fmla="*/ 44511 h 506847" name="TY2"/>
                <a:gd fmla="*/ 0 w 450216" name="TX3"/>
                <a:gd fmla="*/ 462326 h 506847" name="TY3"/>
                <a:gd fmla="*/ 66705 w 450216" name="TX4"/>
                <a:gd fmla="*/ 500812 h 506847" name="TY4"/>
                <a:gd fmla="*/ 428021 w 450216" name="TX5"/>
                <a:gd fmla="*/ 291905 h 506847" name="TY5"/>
                <a:gd fmla="*/ 428021 w 450216" name="TX6"/>
                <a:gd fmla="*/ 214932 h 506847" name="TY6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6" h="506847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50800" dist="38100" dir="5400000" rotWithShape="0" algn="t">
                <a:srgbClr val="3378C8">
                  <a:alpha val="40000"/>
                </a:srgbClr>
              </a:outerShdw>
            </a:effectLst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/>
          <p:cNvSpPr txBox="1">
            <a:spLocks/>
          </p:cNvSpPr>
          <p:nvPr/>
        </p:nvSpPr>
        <p:spPr>
          <a:xfrm rot="0">
            <a:off x="635635" y="1314450"/>
            <a:ext cx="5795010" cy="49212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3-2 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엔진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설계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</a:t>
            </a:r>
            <a:r>
              <a:rPr lang="ko-KR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2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/</a:t>
            </a:r>
            <a:r>
              <a:rPr lang="ko-KR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) </a:t>
            </a:r>
            <a:endParaRPr lang="ko-KR" altLang="en-US" sz="260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4" name="Picture " descr="C:/Users/HIDDLE/AppData/Roaming/PolarisOffice/ETemp/18688_13401808/image42.png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3270" cy="343535"/>
          </a:xfrm>
          <a:prstGeom prst="rect"/>
          <a:noFill/>
        </p:spPr>
      </p:pic>
      <p:sp>
        <p:nvSpPr>
          <p:cNvPr id="29" name="Rect 0"/>
          <p:cNvSpPr txBox="1">
            <a:spLocks/>
          </p:cNvSpPr>
          <p:nvPr/>
        </p:nvSpPr>
        <p:spPr>
          <a:xfrm rot="0">
            <a:off x="6689725" y="5527675"/>
            <a:ext cx="4966970" cy="119951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b="1"/>
              <a:t>최종 점수 </a:t>
            </a:r>
            <a:r>
              <a:rPr lang="en-US" altLang="ko-KR" b="1"/>
              <a:t>=</a:t>
            </a:r>
            <a:endParaRPr lang="ko-KR" altLang="en-US" b="1"/>
          </a:p>
          <a:p>
            <a:pPr marL="0" indent="0" latinLnBrk="0">
              <a:buFontTx/>
              <a:buNone/>
            </a:pPr>
            <a:r>
              <a:rPr lang="en-US" altLang="ko-KR" b="1"/>
              <a:t>  (</a:t>
            </a:r>
            <a:r>
              <a:rPr lang="ko-KR" altLang="en-US" b="1"/>
              <a:t>감성 점수</a:t>
            </a:r>
            <a:r>
              <a:rPr lang="ko-KR" altLang="en-US" b="1"/>
              <a:t> </a:t>
            </a:r>
            <a:r>
              <a:rPr lang="en-US" altLang="ko-KR" b="1"/>
              <a:t>× 0.5) +</a:t>
            </a:r>
            <a:endParaRPr lang="ko-KR" altLang="en-US" b="1"/>
          </a:p>
          <a:p>
            <a:pPr marL="0" indent="0" latinLnBrk="0">
              <a:buFontTx/>
              <a:buNone/>
            </a:pPr>
            <a:r>
              <a:rPr lang="en-US" altLang="ko-KR" b="1"/>
              <a:t>  (</a:t>
            </a:r>
            <a:r>
              <a:rPr lang="ko-KR" altLang="en-US" b="1"/>
              <a:t>리뷰 수 점수 </a:t>
            </a:r>
            <a:r>
              <a:rPr lang="en-US" altLang="ko-KR" b="1"/>
              <a:t>× 0.3) +</a:t>
            </a:r>
            <a:endParaRPr lang="ko-KR" altLang="en-US" b="1"/>
          </a:p>
          <a:p>
            <a:pPr marL="0" indent="0" latinLnBrk="0">
              <a:buFontTx/>
              <a:buNone/>
            </a:pPr>
            <a:r>
              <a:rPr lang="en-US" altLang="ko-KR" b="1"/>
              <a:t>  (</a:t>
            </a:r>
            <a:r>
              <a:rPr lang="ko-KR" altLang="en-US" b="1"/>
              <a:t>거리 점수 </a:t>
            </a:r>
            <a:r>
              <a:rPr lang="en-US" altLang="ko-KR" b="1"/>
              <a:t>× 0.2)</a:t>
            </a:r>
            <a:endParaRPr lang="ko-KR" altLang="en-US" b="1"/>
          </a:p>
        </p:txBody>
      </p:sp>
      <p:sp>
        <p:nvSpPr>
          <p:cNvPr id="32" name="Rect 0"/>
          <p:cNvSpPr txBox="1">
            <a:spLocks/>
          </p:cNvSpPr>
          <p:nvPr/>
        </p:nvSpPr>
        <p:spPr>
          <a:xfrm rot="0">
            <a:off x="6671945" y="2633345"/>
            <a:ext cx="4966970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endParaRPr lang="ko-KR" altLang="en-US" b="1"/>
          </a:p>
        </p:txBody>
      </p:sp>
      <p:sp>
        <p:nvSpPr>
          <p:cNvPr id="59" name="Rect 0"/>
          <p:cNvSpPr txBox="1">
            <a:spLocks/>
          </p:cNvSpPr>
          <p:nvPr/>
        </p:nvSpPr>
        <p:spPr>
          <a:xfrm rot="0">
            <a:off x="6322060" y="2762250"/>
            <a:ext cx="4966970" cy="28606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입력값을 각각의 가중치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입력</a:t>
            </a:r>
            <a:r>
              <a:rPr lang="en-US" altLang="ko-KR" b="1"/>
              <a:t>: </a:t>
            </a:r>
            <a:r>
              <a:rPr lang="ko-KR" altLang="en-US" b="1"/>
              <a:t>가게 좌표, 사용자 좌표, 리뷰 수, </a:t>
            </a:r>
            <a:endParaRPr lang="ko-KR" altLang="en-US" b="1"/>
          </a:p>
          <a:p>
            <a:pPr marL="342900" indent="-342900" latinLnBrk="0"/>
            <a:r>
              <a:rPr lang="ko-KR" altLang="en-US" b="1"/>
              <a:t>            감성 점수</a:t>
            </a:r>
            <a:endParaRPr lang="ko-KR" altLang="en-US" b="1"/>
          </a:p>
          <a:p>
            <a:pPr marL="342900" indent="-342900" latinLnBrk="0">
              <a:buFontTx/>
              <a:buNone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출력</a:t>
            </a:r>
            <a:r>
              <a:rPr lang="en-US" altLang="ko-KR" b="1"/>
              <a:t>: </a:t>
            </a:r>
            <a:r>
              <a:rPr lang="ko-KR" altLang="en-US" b="1"/>
              <a:t>상황에 적합한 음식 카테고리 </a:t>
            </a:r>
            <a:r>
              <a:rPr lang="en-US" altLang="ko-KR" b="1"/>
              <a:t>TOP-N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ko-KR" b="1"/>
              <a:t>서비스단에서 각각의 가중치를 결정 할 수 있도록 설계함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</p:txBody>
      </p:sp>
      <p:sp>
        <p:nvSpPr>
          <p:cNvPr id="60" name="Rect 0"/>
          <p:cNvSpPr>
            <a:spLocks/>
          </p:cNvSpPr>
          <p:nvPr/>
        </p:nvSpPr>
        <p:spPr>
          <a:xfrm rot="0">
            <a:off x="579755" y="2939415"/>
            <a:ext cx="1808480" cy="866140"/>
          </a:xfrm>
          <a:prstGeom prst="round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latin typeface="맑은 고딕" charset="0"/>
                <a:ea typeface="맑은 고딕" charset="0"/>
              </a:rPr>
              <a:t>좌</a:t>
            </a:r>
            <a:r>
              <a:rPr lang="ko-KR" sz="1800">
                <a:latin typeface="맑은 고딕" charset="0"/>
                <a:ea typeface="맑은 고딕" charset="0"/>
              </a:rPr>
              <a:t>표, 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grpSp>
        <p:nvGrpSpPr>
          <p:cNvPr id="25" name="Group 5"/>
          <p:cNvGrpSpPr/>
          <p:nvPr/>
        </p:nvGrpSpPr>
        <p:grpSpPr>
          <a:xfrm rot="0">
            <a:off x="517525" y="1906905"/>
            <a:ext cx="11411585" cy="380365"/>
            <a:chOff x="517525" y="1906905"/>
            <a:chExt cx="11411585" cy="380365"/>
          </a:xfrm>
        </p:grpSpPr>
        <p:sp>
          <p:nvSpPr>
            <p:cNvPr id="26" name="Rect 0"/>
            <p:cNvSpPr>
              <a:spLocks/>
            </p:cNvSpPr>
            <p:nvPr/>
          </p:nvSpPr>
          <p:spPr>
            <a:xfrm rot="0">
              <a:off x="517525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/>
            <p:cNvSpPr txBox="1">
              <a:spLocks/>
            </p:cNvSpPr>
            <p:nvPr/>
          </p:nvSpPr>
          <p:spPr>
            <a:xfrm rot="0">
              <a:off x="1038225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음식점 추천 엔진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28" name="Group 5"/>
            <p:cNvGrpSpPr/>
            <p:nvPr/>
          </p:nvGrpSpPr>
          <p:grpSpPr>
            <a:xfrm rot="0">
              <a:off x="755015" y="1964690"/>
              <a:ext cx="284480" cy="277495"/>
              <a:chOff x="755015" y="1964690"/>
              <a:chExt cx="284480" cy="277495"/>
            </a:xfrm>
          </p:grpSpPr>
          <p:sp>
            <p:nvSpPr>
              <p:cNvPr id="30" name="Rect 0"/>
              <p:cNvSpPr>
                <a:spLocks/>
              </p:cNvSpPr>
              <p:nvPr/>
            </p:nvSpPr>
            <p:spPr>
              <a:xfrm rot="0">
                <a:off x="804545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/>
              <p:cNvSpPr txBox="1">
                <a:spLocks/>
              </p:cNvSpPr>
              <p:nvPr/>
            </p:nvSpPr>
            <p:spPr>
              <a:xfrm rot="0">
                <a:off x="755015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5010" cy="49212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3-2 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엔진 설계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 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(</a:t>
            </a:r>
            <a:r>
              <a:rPr lang="ko-KR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/</a:t>
            </a:r>
            <a:r>
              <a:rPr lang="ko-KR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</a:t>
            </a: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) </a:t>
            </a:r>
            <a:endParaRPr lang="ko-KR" altLang="en-US" sz="260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/>
            <p:cNvSpPr>
              <a:spLocks/>
            </p:cNvSpPr>
            <p:nvPr/>
          </p:nvSpPr>
          <p:spPr>
            <a:xfrm rot="0">
              <a:off x="473710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/>
            <p:cNvSpPr txBox="1">
              <a:spLocks/>
            </p:cNvSpPr>
            <p:nvPr/>
          </p:nvSpPr>
          <p:spPr>
            <a:xfrm rot="0">
              <a:off x="994410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키워드 검색 </a:t>
              </a: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엔진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/>
              <p:cNvSpPr>
                <a:spLocks/>
              </p:cNvSpPr>
              <p:nvPr/>
            </p:nvSpPr>
            <p:spPr>
              <a:xfrm rot="0">
                <a:off x="760730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/>
              <p:cNvSpPr txBox="1">
                <a:spLocks/>
              </p:cNvSpPr>
              <p:nvPr/>
            </p:nvSpPr>
            <p:spPr>
              <a:xfrm rot="0">
                <a:off x="711200" y="1964690"/>
                <a:ext cx="247650" cy="277495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 descr="C:/Users/HIDDLE/AppData/Roaming/PolarisOffice/ETemp/18688_13401808/image42.png"/>
          <p:cNvPicPr>
            <a:picLocks noChangeAspect="1"/>
          </p:cNvPicPr>
          <p:nvPr/>
        </p:nvPicPr>
        <p:blipFill rotWithShape="1">
          <a:blip r:embed="rId8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1495"/>
            <a:ext cx="12193270" cy="343535"/>
          </a:xfrm>
          <a:prstGeom prst="rect"/>
          <a:noFill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5628B1B-A303-4739-96D8-177195B08964}"/>
              </a:ext>
            </a:extLst>
          </p:cNvPr>
          <p:cNvSpPr txBox="1"/>
          <p:nvPr/>
        </p:nvSpPr>
        <p:spPr>
          <a:xfrm>
            <a:off x="6412865" y="2710180"/>
            <a:ext cx="4870450" cy="258381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음식 카테고리</a:t>
            </a:r>
            <a:r>
              <a:rPr lang="ko-KR" altLang="en-US" b="1"/>
              <a:t>, 설명</a:t>
            </a:r>
            <a:r>
              <a:rPr lang="ko-KR" altLang="en-US" b="1"/>
              <a:t> 및 키워드를 </a:t>
            </a:r>
            <a:r>
              <a:rPr lang="en-US" altLang="ko-KR" b="1"/>
              <a:t>SBERT</a:t>
            </a:r>
            <a:r>
              <a:rPr lang="ko-KR" altLang="en-US" b="1"/>
              <a:t>로 사전 학습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의미적으로 가장 가까운 카테고리 도출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사용자 오타보정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en-US" altLang="ko-KR" b="1"/>
              <a:t>db</a:t>
            </a:r>
            <a:r>
              <a:rPr lang="ko-KR" altLang="en-US" b="1"/>
              <a:t>에 넣지 않은 카테고리도 검색 가능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</p:txBody>
      </p:sp>
      <p:sp>
        <p:nvSpPr>
          <p:cNvPr id="59" name="도형 7"/>
          <p:cNvSpPr>
            <a:spLocks/>
          </p:cNvSpPr>
          <p:nvPr/>
        </p:nvSpPr>
        <p:spPr>
          <a:xfrm rot="0">
            <a:off x="380365" y="2758440"/>
            <a:ext cx="2464435" cy="1332865"/>
          </a:xfrm>
          <a:prstGeom prst="roundRect"/>
          <a:solidFill>
            <a:schemeClr val="accent6">
              <a:lumMod val="75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검색</a:t>
            </a:r>
            <a:r>
              <a:rPr lang="ko-KR" sz="1800" b="1">
                <a:latin typeface="맑은 고딕" charset="0"/>
                <a:ea typeface="맑은 고딕" charset="0"/>
              </a:rPr>
              <a:t>어 입력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0" name="도형 8"/>
          <p:cNvSpPr>
            <a:spLocks/>
          </p:cNvSpPr>
          <p:nvPr/>
        </p:nvSpPr>
        <p:spPr>
          <a:xfrm rot="0">
            <a:off x="2996565" y="3300730"/>
            <a:ext cx="504825" cy="200660"/>
          </a:xfrm>
          <a:prstGeom prst="rightArrow"/>
          <a:solidFill>
            <a:schemeClr val="bg2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1" name="도형 17"/>
          <p:cNvSpPr>
            <a:spLocks/>
          </p:cNvSpPr>
          <p:nvPr/>
        </p:nvSpPr>
        <p:spPr>
          <a:xfrm rot="0">
            <a:off x="3629025" y="2753995"/>
            <a:ext cx="2464435" cy="1332865"/>
          </a:xfrm>
          <a:prstGeom prst="roundRect"/>
          <a:solidFill>
            <a:schemeClr val="accent6">
              <a:lumMod val="75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벡터 변환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2" name="도형 18"/>
          <p:cNvSpPr>
            <a:spLocks/>
          </p:cNvSpPr>
          <p:nvPr/>
        </p:nvSpPr>
        <p:spPr>
          <a:xfrm rot="-5400000" flipH="1">
            <a:off x="4568825" y="4473575"/>
            <a:ext cx="586105" cy="200660"/>
          </a:xfrm>
          <a:prstGeom prst="rightArrow"/>
          <a:solidFill>
            <a:schemeClr val="bg2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3" name="도형 19"/>
          <p:cNvSpPr>
            <a:spLocks/>
          </p:cNvSpPr>
          <p:nvPr/>
        </p:nvSpPr>
        <p:spPr>
          <a:xfrm rot="0">
            <a:off x="381000" y="4994910"/>
            <a:ext cx="2464435" cy="1332865"/>
          </a:xfrm>
          <a:prstGeom prst="roundRect"/>
          <a:solidFill>
            <a:schemeClr val="accent6">
              <a:lumMod val="75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TOP-N 반환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4" name="도형 20"/>
          <p:cNvSpPr>
            <a:spLocks/>
          </p:cNvSpPr>
          <p:nvPr/>
        </p:nvSpPr>
        <p:spPr>
          <a:xfrm rot="0">
            <a:off x="3629660" y="4999990"/>
            <a:ext cx="2464435" cy="1332865"/>
          </a:xfrm>
          <a:prstGeom prst="roundRect"/>
          <a:solidFill>
            <a:schemeClr val="accent6">
              <a:lumMod val="75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코사인 유사도 측정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5" name="도형 21"/>
          <p:cNvSpPr>
            <a:spLocks/>
          </p:cNvSpPr>
          <p:nvPr/>
        </p:nvSpPr>
        <p:spPr>
          <a:xfrm rot="10800000">
            <a:off x="2982595" y="5570220"/>
            <a:ext cx="504825" cy="200660"/>
          </a:xfrm>
          <a:prstGeom prst="rightArrow"/>
          <a:solidFill>
            <a:schemeClr val="bg2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84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HIDDLE/AppData/Roaming/PolarisOffice/ETemp/18688_13401808/image4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0" y="0"/>
            <a:ext cx="12193270" cy="6859270"/>
          </a:xfrm>
          <a:prstGeom prst="rect"/>
          <a:noFill/>
        </p:spPr>
      </p:pic>
      <p:pic>
        <p:nvPicPr>
          <p:cNvPr id="3" name="Picture " descr="C:/Users/HIDDLE/AppData/Roaming/PolarisOffice/ETemp/18688_13401808/image9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78" b="11486"/>
          <a:stretch>
            <a:fillRect/>
          </a:stretch>
        </p:blipFill>
        <p:spPr>
          <a:xfrm rot="0">
            <a:off x="7589520" y="4695190"/>
            <a:ext cx="4603750" cy="2164080"/>
          </a:xfrm>
          <a:prstGeom prst="rect"/>
          <a:noFill/>
        </p:spPr>
      </p:pic>
      <p:sp>
        <p:nvSpPr>
          <p:cNvPr id="4" name="Rect 0"/>
          <p:cNvSpPr>
            <a:spLocks/>
          </p:cNvSpPr>
          <p:nvPr/>
        </p:nvSpPr>
        <p:spPr>
          <a:xfrm rot="0" flipH="1" flipV="1">
            <a:off x="173990" y="70485"/>
            <a:ext cx="12019280" cy="122237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8670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 rot="0">
            <a:off x="375920" y="333375"/>
            <a:ext cx="5949950" cy="831850"/>
            <a:chOff x="375920" y="333375"/>
            <a:chExt cx="5949950" cy="831850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 rot="0">
              <a:off x="1461770" y="366395"/>
              <a:ext cx="2253615" cy="27749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8670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8670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 rot="0">
              <a:off x="1461770" y="584835"/>
              <a:ext cx="4864100" cy="5232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  <a:endParaRPr lang="ko-KR" altLang="en-US" sz="28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charset="0"/>
                <a:ea typeface="세방고딕 Bold" charset="0"/>
              </a:endParaRP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 rot="0">
              <a:off x="375920" y="333375"/>
              <a:ext cx="1268095" cy="831850"/>
            </a:xfrm>
            <a:prstGeom prst="rect"/>
            <a:noFill/>
          </p:spPr>
          <p:txBody>
            <a:bodyPr wrap="square" lIns="91440" tIns="0" rIns="91440" bIns="0" numCol="1" vert="horz" anchor="t">
              <a:spAutoFit/>
            </a:bodyPr>
            <a:lstStyle/>
            <a:p>
              <a:pPr marL="0" indent="0" fontAlgn="auto" eaLnBrk="1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 rot="0">
            <a:off x="0" y="0"/>
            <a:ext cx="12193270" cy="115570"/>
          </a:xfrm>
          <a:prstGeom prst="rect"/>
          <a:solidFill>
            <a:srgbClr val="FFD85C"/>
          </a:solidFill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 rot="0">
            <a:off x="0" y="0"/>
            <a:ext cx="1337945" cy="115570"/>
          </a:xfrm>
          <a:prstGeom prst="rect"/>
          <a:solidFill>
            <a:srgbClr val="3378C8"/>
          </a:solidFill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 descr="C:/Users/HIDDLE/AppData/Roaming/PolarisOffice/ETemp/18688_13401808/image98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40180" cy="487045"/>
          </a:xfrm>
          <a:prstGeom prst="rect"/>
          <a:noFill/>
        </p:spPr>
      </p:pic>
      <p:grpSp>
        <p:nvGrpSpPr>
          <p:cNvPr id="56" name="Group 5"/>
          <p:cNvGrpSpPr/>
          <p:nvPr/>
        </p:nvGrpSpPr>
        <p:grpSpPr>
          <a:xfrm rot="0">
            <a:off x="10667365" y="6576695"/>
            <a:ext cx="1076960" cy="151765"/>
            <a:chOff x="10667365" y="6576695"/>
            <a:chExt cx="1076960" cy="151765"/>
          </a:xfrm>
        </p:grpSpPr>
        <p:pic>
          <p:nvPicPr>
            <p:cNvPr id="57" name="Picture " descr="C:/Users/HIDDLE/AppData/Roaming/PolarisOffice/ETemp/18688_13401808/image5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 rot="0">
              <a:off x="11269345" y="6576695"/>
              <a:ext cx="474980" cy="151765"/>
            </a:xfrm>
            <a:prstGeom prst="rect"/>
            <a:noFill/>
          </p:spPr>
        </p:pic>
        <p:pic>
          <p:nvPicPr>
            <p:cNvPr id="58" name="Picture " descr="C:/Users/HIDDLE/AppData/Roaming/PolarisOffice/ETemp/18688_13401808/image6.png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667365" y="6576695"/>
              <a:ext cx="478790" cy="143510"/>
            </a:xfrm>
            <a:prstGeom prst="rect"/>
            <a:noFill/>
          </p:spPr>
        </p:pic>
      </p:grpSp>
      <p:grpSp>
        <p:nvGrpSpPr>
          <p:cNvPr id="21" name="Group 5"/>
          <p:cNvGrpSpPr/>
          <p:nvPr/>
        </p:nvGrpSpPr>
        <p:grpSpPr>
          <a:xfrm rot="0">
            <a:off x="488315" y="1358900"/>
            <a:ext cx="10527665" cy="370840"/>
            <a:chOff x="488315" y="1358900"/>
            <a:chExt cx="10527665" cy="370840"/>
          </a:xfrm>
        </p:grpSpPr>
        <p:sp>
          <p:nvSpPr>
            <p:cNvPr id="22" name="Rect 0"/>
            <p:cNvSpPr txBox="1">
              <a:spLocks/>
            </p:cNvSpPr>
            <p:nvPr/>
          </p:nvSpPr>
          <p:spPr>
            <a:xfrm rot="0">
              <a:off x="690245" y="1358900"/>
              <a:ext cx="10325735" cy="3708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/>
            <p:cNvSpPr>
              <a:spLocks/>
            </p:cNvSpPr>
            <p:nvPr/>
          </p:nvSpPr>
          <p:spPr>
            <a:xfrm rot="0">
              <a:off x="488315" y="1468120"/>
              <a:ext cx="102235" cy="114935"/>
            </a:xfrm>
            <a:custGeom>
              <a:gdLst>
                <a:gd fmla="*/ 428021 w 450216" name="TX0"/>
                <a:gd fmla="*/ 214932 h 506847" name="TY0"/>
                <a:gd fmla="*/ 66705 w 450216" name="TX1"/>
                <a:gd fmla="*/ 6045 h 506847" name="TY1"/>
                <a:gd fmla="*/ 0 w 450216" name="TX2"/>
                <a:gd fmla="*/ 44511 h 506847" name="TY2"/>
                <a:gd fmla="*/ 0 w 450216" name="TX3"/>
                <a:gd fmla="*/ 462326 h 506847" name="TY3"/>
                <a:gd fmla="*/ 66705 w 450216" name="TX4"/>
                <a:gd fmla="*/ 500812 h 506847" name="TY4"/>
                <a:gd fmla="*/ 428021 w 450216" name="TX5"/>
                <a:gd fmla="*/ 291905 h 506847" name="TY5"/>
                <a:gd fmla="*/ 428021 w 450216" name="TX6"/>
                <a:gd fmla="*/ 214932 h 506847" name="TY6"/>
              </a:gdLst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6" h="506847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50800" dist="38100" dir="5400000" rotWithShape="0" algn="t">
                <a:srgbClr val="3378C8">
                  <a:alpha val="40000"/>
                </a:srgbClr>
              </a:outerShdw>
            </a:effectLst>
          </p:spPr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/>
          <p:cNvSpPr txBox="1">
            <a:spLocks/>
          </p:cNvSpPr>
          <p:nvPr/>
        </p:nvSpPr>
        <p:spPr>
          <a:xfrm rot="0">
            <a:off x="635635" y="1314450"/>
            <a:ext cx="5795010" cy="49212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3-2 </a:t>
            </a:r>
            <a:r>
              <a:rPr lang="ko-KR" altLang="en-US" sz="260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보조 기능</a:t>
            </a:r>
            <a:endParaRPr lang="ko-KR" altLang="en-US" sz="2600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charset="0"/>
              <a:ea typeface="세방고딕 Bold" charset="0"/>
            </a:endParaRPr>
          </a:p>
        </p:txBody>
      </p:sp>
      <p:pic>
        <p:nvPicPr>
          <p:cNvPr id="34" name="Picture " descr="C:/Users/HIDDLE/AppData/Roaming/PolarisOffice/ETemp/18688_13401808/image42.png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3270" cy="343535"/>
          </a:xfrm>
          <a:prstGeom prst="rect"/>
          <a:noFill/>
        </p:spPr>
      </p:pic>
      <p:sp>
        <p:nvSpPr>
          <p:cNvPr id="32" name="Rect 0"/>
          <p:cNvSpPr txBox="1">
            <a:spLocks/>
          </p:cNvSpPr>
          <p:nvPr/>
        </p:nvSpPr>
        <p:spPr>
          <a:xfrm rot="0">
            <a:off x="6671945" y="2633345"/>
            <a:ext cx="4966970" cy="3689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latinLnBrk="0">
              <a:buFontTx/>
              <a:buNone/>
            </a:pPr>
            <a:endParaRPr lang="ko-KR" altLang="en-US" b="1"/>
          </a:p>
        </p:txBody>
      </p:sp>
      <p:sp>
        <p:nvSpPr>
          <p:cNvPr id="59" name="Rect 0"/>
          <p:cNvSpPr txBox="1">
            <a:spLocks/>
          </p:cNvSpPr>
          <p:nvPr/>
        </p:nvSpPr>
        <p:spPr>
          <a:xfrm rot="0">
            <a:off x="6322060" y="2762250"/>
            <a:ext cx="4966970" cy="23069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en-US" altLang="ko-KR" b="1"/>
              <a:t>리뷰 최대 10개 / 편차 &gt; 베이지안 평균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입력</a:t>
            </a:r>
            <a:r>
              <a:rPr lang="en-US" altLang="ko-KR" b="1"/>
              <a:t>: </a:t>
            </a:r>
            <a:r>
              <a:rPr lang="ko-KR" altLang="en-US" b="1"/>
              <a:t>가게 좌표, 사용자 좌표, 리뷰 수, </a:t>
            </a:r>
            <a:endParaRPr lang="ko-KR" altLang="en-US" b="1"/>
          </a:p>
          <a:p>
            <a:pPr marL="342900" indent="-342900" latinLnBrk="0"/>
            <a:r>
              <a:rPr lang="ko-KR" altLang="en-US" b="1"/>
              <a:t>            감성점수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모델</a:t>
            </a:r>
            <a:r>
              <a:rPr lang="en-US" altLang="ko-KR" b="1"/>
              <a:t>: </a:t>
            </a: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endParaRPr lang="ko-KR" altLang="en-US" b="1"/>
          </a:p>
          <a:p>
            <a:pPr marL="342900" indent="-342900" latinLnBrk="0">
              <a:buFont typeface="+mj-lt"/>
              <a:buAutoNum type="arabicPeriod"/>
            </a:pPr>
            <a:r>
              <a:rPr lang="ko-KR" altLang="en-US" b="1"/>
              <a:t>출력</a:t>
            </a:r>
            <a:r>
              <a:rPr lang="en-US" altLang="ko-KR" b="1"/>
              <a:t>: </a:t>
            </a:r>
            <a:r>
              <a:rPr lang="ko-KR" altLang="en-US" b="1"/>
              <a:t>상황에 적합한 음식 카테고리 </a:t>
            </a:r>
            <a:r>
              <a:rPr lang="en-US" altLang="ko-KR" b="1"/>
              <a:t>TOP-N</a:t>
            </a:r>
            <a:endParaRPr lang="ko-KR" altLang="en-US" b="1"/>
          </a:p>
        </p:txBody>
      </p:sp>
      <p:grpSp>
        <p:nvGrpSpPr>
          <p:cNvPr id="25" name="Group 5"/>
          <p:cNvGrpSpPr/>
          <p:nvPr/>
        </p:nvGrpSpPr>
        <p:grpSpPr>
          <a:xfrm rot="0">
            <a:off x="517525" y="1906905"/>
            <a:ext cx="11411585" cy="380365"/>
            <a:chOff x="517525" y="1906905"/>
            <a:chExt cx="11411585" cy="380365"/>
          </a:xfrm>
        </p:grpSpPr>
        <p:sp>
          <p:nvSpPr>
            <p:cNvPr id="26" name="Rect 0"/>
            <p:cNvSpPr>
              <a:spLocks/>
            </p:cNvSpPr>
            <p:nvPr/>
          </p:nvSpPr>
          <p:spPr>
            <a:xfrm rot="0">
              <a:off x="517525" y="1906905"/>
              <a:ext cx="11219815" cy="380365"/>
            </a:xfrm>
            <a:prstGeom prst="roundRect"/>
            <a:solidFill>
              <a:srgbClr val="3378C8"/>
            </a:solidFill>
            <a:ln w="0">
              <a:noFill/>
              <a:prstDash/>
            </a:ln>
            <a:effectLst>
              <a:outerShdw sx="100000" sy="100000" blurRad="0" dist="38100" dir="2700000" rotWithShape="0" algn="tl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/>
            <p:cNvSpPr txBox="1">
              <a:spLocks/>
            </p:cNvSpPr>
            <p:nvPr/>
          </p:nvSpPr>
          <p:spPr>
            <a:xfrm rot="0">
              <a:off x="1038225" y="1945640"/>
              <a:ext cx="10890885" cy="307340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감성 점수 산출 로직</a:t>
              </a:r>
              <a:endParaRPr lang="ko-KR" altLang="en-US" sz="14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세방고딕 Regular" charset="0"/>
                <a:ea typeface="세방고딕 Regular" charset="0"/>
              </a:endParaRPr>
            </a:p>
          </p:txBody>
        </p:sp>
        <p:grpSp>
          <p:nvGrpSpPr>
            <p:cNvPr id="28" name="Group 5"/>
            <p:cNvGrpSpPr/>
            <p:nvPr/>
          </p:nvGrpSpPr>
          <p:grpSpPr>
            <a:xfrm rot="0">
              <a:off x="755015" y="1964690"/>
              <a:ext cx="284480" cy="276860"/>
              <a:chOff x="755015" y="1964690"/>
              <a:chExt cx="284480" cy="276860"/>
            </a:xfrm>
          </p:grpSpPr>
          <p:sp>
            <p:nvSpPr>
              <p:cNvPr id="30" name="Rect 0"/>
              <p:cNvSpPr>
                <a:spLocks/>
              </p:cNvSpPr>
              <p:nvPr/>
            </p:nvSpPr>
            <p:spPr>
              <a:xfrm rot="0">
                <a:off x="804545" y="1968500"/>
                <a:ext cx="234950" cy="234950"/>
              </a:xfrm>
              <a:prstGeom prst="ellipse"/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/>
              <p:cNvSpPr txBox="1">
                <a:spLocks/>
              </p:cNvSpPr>
              <p:nvPr/>
            </p:nvSpPr>
            <p:spPr>
              <a:xfrm rot="0">
                <a:off x="755015" y="1964690"/>
                <a:ext cx="247650" cy="276860"/>
              </a:xfrm>
              <a:prstGeom prst="rect"/>
              <a:noFill/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sp>
        <p:nvSpPr>
          <p:cNvPr id="60" name="텍스트 상자 23"/>
          <p:cNvSpPr txBox="1">
            <a:spLocks/>
          </p:cNvSpPr>
          <p:nvPr/>
        </p:nvSpPr>
        <p:spPr>
          <a:xfrm rot="0">
            <a:off x="913130" y="2633345"/>
            <a:ext cx="4966970" cy="36912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 latinLnBrk="0">
              <a:buFont typeface="+mj-lt"/>
              <a:buAutoNum type="arabicPeriod"/>
            </a:pPr>
            <a:r>
              <a:rPr lang="en-US" altLang="ko-KR" b="1"/>
              <a:t>단순 비율로는 전체 리뷰와의 오차 발생 충분히 가능</a:t>
            </a:r>
            <a:endParaRPr lang="ko-KR" altLang="en-US" b="1"/>
          </a:p>
          <a:p>
            <a:pPr marL="342900" indent="-342900" latinLnBrk="0"/>
            <a:r>
              <a:rPr lang="en-US" altLang="ko-KR" b="1"/>
              <a:t>상대적으로 리뷰가 적은 가게의 점수는 전체의 평균에 끌려가도록</a:t>
            </a:r>
            <a:endParaRPr lang="ko-KR" altLang="en-US" b="1"/>
          </a:p>
          <a:p>
            <a:pPr marL="342900" indent="-342900" latinLnBrk="0"/>
            <a:r>
              <a:rPr lang="en-US" altLang="ko-KR" b="1"/>
              <a:t>베이지안 평균 : 리뷰가 적음=전체평균과 가까움</a:t>
            </a:r>
            <a:endParaRPr lang="ko-KR" altLang="en-US" b="1"/>
          </a:p>
          <a:p>
            <a:pPr marL="342900" indent="-342900" latinLnBrk="0"/>
            <a:r>
              <a:rPr lang="en-US" altLang="ko-KR" b="1"/>
              <a:t>기본 추천도 0.5 + 리뷰수 패널티(4개 이하 등)</a:t>
            </a:r>
            <a:endParaRPr lang="ko-KR" altLang="en-US" b="1"/>
          </a:p>
          <a:p>
            <a:pPr marL="342900" indent="-342900" latinLnBrk="0"/>
            <a:endParaRPr lang="ko-KR" altLang="en-US" b="1"/>
          </a:p>
          <a:p>
            <a:pPr marL="342900" indent="-342900" latinLnBrk="0"/>
            <a:r>
              <a:rPr lang="en-US" altLang="ko-KR" b="1"/>
              <a:t>&gt;의 장점 : 리뷰 미수집 가게를 제외한다?</a:t>
            </a:r>
            <a:endParaRPr lang="ko-KR" altLang="en-US" b="1"/>
          </a:p>
          <a:p>
            <a:pPr marL="342900" indent="-342900" latinLnBrk="0"/>
            <a:r>
              <a:rPr lang="en-US" altLang="ko-KR" b="1"/>
              <a:t>서비스 품질 하락</a:t>
            </a:r>
            <a:endParaRPr lang="ko-KR" altLang="en-US" b="1"/>
          </a:p>
          <a:p>
            <a:pPr marL="342900" indent="-342900" latinLnBrk="0"/>
            <a:r>
              <a:rPr lang="en-US" altLang="ko-KR" b="1"/>
              <a:t>미수집도 알맞게 처리가능</a:t>
            </a:r>
            <a:endParaRPr lang="ko-KR" altLang="en-US" b="1"/>
          </a:p>
          <a:p>
            <a:pPr marL="342900" indent="-342900" latinLnBrk="0"/>
            <a:endParaRPr lang="ko-KR" altLang="en-US" b="1"/>
          </a:p>
          <a:p>
            <a:pPr marL="342900" indent="-342900" latinLnBrk="0"/>
            <a:r>
              <a:rPr lang="en-US" altLang="ko-KR" b="1"/>
              <a:t>결과 : 추천 완전 제외 x</a:t>
            </a:r>
            <a:endParaRPr lang="ko-KR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시연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655" y="1430020"/>
            <a:ext cx="10526395" cy="369570"/>
            <a:chOff x="541655" y="1430020"/>
            <a:chExt cx="10526395" cy="36957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585" y="1430020"/>
              <a:ext cx="10324465" cy="3695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훈련생 발표 영상이 아닌 세부 기능 소개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구동 및 기능 동작 여부 시연영상으로 제작한다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655" y="1539240"/>
              <a:ext cx="100965" cy="113665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150" y="854075"/>
            <a:ext cx="34480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7065"/>
            <a:ext cx="12192000" cy="2336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6255" y="2074545"/>
            <a:ext cx="11243945" cy="4262755"/>
            <a:chOff x="516255" y="2074545"/>
            <a:chExt cx="11243945" cy="4262755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16255" y="2074545"/>
              <a:ext cx="11243945" cy="4262755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63540" y="3423285"/>
              <a:ext cx="1216025" cy="1213485"/>
              <a:chOff x="5463540" y="3423285"/>
              <a:chExt cx="1216025" cy="1213485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5892165" y="3793490"/>
                <a:ext cx="421005" cy="488315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5463540" y="3423285"/>
                <a:ext cx="1216025" cy="1213485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887095" y="5964555"/>
              <a:ext cx="8301355" cy="165735"/>
              <a:chOff x="887095" y="5964555"/>
              <a:chExt cx="8301355" cy="165735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887095" y="5970270"/>
                <a:ext cx="129540" cy="153035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02385" y="5970270"/>
                <a:ext cx="131445" cy="153035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51610" y="5964555"/>
                <a:ext cx="27940" cy="165735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685925" y="6021705"/>
                <a:ext cx="448310" cy="45720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33600" y="6021705"/>
                <a:ext cx="6057265" cy="45720"/>
                <a:chOff x="2133600" y="6021705"/>
                <a:chExt cx="6057265" cy="45720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2133600" y="6021705"/>
                  <a:ext cx="5230495" cy="45720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7364095" y="6021705"/>
                  <a:ext cx="826770" cy="45720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096135" y="6005195"/>
                <a:ext cx="79375" cy="79375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39480" y="5992495"/>
                <a:ext cx="648970" cy="101600"/>
                <a:chOff x="8539480" y="5992495"/>
                <a:chExt cx="648970" cy="101600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8539480" y="5995670"/>
                  <a:ext cx="62230" cy="94615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8613775" y="6022975"/>
                  <a:ext cx="16510" cy="67310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8650605" y="5996940"/>
                  <a:ext cx="30480" cy="91440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8712835" y="5995670"/>
                  <a:ext cx="62230" cy="94615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8839835" y="5992495"/>
                  <a:ext cx="48895" cy="101600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8954135" y="5995670"/>
                  <a:ext cx="58420" cy="92710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9027160" y="6022975"/>
                  <a:ext cx="16510" cy="67310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9055100" y="5995670"/>
                  <a:ext cx="57150" cy="94615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9126220" y="5995670"/>
                  <a:ext cx="62230" cy="94615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27260" y="5947410"/>
              <a:ext cx="1635760" cy="196850"/>
              <a:chOff x="9827260" y="5947410"/>
              <a:chExt cx="1635760" cy="196850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10180955" y="6026150"/>
                <a:ext cx="492760" cy="36830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620375" y="6026150"/>
                <a:ext cx="124460" cy="36830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827260" y="6016625"/>
                <a:ext cx="46355" cy="61595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873615" y="5965190"/>
                <a:ext cx="46355" cy="164465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937115" y="5962650"/>
                <a:ext cx="71120" cy="168910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884410" y="6006465"/>
                <a:ext cx="81280" cy="76835"/>
                <a:chOff x="9884410" y="6006465"/>
                <a:chExt cx="81280" cy="76835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9937115" y="6006465"/>
                  <a:ext cx="28575" cy="76835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9884410" y="6039485"/>
                  <a:ext cx="635" cy="10160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1015980" y="5955665"/>
                <a:ext cx="91440" cy="90170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934065" y="6037580"/>
                <a:ext cx="90170" cy="91440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1265535" y="5947410"/>
                <a:ext cx="197485" cy="196850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608945" y="6005195"/>
                <a:ext cx="79375" cy="79375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0" name="_x278651016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775" y="3135630"/>
            <a:ext cx="2550795" cy="541655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0" y="5284470"/>
            <a:ext cx="1369695" cy="157353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3990" y="70485"/>
            <a:ext cx="12018010" cy="1221105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5920" y="333375"/>
            <a:ext cx="5948680" cy="831215"/>
            <a:chOff x="375920" y="333375"/>
            <a:chExt cx="5948680" cy="8312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70" y="366395"/>
              <a:ext cx="2252345" cy="2768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70" y="584835"/>
              <a:ext cx="4862830" cy="5232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charset="0"/>
                  <a:ea typeface="세방고딕 Bold" charset="0"/>
                </a:rPr>
                <a:t>프로젝트 평가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5920" y="333375"/>
              <a:ext cx="1266825" cy="831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06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1060"/>
            <a:ext cx="12192000" cy="2336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655" y="1539240"/>
            <a:ext cx="100965" cy="113665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655" y="2407920"/>
            <a:ext cx="5363845" cy="1748790"/>
            <a:chOff x="541655" y="2407920"/>
            <a:chExt cx="5363845" cy="1748790"/>
          </a:xfrm>
        </p:grpSpPr>
        <p:sp>
          <p:nvSpPr>
            <p:cNvPr id="12" name="사각형: 둥근 모서리 11"/>
            <p:cNvSpPr>
              <a:spLocks/>
            </p:cNvSpPr>
            <p:nvPr/>
          </p:nvSpPr>
          <p:spPr>
            <a:xfrm>
              <a:off x="5416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0" name="직사각형 19"/>
            <p:cNvSpPr>
              <a:spLocks/>
            </p:cNvSpPr>
            <p:nvPr/>
          </p:nvSpPr>
          <p:spPr>
            <a:xfrm rot="5400000">
              <a:off x="3176905" y="234950"/>
              <a:ext cx="94615" cy="4440555"/>
            </a:xfrm>
            <a:prstGeom prst="rect">
              <a:avLst/>
            </a:prstGeom>
            <a:solidFill>
              <a:srgbClr val="3378C8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0" name="TextBox 39"/>
            <p:cNvSpPr txBox="1">
              <a:spLocks/>
            </p:cNvSpPr>
            <p:nvPr/>
          </p:nvSpPr>
          <p:spPr>
            <a:xfrm>
              <a:off x="912495" y="2900045"/>
              <a:ext cx="4623435" cy="3924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655" y="2317750"/>
            <a:ext cx="5364480" cy="4440555"/>
            <a:chOff x="541655" y="2317750"/>
            <a:chExt cx="5364480" cy="4440555"/>
          </a:xfrm>
        </p:grpSpPr>
        <p:sp>
          <p:nvSpPr>
            <p:cNvPr id="15" name="사각형: 둥근 모서리 14"/>
            <p:cNvSpPr>
              <a:spLocks/>
            </p:cNvSpPr>
            <p:nvPr/>
          </p:nvSpPr>
          <p:spPr>
            <a:xfrm rot="0">
              <a:off x="541655" y="4490720"/>
              <a:ext cx="5365115" cy="175006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3995"/>
              </a:schemeClr>
            </a:solidFill>
            <a:ln w="0">
              <a:noFill/>
              <a:prstDash/>
            </a:ln>
            <a:effectLst>
              <a:outerShdw sx="100000" sy="100000" blurRad="63500" dist="0" dir="0" rotWithShape="0" algn="ctr">
                <a:srgbClr val="FFD85C">
                  <a:alpha val="54509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4" name="직사각형 43"/>
            <p:cNvSpPr>
              <a:spLocks/>
            </p:cNvSpPr>
            <p:nvPr/>
          </p:nvSpPr>
          <p:spPr>
            <a:xfrm rot="5400000">
              <a:off x="3176905" y="2317750"/>
              <a:ext cx="95250" cy="4441190"/>
            </a:xfrm>
            <a:prstGeom prst="rect"/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50" name="TextBox 49"/>
            <p:cNvSpPr txBox="1">
              <a:spLocks/>
            </p:cNvSpPr>
            <p:nvPr/>
          </p:nvSpPr>
          <p:spPr>
            <a:xfrm rot="0">
              <a:off x="912495" y="4328795"/>
              <a:ext cx="4624070" cy="1586865"/>
            </a:xfrm>
            <a:prstGeom prst="rect"/>
            <a:noFill/>
          </p:spPr>
          <p:txBody>
            <a:bodyPr wrap="square" lIns="91440" tIns="45720" rIns="91440" bIns="45720" numCol="1" vert="horz" anchor="t">
              <a:spAutoFit/>
            </a:bodyPr>
            <a:lstStyle/>
            <a:p>
              <a:pPr marL="0" indent="0" algn="ctr" latinLnBrk="0">
                <a:lnSpc>
                  <a:spcPct val="300000"/>
                </a:lnSpc>
                <a:buFontTx/>
                <a:buNone/>
                <a:defRPr/>
              </a:pPr>
              <a:r>
                <a:rPr lang="ko-KR" altLang="en-US" sz="1800" b="1"/>
                <a:t>ㆍ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개인 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/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 팀 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rgbClr val="FFC000"/>
                  </a:solidFill>
                  <a:latin typeface="세방고딕 Bold" charset="0"/>
                  <a:ea typeface="세방고딕 Bold" charset="0"/>
                </a:rPr>
                <a:t>아쉬운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rgbClr val="FFC000"/>
                  </a:solidFill>
                  <a:latin typeface="세방고딕 Bold" charset="0"/>
                  <a:ea typeface="세방고딕 Bold" charset="0"/>
                </a:rPr>
                <a:t> 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rgbClr val="FFC000"/>
                  </a:solidFill>
                  <a:latin typeface="세방고딕 Bold" charset="0"/>
                  <a:ea typeface="세방고딕 Bold" charset="0"/>
                </a:rPr>
                <a:t>점</a:t>
              </a: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FFC000"/>
                </a:solidFill>
                <a:latin typeface="세방고딕 Bold" charset="0"/>
                <a:ea typeface="세방고딕 Bold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로깅 기능 미구현</a:t>
              </a: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  <a:p>
              <a:pPr marL="0" indent="0" algn="ctr" latinLnBrk="0">
                <a:lnSpc>
                  <a:spcPct val="120000"/>
                </a:lnSpc>
                <a:buFontTx/>
                <a:buNone/>
                <a:defRPr/>
              </a:pP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피드백 반영</a:t>
              </a:r>
              <a:r>
                <a:rPr lang="en-US" altLang="ko-KR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, 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디테일 </a:t>
              </a:r>
              <a:r>
                <a:rPr lang="ko-KR" altLang="en-US">
                  <a:ln w="9525" cap="flat" cmpd="sng">
                    <a:solidFill>
                      <a:schemeClr val="bg1">
                        <a:alpha val="0"/>
                      </a:schemeClr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latin typeface="세방고딕 Regular" charset="0"/>
                  <a:ea typeface="세방고딕 Regular" charset="0"/>
                </a:rPr>
                <a:t>보완</a:t>
              </a:r>
              <a:endPara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990" y="4490720"/>
            <a:ext cx="5363845" cy="1748790"/>
            <a:chOff x="6396990" y="4490720"/>
            <a:chExt cx="5363845" cy="17487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990" y="4490720"/>
              <a:ext cx="5363845" cy="17487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2240" y="2317750"/>
              <a:ext cx="93980" cy="443992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510" y="5019040"/>
              <a:ext cx="4622800" cy="3917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355" y="2407920"/>
            <a:ext cx="5364480" cy="1749425"/>
            <a:chOff x="6396355" y="2407920"/>
            <a:chExt cx="5364480" cy="1749425"/>
          </a:xfrm>
        </p:grpSpPr>
        <p:sp>
          <p:nvSpPr>
            <p:cNvPr id="14" name="사각형: 둥근 모서리 13"/>
            <p:cNvSpPr>
              <a:spLocks/>
            </p:cNvSpPr>
            <p:nvPr/>
          </p:nvSpPr>
          <p:spPr>
            <a:xfrm>
              <a:off x="6396355" y="2407920"/>
              <a:ext cx="5364480" cy="1749425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4780"/>
              </a:schemeClr>
            </a:solidFill>
            <a:ln w="0">
              <a:noFill/>
              <a:prstDash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43" name="직사각형 42"/>
            <p:cNvSpPr>
              <a:spLocks/>
            </p:cNvSpPr>
            <p:nvPr/>
          </p:nvSpPr>
          <p:spPr>
            <a:xfrm rot="5400000">
              <a:off x="9031605" y="234950"/>
              <a:ext cx="94615" cy="4440555"/>
            </a:xfrm>
            <a:prstGeom prst="rect">
              <a:avLst/>
            </a:prstGeom>
            <a:solidFill>
              <a:srgbClr val="FFD85C"/>
            </a:solidFill>
            <a:ln w="0">
              <a:noFill/>
              <a:prstDash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460" y="4326890"/>
            <a:ext cx="138430" cy="13843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365" y="6576695"/>
            <a:ext cx="1075690" cy="150495"/>
            <a:chOff x="10667365" y="6576695"/>
            <a:chExt cx="1075690" cy="150495"/>
          </a:xfrm>
        </p:grpSpPr>
        <p:pic>
          <p:nvPicPr>
            <p:cNvPr id="19" name="_x278651016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9345" y="6576695"/>
              <a:ext cx="473710" cy="150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7520" cy="142240"/>
            </a:xfrm>
            <a:prstGeom prst="rect">
              <a:avLst/>
            </a:prstGeom>
          </p:spPr>
        </p:pic>
      </p:grpSp>
      <p:sp>
        <p:nvSpPr>
          <p:cNvPr id="62" name="텍스트 상자 1"/>
          <p:cNvSpPr txBox="1">
            <a:spLocks/>
          </p:cNvSpPr>
          <p:nvPr/>
        </p:nvSpPr>
        <p:spPr>
          <a:xfrm>
            <a:off x="6708140" y="2232660"/>
            <a:ext cx="4623435" cy="156400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latinLnBrk="0">
              <a:lnSpc>
                <a:spcPct val="300000"/>
              </a:lnSpc>
              <a:buFontTx/>
              <a:buNone/>
              <a:defRPr/>
            </a:pPr>
            <a:r>
              <a:rPr lang="ko-KR" altLang="en-US" sz="1800" b="1" dirty="0" err="1"/>
              <a:t>ㆍ</a:t>
            </a:r>
            <a:r>
              <a:rPr lang="ko-KR" altLang="en-US" dirty="0" err="1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FFC000"/>
                </a:solidFill>
                <a:latin typeface="세방고딕 Regular" charset="0"/>
                <a:ea typeface="세방고딕 Regular" charset="0"/>
              </a:rPr>
              <a:t>기대</a:t>
            </a: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FFC000"/>
                </a:solidFill>
                <a:latin typeface="세방고딕 Regular" charset="0"/>
                <a:ea typeface="세방고딕 Regular" charset="0"/>
              </a:rPr>
              <a:t> 효과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rgbClr val="FFC000"/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사용자 결정 피로 감소</a:t>
            </a:r>
            <a:endParaRPr lang="en-US" altLang="ko-KR" dirty="0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r>
              <a:rPr lang="ko-KR" altLang="en-US" dirty="0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latin typeface="세방고딕 Regular" charset="0"/>
                <a:ea typeface="세방고딕 Regular" charset="0"/>
              </a:rPr>
              <a:t>상황 맞춤 추천으로 만족도 향상</a:t>
            </a:r>
          </a:p>
        </p:txBody>
      </p:sp>
      <p:sp>
        <p:nvSpPr>
          <p:cNvPr id="36" name="텍스트 상자 1">
            <a:extLst>
              <a:ext uri="{FF2B5EF4-FFF2-40B4-BE49-F238E27FC236}">
                <a16:creationId xmlns:a16="http://schemas.microsoft.com/office/drawing/2014/main" id="{436AA4A6-E79E-425B-94D2-873416323E19}"/>
              </a:ext>
            </a:extLst>
          </p:cNvPr>
          <p:cNvSpPr txBox="1">
            <a:spLocks/>
          </p:cNvSpPr>
          <p:nvPr/>
        </p:nvSpPr>
        <p:spPr>
          <a:xfrm>
            <a:off x="821055" y="2237105"/>
            <a:ext cx="4624070" cy="208534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 latinLnBrk="0">
              <a:lnSpc>
                <a:spcPct val="300000"/>
              </a:lnSpc>
              <a:buFontTx/>
              <a:buNone/>
            </a:pPr>
            <a:r>
              <a:rPr lang="ko-KR" altLang="en-US" sz="1800" b="1"/>
              <a:t>ㆍ</a:t>
            </a:r>
            <a:r>
              <a:rPr lang="ko-KR" altLang="en-US">
                <a:ln w="9525" cap="flat" cmpd="sng">
                  <a:solidFill>
                    <a:schemeClr val="bg1"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rPr>
              <a:t>완성도 평가</a:t>
            </a:r>
            <a:endParaRPr lang="ko-KR" altLang="en-US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Bold" charset="0"/>
              <a:ea typeface="세방고딕 Bold" charset="0"/>
            </a:endParaRPr>
          </a:p>
          <a:p>
            <a:pPr marL="0" indent="0" algn="ctr" latinLnBrk="0">
              <a:buFontTx/>
              <a:buNone/>
            </a:pPr>
            <a:r>
              <a:rPr lang="ko-KR" altLang="en-US">
                <a:solidFill>
                  <a:schemeClr val="bg2">
                    <a:lumMod val="25000"/>
                  </a:schemeClr>
                </a:solidFill>
                <a:ea typeface="세방고딕 Regular" charset="0"/>
              </a:rPr>
              <a:t>기능 단위로 분리된 안정적인 시스템 구조</a:t>
            </a:r>
            <a:endParaRPr lang="ko-KR" altLang="en-US">
              <a:solidFill>
                <a:schemeClr val="bg2">
                  <a:lumMod val="25000"/>
                </a:schemeClr>
              </a:solidFill>
              <a:ea typeface="세방고딕 Regular" charset="0"/>
            </a:endParaRPr>
          </a:p>
          <a:p>
            <a:pPr marL="0" indent="0" algn="ctr" latinLnBrk="0">
              <a:buFontTx/>
              <a:buNone/>
            </a:pPr>
            <a:r>
              <a:rPr lang="ko-KR" altLang="en-US">
                <a:solidFill>
                  <a:schemeClr val="bg2">
                    <a:lumMod val="25000"/>
                  </a:schemeClr>
                </a:solidFill>
                <a:ea typeface="세방고딕 Regular" charset="0"/>
              </a:rPr>
              <a:t>명확한 흐름의 사용자 경험</a:t>
            </a:r>
            <a:endParaRPr lang="ko-KR" altLang="en-US">
              <a:solidFill>
                <a:schemeClr val="bg2">
                  <a:lumMod val="25000"/>
                </a:schemeClr>
              </a:solidFill>
              <a:ea typeface="세방고딕 Regular" charset="0"/>
            </a:endParaRPr>
          </a:p>
          <a:p>
            <a:pPr marL="0" indent="0" algn="ctr" latinLnBrk="0">
              <a:buFontTx/>
              <a:buNone/>
            </a:pPr>
            <a:r>
              <a:rPr lang="ko-KR" altLang="en-US">
                <a:solidFill>
                  <a:schemeClr val="bg2">
                    <a:lumMod val="25000"/>
                  </a:schemeClr>
                </a:solidFill>
                <a:ea typeface="세방고딕 Regular" charset="0"/>
              </a:rPr>
              <a:t>모델 선정</a:t>
            </a:r>
            <a:endParaRPr lang="ko-KR" altLang="en-US">
              <a:solidFill>
                <a:schemeClr val="bg2">
                  <a:lumMod val="25000"/>
                </a:schemeClr>
              </a:solidFill>
              <a:ea typeface="세방고딕 Regular" charset="0"/>
            </a:endParaRPr>
          </a:p>
          <a:p>
            <a:pPr marL="0" indent="0" algn="ctr" latinLnBrk="0">
              <a:lnSpc>
                <a:spcPct val="120000"/>
              </a:lnSpc>
              <a:buFontTx/>
              <a:buNone/>
              <a:defRPr/>
            </a:pPr>
            <a:endParaRPr lang="ko-KR" altLang="en-US">
              <a:ln w="9525" cap="flat" cmpd="sng">
                <a:solidFill>
                  <a:schemeClr val="bg1">
                    <a:alpha val="0"/>
                  </a:schemeClr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96B687-73BF-4A6B-86BE-4205D82E3C6A}"/>
              </a:ext>
            </a:extLst>
          </p:cNvPr>
          <p:cNvSpPr txBox="1"/>
          <p:nvPr/>
        </p:nvSpPr>
        <p:spPr>
          <a:xfrm>
            <a:off x="6539865" y="4328795"/>
            <a:ext cx="4921250" cy="175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300000"/>
              </a:lnSpc>
            </a:pPr>
            <a:r>
              <a:rPr lang="ko-KR" altLang="en-US" sz="1800" b="1" dirty="0" err="1"/>
              <a:t>ㆍ</a:t>
            </a:r>
            <a:r>
              <a:rPr lang="ko-KR" altLang="en-US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성과</a:t>
            </a:r>
            <a:endParaRPr lang="en-US" altLang="ko-KR" dirty="0">
              <a:solidFill>
                <a:schemeClr val="bg2">
                  <a:lumMod val="25000"/>
                </a:schemeClr>
              </a:solidFill>
              <a:ea typeface="세방고딕 Regular" panose="00000500000000000000"/>
            </a:endParaRP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다양한 데이터셋 적용 실험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모델 </a:t>
            </a:r>
            <a:r>
              <a:rPr lang="ko-KR" altLang="en-US" dirty="0" err="1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해석력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 강화</a:t>
            </a:r>
          </a:p>
          <a:p>
            <a:pPr algn="ctr"/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ea typeface="세방고딕 Regular" panose="00000500000000000000"/>
              </a:rPr>
              <a:t>사용자 맞춤형 기능 개발</a:t>
            </a:r>
          </a:p>
        </p:txBody>
      </p:sp>
      <p:sp>
        <p:nvSpPr>
          <p:cNvPr id="37" name="Rect 0">
            <a:extLst>
              <a:ext uri="{FF2B5EF4-FFF2-40B4-BE49-F238E27FC236}">
                <a16:creationId xmlns:a16="http://schemas.microsoft.com/office/drawing/2014/main" id="{BC37232F-D4AA-40CC-8C63-34BE21641E79}"/>
              </a:ext>
            </a:extLst>
          </p:cNvPr>
          <p:cNvSpPr txBox="1">
            <a:spLocks/>
          </p:cNvSpPr>
          <p:nvPr/>
        </p:nvSpPr>
        <p:spPr>
          <a:xfrm>
            <a:off x="741045" y="135636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자체 평가 의견</a:t>
            </a:r>
          </a:p>
        </p:txBody>
      </p:sp>
    </p:spTree>
    <p:extLst>
      <p:ext uri="{BB962C8B-B14F-4D97-AF65-F5344CB8AC3E}">
        <p14:creationId xmlns:p14="http://schemas.microsoft.com/office/powerpoint/2010/main" val="3931580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8" b="11486"/>
          <a:stretch>
            <a:fillRect/>
          </a:stretch>
        </p:blipFill>
        <p:spPr>
          <a:xfrm>
            <a:off x="7589520" y="4695190"/>
            <a:ext cx="4603115" cy="2163445"/>
          </a:xfrm>
          <a:prstGeom prst="rect">
            <a:avLst/>
          </a:prstGeom>
          <a:noFill/>
        </p:spPr>
      </p:pic>
      <p:sp>
        <p:nvSpPr>
          <p:cNvPr id="4" name="Rect 0"/>
          <p:cNvSpPr>
            <a:spLocks/>
          </p:cNvSpPr>
          <p:nvPr/>
        </p:nvSpPr>
        <p:spPr>
          <a:xfrm flipH="1" flipV="1">
            <a:off x="173990" y="70485"/>
            <a:ext cx="12018645" cy="122174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49847"/>
            </a:schemeClr>
          </a:solidFill>
          <a:ln w="0"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/>
          </a:p>
        </p:txBody>
      </p:sp>
      <p:grpSp>
        <p:nvGrpSpPr>
          <p:cNvPr id="5" name="Group 5"/>
          <p:cNvGrpSpPr/>
          <p:nvPr/>
        </p:nvGrpSpPr>
        <p:grpSpPr>
          <a:xfrm>
            <a:off x="375920" y="333375"/>
            <a:ext cx="5949315" cy="831215"/>
            <a:chOff x="375920" y="333375"/>
            <a:chExt cx="5949315" cy="831215"/>
          </a:xfrm>
        </p:grpSpPr>
        <p:sp>
          <p:nvSpPr>
            <p:cNvPr id="6" name="Rect 0"/>
            <p:cNvSpPr txBox="1">
              <a:spLocks/>
            </p:cNvSpPr>
            <p:nvPr/>
          </p:nvSpPr>
          <p:spPr>
            <a:xfrm>
              <a:off x="1461770" y="366395"/>
              <a:ext cx="2252980" cy="2768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>
                      <a:alpha val="49847"/>
                    </a:srgbClr>
                  </a:solidFill>
                  <a:latin typeface="세방고딕 Regular" charset="0"/>
                  <a:ea typeface="세방고딕 Regular" charset="0"/>
                </a:rPr>
                <a:t>K-Digital Training</a:t>
              </a:r>
              <a:endParaRPr lang="ko-KR" altLang="en-US" sz="1200" b="1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>
                    <a:alpha val="49847"/>
                  </a:srgb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7" name="Rect 0"/>
            <p:cNvSpPr txBox="1">
              <a:spLocks/>
            </p:cNvSpPr>
            <p:nvPr/>
          </p:nvSpPr>
          <p:spPr>
            <a:xfrm>
              <a:off x="1461770" y="584835"/>
              <a:ext cx="4863465" cy="5226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28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charset="0"/>
                  <a:ea typeface="세방고딕 Bold" charset="0"/>
                </a:rPr>
                <a:t>프로젝트 수행 경과</a:t>
              </a:r>
            </a:p>
          </p:txBody>
        </p:sp>
        <p:sp>
          <p:nvSpPr>
            <p:cNvPr id="8" name="Rect 0"/>
            <p:cNvSpPr txBox="1">
              <a:spLocks/>
            </p:cNvSpPr>
            <p:nvPr/>
          </p:nvSpPr>
          <p:spPr>
            <a:xfrm>
              <a:off x="375920" y="333375"/>
              <a:ext cx="1267460" cy="831215"/>
            </a:xfrm>
            <a:prstGeom prst="rect">
              <a:avLst/>
            </a:prstGeom>
            <a:noFill/>
          </p:spPr>
          <p:txBody>
            <a:bodyPr vert="horz" wrap="square" lIns="91440" tIns="0" rIns="91440" bIns="0" numCol="1" anchor="t">
              <a:spAutoFit/>
            </a:bodyPr>
            <a:lstStyle/>
            <a:p>
              <a:pPr marL="0" indent="0" eaLnBrk="1" fontAlgn="auto" latinLnBrk="1" hangingPunct="1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5400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rPr>
                <a:t>03</a:t>
              </a:r>
              <a:endParaRPr lang="ko-KR" altLang="en-US" sz="54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rgbClr val="3378C8"/>
                </a:solidFill>
                <a:latin typeface="세방고딕 Bold" charset="0"/>
                <a:ea typeface="세방고딕 Bold" charset="0"/>
              </a:endParaRPr>
            </a:p>
          </p:txBody>
        </p:sp>
      </p:grpSp>
      <p:sp>
        <p:nvSpPr>
          <p:cNvPr id="13" name="Rect 0"/>
          <p:cNvSpPr txBox="1">
            <a:spLocks/>
          </p:cNvSpPr>
          <p:nvPr/>
        </p:nvSpPr>
        <p:spPr>
          <a:xfrm>
            <a:off x="0" y="0"/>
            <a:ext cx="12192635" cy="114935"/>
          </a:xfrm>
          <a:prstGeom prst="rect">
            <a:avLst/>
          </a:prstGeom>
          <a:solidFill>
            <a:srgbClr val="FFD85C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0" y="0"/>
            <a:ext cx="1337310" cy="114935"/>
          </a:xfrm>
          <a:prstGeom prst="rect">
            <a:avLst/>
          </a:prstGeom>
          <a:solidFill>
            <a:srgbClr val="3378C8"/>
          </a:solidFill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600" b="1">
              <a:ln w="9525" cap="flat" cmpd="sng">
                <a:solidFill>
                  <a:schemeClr val="accent1">
                    <a:shade val="15000"/>
                    <a:alpha val="0"/>
                  </a:schemeClr>
                </a:solidFill>
                <a:prstDash val="solid"/>
              </a:ln>
              <a:solidFill>
                <a:srgbClr val="3378C8"/>
              </a:solidFill>
              <a:latin typeface="세방고딕 Regular" charset="0"/>
              <a:ea typeface="세방고딕 Regular" charset="0"/>
            </a:endParaRPr>
          </a:p>
        </p:txBody>
      </p:sp>
      <p:pic>
        <p:nvPicPr>
          <p:cNvPr id="55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03"/>
          <a:stretch>
            <a:fillRect/>
          </a:stretch>
        </p:blipFill>
        <p:spPr>
          <a:xfrm rot="5400000">
            <a:off x="-476250" y="2466975"/>
            <a:ext cx="1439545" cy="486410"/>
          </a:xfrm>
          <a:prstGeom prst="rect">
            <a:avLst/>
          </a:prstGeom>
          <a:noFill/>
        </p:spPr>
      </p:pic>
      <p:grpSp>
        <p:nvGrpSpPr>
          <p:cNvPr id="56" name="Group 5"/>
          <p:cNvGrpSpPr/>
          <p:nvPr/>
        </p:nvGrpSpPr>
        <p:grpSpPr>
          <a:xfrm>
            <a:off x="10667365" y="6576695"/>
            <a:ext cx="1076325" cy="151130"/>
            <a:chOff x="10667365" y="6576695"/>
            <a:chExt cx="1076325" cy="151130"/>
          </a:xfrm>
        </p:grpSpPr>
        <p:pic>
          <p:nvPicPr>
            <p:cNvPr id="57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1269345" y="6576695"/>
              <a:ext cx="474345" cy="151130"/>
            </a:xfrm>
            <a:prstGeom prst="rect">
              <a:avLst/>
            </a:prstGeom>
            <a:noFill/>
          </p:spPr>
        </p:pic>
        <p:pic>
          <p:nvPicPr>
            <p:cNvPr id="58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67365" y="6576695"/>
              <a:ext cx="478155" cy="142875"/>
            </a:xfrm>
            <a:prstGeom prst="rect">
              <a:avLst/>
            </a:prstGeom>
            <a:noFill/>
          </p:spPr>
        </p:pic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7560DF4A-0C0C-4C91-8522-4FD22A1AE06D}"/>
              </a:ext>
            </a:extLst>
          </p:cNvPr>
          <p:cNvGrpSpPr/>
          <p:nvPr/>
        </p:nvGrpSpPr>
        <p:grpSpPr>
          <a:xfrm>
            <a:off x="488315" y="1358900"/>
            <a:ext cx="10527030" cy="370205"/>
            <a:chOff x="488315" y="1358900"/>
            <a:chExt cx="10527030" cy="370205"/>
          </a:xfrm>
        </p:grpSpPr>
        <p:sp>
          <p:nvSpPr>
            <p:cNvPr id="22" name="Rect 0">
              <a:extLst>
                <a:ext uri="{FF2B5EF4-FFF2-40B4-BE49-F238E27FC236}">
                  <a16:creationId xmlns:a16="http://schemas.microsoft.com/office/drawing/2014/main" id="{DFC104FE-45E0-4C38-BA71-DD9DE25748BC}"/>
                </a:ext>
              </a:extLst>
            </p:cNvPr>
            <p:cNvSpPr txBox="1">
              <a:spLocks/>
            </p:cNvSpPr>
            <p:nvPr/>
          </p:nvSpPr>
          <p:spPr>
            <a:xfrm>
              <a:off x="690245" y="1358900"/>
              <a:ext cx="10325100" cy="37020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endParaRPr lang="ko-KR" altLang="en-US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charset="0"/>
                <a:ea typeface="세방고딕 Regular" charset="0"/>
              </a:endParaRPr>
            </a:p>
          </p:txBody>
        </p:sp>
        <p:sp>
          <p:nvSpPr>
            <p:cNvPr id="23" name="Rect 0">
              <a:extLst>
                <a:ext uri="{FF2B5EF4-FFF2-40B4-BE49-F238E27FC236}">
                  <a16:creationId xmlns:a16="http://schemas.microsoft.com/office/drawing/2014/main" id="{2692BDCC-DA2C-42BB-8BF2-A2C0A6E181A7}"/>
                </a:ext>
              </a:extLst>
            </p:cNvPr>
            <p:cNvSpPr>
              <a:spLocks/>
            </p:cNvSpPr>
            <p:nvPr/>
          </p:nvSpPr>
          <p:spPr>
            <a:xfrm>
              <a:off x="488315" y="1468120"/>
              <a:ext cx="101600" cy="114300"/>
            </a:xfrm>
            <a:custGeom>
              <a:avLst/>
              <a:gdLst>
                <a:gd name="TX0" fmla="*/ 428021 w 450215"/>
                <a:gd name="TY0" fmla="*/ 214932 h 506846"/>
                <a:gd name="TX1" fmla="*/ 66705 w 450215"/>
                <a:gd name="TY1" fmla="*/ 6045 h 506846"/>
                <a:gd name="TX2" fmla="*/ 0 w 450215"/>
                <a:gd name="TY2" fmla="*/ 44511 h 506846"/>
                <a:gd name="TX3" fmla="*/ 0 w 450215"/>
                <a:gd name="TY3" fmla="*/ 462326 h 506846"/>
                <a:gd name="TX4" fmla="*/ 66705 w 450215"/>
                <a:gd name="TY4" fmla="*/ 500812 h 506846"/>
                <a:gd name="TX5" fmla="*/ 428021 w 450215"/>
                <a:gd name="TY5" fmla="*/ 291905 h 506846"/>
                <a:gd name="TX6" fmla="*/ 428021 w 450215"/>
                <a:gd name="TY6" fmla="*/ 214932 h 50684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</a:cxnLst>
              <a:rect l="l" t="t" r="r" b="b"/>
              <a:pathLst>
                <a:path w="450215" h="506846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0">
              <a:noFill/>
              <a:prstDash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latinLnBrk="0">
                <a:buFontTx/>
                <a:buNone/>
              </a:pPr>
              <a:endParaRPr lang="ko-KR" altLang="en-US"/>
            </a:p>
          </p:txBody>
        </p:sp>
      </p:grpSp>
      <p:sp>
        <p:nvSpPr>
          <p:cNvPr id="24" name="Rect 0">
            <a:extLst>
              <a:ext uri="{FF2B5EF4-FFF2-40B4-BE49-F238E27FC236}">
                <a16:creationId xmlns:a16="http://schemas.microsoft.com/office/drawing/2014/main" id="{B0D1BC5F-4588-4EAF-AC52-4A96B9DFF3F0}"/>
              </a:ext>
            </a:extLst>
          </p:cNvPr>
          <p:cNvSpPr txBox="1">
            <a:spLocks/>
          </p:cNvSpPr>
          <p:nvPr/>
        </p:nvSpPr>
        <p:spPr>
          <a:xfrm>
            <a:off x="635635" y="1314450"/>
            <a:ext cx="5794375" cy="4921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latinLnBrk="0">
              <a:buFontTx/>
              <a:buNone/>
              <a:defRPr/>
            </a:pPr>
            <a:r>
              <a:rPr lang="en-US" altLang="ko-KR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3-2 </a:t>
            </a:r>
            <a:r>
              <a:rPr lang="ko-KR" altLang="en-US" sz="2600" dirty="0">
                <a:ln w="9525" cap="flat" cmpd="sng">
                  <a:solidFill>
                    <a:schemeClr val="accent1">
                      <a:shade val="1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charset="0"/>
                <a:ea typeface="세방고딕 Bold" charset="0"/>
              </a:rPr>
              <a:t>구현 화면</a:t>
            </a:r>
          </a:p>
        </p:txBody>
      </p:sp>
      <p:grpSp>
        <p:nvGrpSpPr>
          <p:cNvPr id="25" name="Group 5">
            <a:extLst>
              <a:ext uri="{FF2B5EF4-FFF2-40B4-BE49-F238E27FC236}">
                <a16:creationId xmlns:a16="http://schemas.microsoft.com/office/drawing/2014/main" id="{C255D616-113F-42E1-AF88-90F77419867F}"/>
              </a:ext>
            </a:extLst>
          </p:cNvPr>
          <p:cNvGrpSpPr/>
          <p:nvPr/>
        </p:nvGrpSpPr>
        <p:grpSpPr>
          <a:xfrm>
            <a:off x="473710" y="1906905"/>
            <a:ext cx="11410950" cy="379730"/>
            <a:chOff x="473710" y="1906905"/>
            <a:chExt cx="11410950" cy="379730"/>
          </a:xfrm>
        </p:grpSpPr>
        <p:sp>
          <p:nvSpPr>
            <p:cNvPr id="26" name="Rect 0">
              <a:extLst>
                <a:ext uri="{FF2B5EF4-FFF2-40B4-BE49-F238E27FC236}">
                  <a16:creationId xmlns:a16="http://schemas.microsoft.com/office/drawing/2014/main" id="{C7385883-E973-41A5-8BD7-54C9A9D21EF0}"/>
                </a:ext>
              </a:extLst>
            </p:cNvPr>
            <p:cNvSpPr>
              <a:spLocks/>
            </p:cNvSpPr>
            <p:nvPr/>
          </p:nvSpPr>
          <p:spPr>
            <a:xfrm>
              <a:off x="473710" y="1906905"/>
              <a:ext cx="11219180" cy="379730"/>
            </a:xfrm>
            <a:prstGeom prst="roundRect">
              <a:avLst/>
            </a:prstGeom>
            <a:solidFill>
              <a:srgbClr val="3378C8"/>
            </a:solidFill>
            <a:ln w="0">
              <a:noFill/>
              <a:prstDash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/>
            </a:p>
          </p:txBody>
        </p:sp>
        <p:sp>
          <p:nvSpPr>
            <p:cNvPr id="27" name="Rect 0">
              <a:extLst>
                <a:ext uri="{FF2B5EF4-FFF2-40B4-BE49-F238E27FC236}">
                  <a16:creationId xmlns:a16="http://schemas.microsoft.com/office/drawing/2014/main" id="{3F961E97-5C86-43D2-B581-607CB6555DDE}"/>
                </a:ext>
              </a:extLst>
            </p:cNvPr>
            <p:cNvSpPr txBox="1">
              <a:spLocks/>
            </p:cNvSpPr>
            <p:nvPr/>
          </p:nvSpPr>
          <p:spPr>
            <a:xfrm>
              <a:off x="994410" y="1945640"/>
              <a:ext cx="10890250" cy="3073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  <a:defRPr/>
              </a:pPr>
              <a:r>
                <a:rPr lang="ko-KR" altLang="en-US" sz="1400" b="1" dirty="0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세방고딕 Regular" charset="0"/>
                  <a:ea typeface="세방고딕 Regular" charset="0"/>
                </a:rPr>
                <a:t>날씨 기반 추천 엔진</a:t>
              </a:r>
            </a:p>
          </p:txBody>
        </p:sp>
        <p:grpSp>
          <p:nvGrpSpPr>
            <p:cNvPr id="28" name="Group 5">
              <a:extLst>
                <a:ext uri="{FF2B5EF4-FFF2-40B4-BE49-F238E27FC236}">
                  <a16:creationId xmlns:a16="http://schemas.microsoft.com/office/drawing/2014/main" id="{83C349EC-C586-462B-8496-82EE16CADF69}"/>
                </a:ext>
              </a:extLst>
            </p:cNvPr>
            <p:cNvGrpSpPr/>
            <p:nvPr/>
          </p:nvGrpSpPr>
          <p:grpSpPr>
            <a:xfrm>
              <a:off x="711200" y="1964690"/>
              <a:ext cx="283845" cy="276860"/>
              <a:chOff x="711200" y="1964690"/>
              <a:chExt cx="283845" cy="276860"/>
            </a:xfrm>
          </p:grpSpPr>
          <p:sp>
            <p:nvSpPr>
              <p:cNvPr id="30" name="Rect 0">
                <a:extLst>
                  <a:ext uri="{FF2B5EF4-FFF2-40B4-BE49-F238E27FC236}">
                    <a16:creationId xmlns:a16="http://schemas.microsoft.com/office/drawing/2014/main" id="{3A358FF1-D287-464C-A9AB-CA3F909A25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730" y="1968500"/>
                <a:ext cx="234315" cy="23431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31" name="Rect 0">
                <a:extLst>
                  <a:ext uri="{FF2B5EF4-FFF2-40B4-BE49-F238E27FC236}">
                    <a16:creationId xmlns:a16="http://schemas.microsoft.com/office/drawing/2014/main" id="{02353E31-BC57-4A1A-862F-3F44048A0E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200" y="1964690"/>
                <a:ext cx="247015" cy="276860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>
                <a:spAutoFit/>
              </a:bodyPr>
              <a:lstStyle/>
              <a:p>
                <a:pPr marL="0" indent="0" latinLnBrk="0">
                  <a:buFontTx/>
                  <a:buNone/>
                </a:pPr>
                <a:r>
                  <a:rPr lang="ko-KR" altLang="ko-KR" sz="1200" b="1">
                    <a:ln w="9525" cap="flat" cmpd="sng"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  <a:prstDash val="solid"/>
                    </a:ln>
                    <a:solidFill>
                      <a:srgbClr val="3378C8"/>
                    </a:solidFill>
                    <a:latin typeface="세방고딕 Bold" charset="0"/>
                    <a:ea typeface="세방고딕 Bold" charset="0"/>
                  </a:rPr>
                  <a:t>▼</a:t>
                </a:r>
                <a:endParaRPr lang="ko-KR" altLang="en-US" sz="1200" b="1">
                  <a:ln w="9525" cap="flat" cmpd="sng">
                    <a:solidFill>
                      <a:schemeClr val="accent1">
                        <a:shade val="15000"/>
                        <a:alpha val="0"/>
                      </a:schemeClr>
                    </a:solidFill>
                    <a:prstDash val="solid"/>
                  </a:ln>
                  <a:solidFill>
                    <a:srgbClr val="3378C8"/>
                  </a:solidFill>
                  <a:latin typeface="세방고딕 Bold" charset="0"/>
                  <a:ea typeface="세방고딕 Bold" charset="0"/>
                </a:endParaRPr>
              </a:p>
            </p:txBody>
          </p:sp>
        </p:grpSp>
      </p:grpSp>
      <p:pic>
        <p:nvPicPr>
          <p:cNvPr id="34" name="Picture ">
            <a:extLst>
              <a:ext uri="{FF2B5EF4-FFF2-40B4-BE49-F238E27FC236}">
                <a16:creationId xmlns:a16="http://schemas.microsoft.com/office/drawing/2014/main" id="{1F5BE140-AC4D-4629-8746-8F0F92FCD90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duotone>
              <a:srgbClr val="2E6CA5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0" y="1808480"/>
            <a:ext cx="12192635" cy="342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6960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389</Paragraphs>
  <Words>1484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김준영</dc:creator>
  <cp:lastModifiedBy>최연흠</cp:lastModifiedBy>
  <dc:title>PowerPoint 프레젠테이션</dc:title>
  <cp:version>9.103.82.44099</cp:version>
  <dcterms:modified xsi:type="dcterms:W3CDTF">2025-12-18T12:16:25Z</dcterms:modified>
</cp:coreProperties>
</file>